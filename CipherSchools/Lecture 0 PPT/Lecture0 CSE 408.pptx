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39"/>
  </p:notesMasterIdLst>
  <p:sldIdLst>
    <p:sldId id="257" r:id="rId3"/>
    <p:sldId id="258" r:id="rId4"/>
    <p:sldId id="262" r:id="rId5"/>
    <p:sldId id="3986" r:id="rId6"/>
    <p:sldId id="3989" r:id="rId7"/>
    <p:sldId id="3987" r:id="rId8"/>
    <p:sldId id="268" r:id="rId9"/>
    <p:sldId id="3981" r:id="rId10"/>
    <p:sldId id="3988" r:id="rId11"/>
    <p:sldId id="271" r:id="rId12"/>
    <p:sldId id="4056" r:id="rId13"/>
    <p:sldId id="3991" r:id="rId14"/>
    <p:sldId id="354" r:id="rId15"/>
    <p:sldId id="4057" r:id="rId16"/>
    <p:sldId id="4059" r:id="rId17"/>
    <p:sldId id="275" r:id="rId18"/>
    <p:sldId id="4048" r:id="rId19"/>
    <p:sldId id="4049" r:id="rId20"/>
    <p:sldId id="4050" r:id="rId21"/>
    <p:sldId id="496" r:id="rId22"/>
    <p:sldId id="3949" r:id="rId23"/>
    <p:sldId id="3950" r:id="rId24"/>
    <p:sldId id="3951" r:id="rId25"/>
    <p:sldId id="3967" r:id="rId26"/>
    <p:sldId id="3914" r:id="rId27"/>
    <p:sldId id="3934" r:id="rId28"/>
    <p:sldId id="3915" r:id="rId29"/>
    <p:sldId id="3917" r:id="rId30"/>
    <p:sldId id="3973" r:id="rId31"/>
    <p:sldId id="291" r:id="rId32"/>
    <p:sldId id="3935" r:id="rId33"/>
    <p:sldId id="3970" r:id="rId34"/>
    <p:sldId id="3919" r:id="rId35"/>
    <p:sldId id="3968" r:id="rId36"/>
    <p:sldId id="4039" r:id="rId37"/>
    <p:sldId id="403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4" d="100"/>
          <a:sy n="74" d="100"/>
        </p:scale>
        <p:origin x="340"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bhjeet kaur" userId="964853a7c4b086d0" providerId="LiveId" clId="{26DBEF9C-823E-4058-9D8D-195307DE3117}"/>
    <pc:docChg chg="modSld">
      <pc:chgData name="prabhjeet kaur" userId="964853a7c4b086d0" providerId="LiveId" clId="{26DBEF9C-823E-4058-9D8D-195307DE3117}" dt="2026-07-17T11:24:42.012" v="0" actId="20577"/>
      <pc:docMkLst>
        <pc:docMk/>
      </pc:docMkLst>
      <pc:sldChg chg="modSp mod">
        <pc:chgData name="prabhjeet kaur" userId="964853a7c4b086d0" providerId="LiveId" clId="{26DBEF9C-823E-4058-9D8D-195307DE3117}" dt="2026-07-17T11:24:42.012" v="0" actId="20577"/>
        <pc:sldMkLst>
          <pc:docMk/>
          <pc:sldMk cId="0" sldId="4038"/>
        </pc:sldMkLst>
        <pc:spChg chg="mod">
          <ac:chgData name="prabhjeet kaur" userId="964853a7c4b086d0" providerId="LiveId" clId="{26DBEF9C-823E-4058-9D8D-195307DE3117}" dt="2026-07-17T11:24:42.012" v="0" actId="20577"/>
          <ac:spMkLst>
            <pc:docMk/>
            <pc:sldMk cId="0" sldId="4038"/>
            <ac:spMk id="2" creationId="{7F775512-7303-FDDF-A583-A7A53620DA5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2">
  <dgm:title val=""/>
  <dgm:desc val=""/>
  <dgm:catLst>
    <dgm:cat type="accent3" pri="11200"/>
  </dgm:catLst>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C0FCA4CD-0230-45B7-ADF6-2A8B893C97C4}" type="doc">
      <dgm:prSet loTypeId="urn:microsoft.com/office/officeart/2005/8/layout/default#1" loCatId="list" qsTypeId="urn:microsoft.com/office/officeart/2005/8/quickstyle/simple4#1" qsCatId="simple" csTypeId="urn:microsoft.com/office/officeart/2005/8/colors/accent2_2#2" csCatId="accent2"/>
      <dgm:spPr/>
      <dgm:t>
        <a:bodyPr/>
        <a:lstStyle/>
        <a:p>
          <a:endParaRPr lang="en-US"/>
        </a:p>
      </dgm:t>
    </dgm:pt>
    <dgm:pt modelId="{8B8FB0FB-925E-41F2-9FB7-4AEBD71C2C45}">
      <dgm:prSet phldr="0" custT="0"/>
      <dgm:spPr/>
      <dgm:t>
        <a:bodyPr vert="horz" wrap="square"/>
        <a:lstStyle/>
        <a:p>
          <a:pPr>
            <a:lnSpc>
              <a:spcPct val="100000"/>
            </a:lnSpc>
            <a:spcBef>
              <a:spcPct val="0"/>
            </a:spcBef>
            <a:spcAft>
              <a:spcPct val="35000"/>
            </a:spcAft>
          </a:pPr>
          <a:r>
            <a:rPr lang="en-US">
              <a:latin typeface="Times New Roman" panose="02020603050405020304" pitchFamily="18" charset="0"/>
              <a:cs typeface="Times New Roman" panose="02020603050405020304" pitchFamily="18" charset="0"/>
            </a:rPr>
            <a:t>Course Exemption</a:t>
          </a:r>
        </a:p>
      </dgm:t>
    </dgm:pt>
    <dgm:pt modelId="{058E13C6-D93F-416C-965F-199313EC2648}" type="parTrans" cxnId="{B8A9A22A-5D59-496F-9A53-B19E4C590DBB}">
      <dgm:prSet/>
      <dgm:spPr/>
      <dgm:t>
        <a:bodyPr/>
        <a:lstStyle/>
        <a:p>
          <a:endParaRPr lang="en-US"/>
        </a:p>
      </dgm:t>
    </dgm:pt>
    <dgm:pt modelId="{0CAC8872-8FA1-4B77-BBA2-B3C72EF5329B}" type="sibTrans" cxnId="{B8A9A22A-5D59-496F-9A53-B19E4C590DBB}">
      <dgm:prSet/>
      <dgm:spPr/>
      <dgm:t>
        <a:bodyPr/>
        <a:lstStyle/>
        <a:p>
          <a:endParaRPr lang="en-US"/>
        </a:p>
      </dgm:t>
    </dgm:pt>
    <dgm:pt modelId="{C28CC641-901F-400B-866D-A64E34713CA5}">
      <dgm:prSet phldr="0" custT="0"/>
      <dgm:spPr/>
      <dgm:t>
        <a:bodyPr vert="horz" wrap="square"/>
        <a:lstStyle/>
        <a:p>
          <a:pPr>
            <a:lnSpc>
              <a:spcPct val="100000"/>
            </a:lnSpc>
            <a:spcBef>
              <a:spcPct val="0"/>
            </a:spcBef>
            <a:spcAft>
              <a:spcPct val="35000"/>
            </a:spcAft>
          </a:pPr>
          <a:r>
            <a:rPr lang="en-US">
              <a:latin typeface="Times New Roman" panose="02020603050405020304" pitchFamily="18" charset="0"/>
              <a:cs typeface="Times New Roman" panose="02020603050405020304" pitchFamily="18" charset="0"/>
            </a:rPr>
            <a:t>Grade Upgradation</a:t>
          </a:r>
        </a:p>
      </dgm:t>
    </dgm:pt>
    <dgm:pt modelId="{02F632DB-6252-421B-9B32-9FC40D409B97}" type="parTrans" cxnId="{1F016E89-3134-4C9F-A96B-F835B84392B2}">
      <dgm:prSet/>
      <dgm:spPr/>
      <dgm:t>
        <a:bodyPr/>
        <a:lstStyle/>
        <a:p>
          <a:endParaRPr lang="en-US"/>
        </a:p>
      </dgm:t>
    </dgm:pt>
    <dgm:pt modelId="{F1F1E4AC-BAC4-4E05-BB50-6625E65102FA}" type="sibTrans" cxnId="{1F016E89-3134-4C9F-A96B-F835B84392B2}">
      <dgm:prSet/>
      <dgm:spPr/>
      <dgm:t>
        <a:bodyPr/>
        <a:lstStyle/>
        <a:p>
          <a:endParaRPr lang="en-US"/>
        </a:p>
      </dgm:t>
    </dgm:pt>
    <dgm:pt modelId="{37B5C008-AACF-4ABD-A2B2-22075F618190}">
      <dgm:prSet phldr="0" custT="0"/>
      <dgm:spPr/>
      <dgm:t>
        <a:bodyPr vert="horz" wrap="square"/>
        <a:lstStyle/>
        <a:p>
          <a:pPr>
            <a:lnSpc>
              <a:spcPct val="100000"/>
            </a:lnSpc>
            <a:spcBef>
              <a:spcPct val="0"/>
            </a:spcBef>
            <a:spcAft>
              <a:spcPct val="35000"/>
            </a:spcAft>
          </a:pPr>
          <a:r>
            <a:rPr lang="en-US" dirty="0">
              <a:latin typeface="Times New Roman" panose="02020603050405020304" pitchFamily="18" charset="0"/>
              <a:cs typeface="Times New Roman" panose="02020603050405020304" pitchFamily="18" charset="0"/>
            </a:rPr>
            <a:t>No Pen-Paper based Evaluation</a:t>
          </a:r>
        </a:p>
      </dgm:t>
    </dgm:pt>
    <dgm:pt modelId="{BB2825E1-D106-4FAC-862C-908D4DDE52BD}" type="parTrans" cxnId="{686B4AFB-650F-43DA-BC93-9BB04138749F}">
      <dgm:prSet/>
      <dgm:spPr/>
      <dgm:t>
        <a:bodyPr/>
        <a:lstStyle/>
        <a:p>
          <a:endParaRPr lang="en-US"/>
        </a:p>
      </dgm:t>
    </dgm:pt>
    <dgm:pt modelId="{E20E38C0-A9BF-40A5-9C60-BC92A1E029C5}" type="sibTrans" cxnId="{686B4AFB-650F-43DA-BC93-9BB04138749F}">
      <dgm:prSet/>
      <dgm:spPr/>
      <dgm:t>
        <a:bodyPr/>
        <a:lstStyle/>
        <a:p>
          <a:endParaRPr lang="en-US"/>
        </a:p>
      </dgm:t>
    </dgm:pt>
    <dgm:pt modelId="{56E10580-B785-4A01-A277-9478BC181640}">
      <dgm:prSet phldr="0" custT="0"/>
      <dgm:spPr/>
      <dgm:t>
        <a:bodyPr vert="horz" wrap="square"/>
        <a:lstStyle/>
        <a:p>
          <a:pPr>
            <a:lnSpc>
              <a:spcPct val="100000"/>
            </a:lnSpc>
            <a:spcBef>
              <a:spcPct val="0"/>
            </a:spcBef>
            <a:spcAft>
              <a:spcPct val="35000"/>
            </a:spcAft>
          </a:pPr>
          <a:r>
            <a:rPr lang="en-US">
              <a:latin typeface="Times New Roman" panose="02020603050405020304" pitchFamily="18" charset="0"/>
              <a:cs typeface="Times New Roman" panose="02020603050405020304" pitchFamily="18" charset="0"/>
            </a:rPr>
            <a:t>Attendance Relaxation </a:t>
          </a:r>
        </a:p>
      </dgm:t>
    </dgm:pt>
    <dgm:pt modelId="{A5072507-4C4E-4D0D-A71D-1C71C6387A7E}" type="parTrans" cxnId="{7D92C2AB-7D29-4670-BA52-E44EDDD8D1B2}">
      <dgm:prSet/>
      <dgm:spPr/>
      <dgm:t>
        <a:bodyPr/>
        <a:lstStyle/>
        <a:p>
          <a:endParaRPr lang="en-US"/>
        </a:p>
      </dgm:t>
    </dgm:pt>
    <dgm:pt modelId="{F7D273F5-1293-41A8-9245-349BCFDDEE36}" type="sibTrans" cxnId="{7D92C2AB-7D29-4670-BA52-E44EDDD8D1B2}">
      <dgm:prSet/>
      <dgm:spPr/>
      <dgm:t>
        <a:bodyPr/>
        <a:lstStyle/>
        <a:p>
          <a:endParaRPr lang="en-US"/>
        </a:p>
      </dgm:t>
    </dgm:pt>
    <dgm:pt modelId="{D6DDCBC6-C381-4DBF-BAFE-575D52F9E46B}">
      <dgm:prSet phldr="0" custT="0"/>
      <dgm:spPr/>
      <dgm:t>
        <a:bodyPr vert="horz" wrap="square"/>
        <a:lstStyle/>
        <a:p>
          <a:pPr>
            <a:lnSpc>
              <a:spcPct val="100000"/>
            </a:lnSpc>
            <a:spcBef>
              <a:spcPct val="0"/>
            </a:spcBef>
            <a:spcAft>
              <a:spcPct val="35000"/>
            </a:spcAft>
          </a:pPr>
          <a:r>
            <a:rPr lang="en-US">
              <a:latin typeface="Times New Roman" panose="02020603050405020304" pitchFamily="18" charset="0"/>
              <a:cs typeface="Times New Roman" panose="02020603050405020304" pitchFamily="18" charset="0"/>
            </a:rPr>
            <a:t>Duty Leaves</a:t>
          </a:r>
        </a:p>
      </dgm:t>
    </dgm:pt>
    <dgm:pt modelId="{39815ED1-B3F9-4FE4-BF34-B3CDE76E9480}" type="parTrans" cxnId="{95D8C8AE-2E5B-4D15-9855-00BE6250889D}">
      <dgm:prSet/>
      <dgm:spPr/>
      <dgm:t>
        <a:bodyPr/>
        <a:lstStyle/>
        <a:p>
          <a:endParaRPr lang="en-US"/>
        </a:p>
      </dgm:t>
    </dgm:pt>
    <dgm:pt modelId="{1E9863C8-E99C-449A-A1B8-F4ABFCED3CBF}" type="sibTrans" cxnId="{95D8C8AE-2E5B-4D15-9855-00BE6250889D}">
      <dgm:prSet/>
      <dgm:spPr/>
      <dgm:t>
        <a:bodyPr/>
        <a:lstStyle/>
        <a:p>
          <a:endParaRPr lang="en-US"/>
        </a:p>
      </dgm:t>
    </dgm:pt>
    <dgm:pt modelId="{8A9DEFBE-D071-4903-875B-701ADB36221D}">
      <dgm:prSet phldr="0" custT="0"/>
      <dgm:spPr/>
      <dgm:t>
        <a:bodyPr vert="horz" wrap="square"/>
        <a:lstStyle/>
        <a:p>
          <a:pPr>
            <a:lnSpc>
              <a:spcPct val="100000"/>
            </a:lnSpc>
            <a:spcBef>
              <a:spcPct val="0"/>
            </a:spcBef>
            <a:spcAft>
              <a:spcPct val="35000"/>
            </a:spcAft>
          </a:pPr>
          <a:r>
            <a:rPr lang="en-US">
              <a:latin typeface="Times New Roman" panose="02020603050405020304" pitchFamily="18" charset="0"/>
              <a:cs typeface="Times New Roman" panose="02020603050405020304" pitchFamily="18" charset="0"/>
            </a:rPr>
            <a:t>Value Addition in Academic Transcript</a:t>
          </a:r>
        </a:p>
      </dgm:t>
    </dgm:pt>
    <dgm:pt modelId="{71D5DA04-CB44-4617-B4DB-092AB995A8D9}" type="parTrans" cxnId="{E22C8ED1-8403-4C61-811E-C75D225D23EA}">
      <dgm:prSet/>
      <dgm:spPr/>
      <dgm:t>
        <a:bodyPr/>
        <a:lstStyle/>
        <a:p>
          <a:endParaRPr lang="en-US"/>
        </a:p>
      </dgm:t>
    </dgm:pt>
    <dgm:pt modelId="{703DAA7B-2AA1-4CCF-90A0-7313D9F62E38}" type="sibTrans" cxnId="{E22C8ED1-8403-4C61-811E-C75D225D23EA}">
      <dgm:prSet/>
      <dgm:spPr/>
      <dgm:t>
        <a:bodyPr/>
        <a:lstStyle/>
        <a:p>
          <a:endParaRPr lang="en-US"/>
        </a:p>
      </dgm:t>
    </dgm:pt>
    <dgm:pt modelId="{83BAD786-6DA2-468C-9E03-0D7A3064FEB7}" type="pres">
      <dgm:prSet presAssocID="{C0FCA4CD-0230-45B7-ADF6-2A8B893C97C4}" presName="diagram" presStyleCnt="0">
        <dgm:presLayoutVars>
          <dgm:dir/>
          <dgm:resizeHandles val="exact"/>
        </dgm:presLayoutVars>
      </dgm:prSet>
      <dgm:spPr/>
    </dgm:pt>
    <dgm:pt modelId="{1161D67C-C7EA-4374-92B6-6D39276306A0}" type="pres">
      <dgm:prSet presAssocID="{8B8FB0FB-925E-41F2-9FB7-4AEBD71C2C45}" presName="node" presStyleLbl="node1" presStyleIdx="0" presStyleCnt="6">
        <dgm:presLayoutVars>
          <dgm:bulletEnabled val="1"/>
        </dgm:presLayoutVars>
      </dgm:prSet>
      <dgm:spPr/>
    </dgm:pt>
    <dgm:pt modelId="{86F587C9-5C96-418B-B260-E1932ED98A28}" type="pres">
      <dgm:prSet presAssocID="{0CAC8872-8FA1-4B77-BBA2-B3C72EF5329B}" presName="sibTrans" presStyleCnt="0"/>
      <dgm:spPr/>
    </dgm:pt>
    <dgm:pt modelId="{24C63C61-0BDB-43C3-92BC-807D50656E7C}" type="pres">
      <dgm:prSet presAssocID="{C28CC641-901F-400B-866D-A64E34713CA5}" presName="node" presStyleLbl="node1" presStyleIdx="1" presStyleCnt="6">
        <dgm:presLayoutVars>
          <dgm:bulletEnabled val="1"/>
        </dgm:presLayoutVars>
      </dgm:prSet>
      <dgm:spPr/>
    </dgm:pt>
    <dgm:pt modelId="{19C29B1B-13E6-441E-AB74-5C3651A14983}" type="pres">
      <dgm:prSet presAssocID="{F1F1E4AC-BAC4-4E05-BB50-6625E65102FA}" presName="sibTrans" presStyleCnt="0"/>
      <dgm:spPr/>
    </dgm:pt>
    <dgm:pt modelId="{FB57CC5D-5DED-45ED-A4E1-C463343EAF4D}" type="pres">
      <dgm:prSet presAssocID="{37B5C008-AACF-4ABD-A2B2-22075F618190}" presName="node" presStyleLbl="node1" presStyleIdx="2" presStyleCnt="6">
        <dgm:presLayoutVars>
          <dgm:bulletEnabled val="1"/>
        </dgm:presLayoutVars>
      </dgm:prSet>
      <dgm:spPr/>
    </dgm:pt>
    <dgm:pt modelId="{AE633E8D-C1A4-49C6-90DF-2EFA6BC13B03}" type="pres">
      <dgm:prSet presAssocID="{E20E38C0-A9BF-40A5-9C60-BC92A1E029C5}" presName="sibTrans" presStyleCnt="0"/>
      <dgm:spPr/>
    </dgm:pt>
    <dgm:pt modelId="{D0C41214-46CA-45D9-A934-70D2028BFC53}" type="pres">
      <dgm:prSet presAssocID="{56E10580-B785-4A01-A277-9478BC181640}" presName="node" presStyleLbl="node1" presStyleIdx="3" presStyleCnt="6">
        <dgm:presLayoutVars>
          <dgm:bulletEnabled val="1"/>
        </dgm:presLayoutVars>
      </dgm:prSet>
      <dgm:spPr/>
    </dgm:pt>
    <dgm:pt modelId="{DF817BAD-DA99-4157-9645-AAAECAC6B376}" type="pres">
      <dgm:prSet presAssocID="{F7D273F5-1293-41A8-9245-349BCFDDEE36}" presName="sibTrans" presStyleCnt="0"/>
      <dgm:spPr/>
    </dgm:pt>
    <dgm:pt modelId="{2F025859-0384-467B-811F-113D27FB30F1}" type="pres">
      <dgm:prSet presAssocID="{D6DDCBC6-C381-4DBF-BAFE-575D52F9E46B}" presName="node" presStyleLbl="node1" presStyleIdx="4" presStyleCnt="6">
        <dgm:presLayoutVars>
          <dgm:bulletEnabled val="1"/>
        </dgm:presLayoutVars>
      </dgm:prSet>
      <dgm:spPr/>
    </dgm:pt>
    <dgm:pt modelId="{F8DF2D6D-EFD9-46CA-B746-1EF3D1095BB5}" type="pres">
      <dgm:prSet presAssocID="{1E9863C8-E99C-449A-A1B8-F4ABFCED3CBF}" presName="sibTrans" presStyleCnt="0"/>
      <dgm:spPr/>
    </dgm:pt>
    <dgm:pt modelId="{6DCA0D52-2E01-4A93-87E0-7FB7A711EFD1}" type="pres">
      <dgm:prSet presAssocID="{8A9DEFBE-D071-4903-875B-701ADB36221D}" presName="node" presStyleLbl="node1" presStyleIdx="5" presStyleCnt="6">
        <dgm:presLayoutVars>
          <dgm:bulletEnabled val="1"/>
        </dgm:presLayoutVars>
      </dgm:prSet>
      <dgm:spPr/>
    </dgm:pt>
  </dgm:ptLst>
  <dgm:cxnLst>
    <dgm:cxn modelId="{B8A9A22A-5D59-496F-9A53-B19E4C590DBB}" srcId="{C0FCA4CD-0230-45B7-ADF6-2A8B893C97C4}" destId="{8B8FB0FB-925E-41F2-9FB7-4AEBD71C2C45}" srcOrd="0" destOrd="0" parTransId="{058E13C6-D93F-416C-965F-199313EC2648}" sibTransId="{0CAC8872-8FA1-4B77-BBA2-B3C72EF5329B}"/>
    <dgm:cxn modelId="{6EDD1C37-9F20-4657-9710-3C199362217D}" type="presOf" srcId="{C28CC641-901F-400B-866D-A64E34713CA5}" destId="{24C63C61-0BDB-43C3-92BC-807D50656E7C}" srcOrd="0" destOrd="0" presId="urn:microsoft.com/office/officeart/2005/8/layout/default#1"/>
    <dgm:cxn modelId="{D7D1313E-D0C4-4C5E-A196-545054747A9A}" type="presOf" srcId="{D6DDCBC6-C381-4DBF-BAFE-575D52F9E46B}" destId="{2F025859-0384-467B-811F-113D27FB30F1}" srcOrd="0" destOrd="0" presId="urn:microsoft.com/office/officeart/2005/8/layout/default#1"/>
    <dgm:cxn modelId="{101FCB88-2541-46EA-AC6E-7EEFD81C0A55}" type="presOf" srcId="{C0FCA4CD-0230-45B7-ADF6-2A8B893C97C4}" destId="{83BAD786-6DA2-468C-9E03-0D7A3064FEB7}" srcOrd="0" destOrd="0" presId="urn:microsoft.com/office/officeart/2005/8/layout/default#1"/>
    <dgm:cxn modelId="{1F016E89-3134-4C9F-A96B-F835B84392B2}" srcId="{C0FCA4CD-0230-45B7-ADF6-2A8B893C97C4}" destId="{C28CC641-901F-400B-866D-A64E34713CA5}" srcOrd="1" destOrd="0" parTransId="{02F632DB-6252-421B-9B32-9FC40D409B97}" sibTransId="{F1F1E4AC-BAC4-4E05-BB50-6625E65102FA}"/>
    <dgm:cxn modelId="{7D92C2AB-7D29-4670-BA52-E44EDDD8D1B2}" srcId="{C0FCA4CD-0230-45B7-ADF6-2A8B893C97C4}" destId="{56E10580-B785-4A01-A277-9478BC181640}" srcOrd="3" destOrd="0" parTransId="{A5072507-4C4E-4D0D-A71D-1C71C6387A7E}" sibTransId="{F7D273F5-1293-41A8-9245-349BCFDDEE36}"/>
    <dgm:cxn modelId="{95D8C8AE-2E5B-4D15-9855-00BE6250889D}" srcId="{C0FCA4CD-0230-45B7-ADF6-2A8B893C97C4}" destId="{D6DDCBC6-C381-4DBF-BAFE-575D52F9E46B}" srcOrd="4" destOrd="0" parTransId="{39815ED1-B3F9-4FE4-BF34-B3CDE76E9480}" sibTransId="{1E9863C8-E99C-449A-A1B8-F4ABFCED3CBF}"/>
    <dgm:cxn modelId="{D9A7D3B6-E54F-4F4C-BD5B-DC538EEE3A0B}" type="presOf" srcId="{8B8FB0FB-925E-41F2-9FB7-4AEBD71C2C45}" destId="{1161D67C-C7EA-4374-92B6-6D39276306A0}" srcOrd="0" destOrd="0" presId="urn:microsoft.com/office/officeart/2005/8/layout/default#1"/>
    <dgm:cxn modelId="{33CF4CC9-BAB3-4C2F-8020-68481ED74B9C}" type="presOf" srcId="{8A9DEFBE-D071-4903-875B-701ADB36221D}" destId="{6DCA0D52-2E01-4A93-87E0-7FB7A711EFD1}" srcOrd="0" destOrd="0" presId="urn:microsoft.com/office/officeart/2005/8/layout/default#1"/>
    <dgm:cxn modelId="{E22C8ED1-8403-4C61-811E-C75D225D23EA}" srcId="{C0FCA4CD-0230-45B7-ADF6-2A8B893C97C4}" destId="{8A9DEFBE-D071-4903-875B-701ADB36221D}" srcOrd="5" destOrd="0" parTransId="{71D5DA04-CB44-4617-B4DB-092AB995A8D9}" sibTransId="{703DAA7B-2AA1-4CCF-90A0-7313D9F62E38}"/>
    <dgm:cxn modelId="{5D6025D7-4F3A-4D85-BEC0-961CD53594CB}" type="presOf" srcId="{37B5C008-AACF-4ABD-A2B2-22075F618190}" destId="{FB57CC5D-5DED-45ED-A4E1-C463343EAF4D}" srcOrd="0" destOrd="0" presId="urn:microsoft.com/office/officeart/2005/8/layout/default#1"/>
    <dgm:cxn modelId="{49E597DE-DE9E-4E4F-ADFB-E41E0BCF5CE8}" type="presOf" srcId="{56E10580-B785-4A01-A277-9478BC181640}" destId="{D0C41214-46CA-45D9-A934-70D2028BFC53}" srcOrd="0" destOrd="0" presId="urn:microsoft.com/office/officeart/2005/8/layout/default#1"/>
    <dgm:cxn modelId="{686B4AFB-650F-43DA-BC93-9BB04138749F}" srcId="{C0FCA4CD-0230-45B7-ADF6-2A8B893C97C4}" destId="{37B5C008-AACF-4ABD-A2B2-22075F618190}" srcOrd="2" destOrd="0" parTransId="{BB2825E1-D106-4FAC-862C-908D4DDE52BD}" sibTransId="{E20E38C0-A9BF-40A5-9C60-BC92A1E029C5}"/>
    <dgm:cxn modelId="{31368D9C-48E5-4A2D-A791-D649C8AC9A44}" type="presParOf" srcId="{83BAD786-6DA2-468C-9E03-0D7A3064FEB7}" destId="{1161D67C-C7EA-4374-92B6-6D39276306A0}" srcOrd="0" destOrd="0" presId="urn:microsoft.com/office/officeart/2005/8/layout/default#1"/>
    <dgm:cxn modelId="{4D61BC71-8AF0-42A9-8C18-5C1E61294CFE}" type="presParOf" srcId="{83BAD786-6DA2-468C-9E03-0D7A3064FEB7}" destId="{86F587C9-5C96-418B-B260-E1932ED98A28}" srcOrd="1" destOrd="0" presId="urn:microsoft.com/office/officeart/2005/8/layout/default#1"/>
    <dgm:cxn modelId="{9105DBF4-9728-4E07-948B-9B4FF76B0DAC}" type="presParOf" srcId="{83BAD786-6DA2-468C-9E03-0D7A3064FEB7}" destId="{24C63C61-0BDB-43C3-92BC-807D50656E7C}" srcOrd="2" destOrd="0" presId="urn:microsoft.com/office/officeart/2005/8/layout/default#1"/>
    <dgm:cxn modelId="{8612E525-782A-4C8F-A9FF-2082C4FBF735}" type="presParOf" srcId="{83BAD786-6DA2-468C-9E03-0D7A3064FEB7}" destId="{19C29B1B-13E6-441E-AB74-5C3651A14983}" srcOrd="3" destOrd="0" presId="urn:microsoft.com/office/officeart/2005/8/layout/default#1"/>
    <dgm:cxn modelId="{09C59DD5-7EFB-4493-ABFE-AD692A6D2CCC}" type="presParOf" srcId="{83BAD786-6DA2-468C-9E03-0D7A3064FEB7}" destId="{FB57CC5D-5DED-45ED-A4E1-C463343EAF4D}" srcOrd="4" destOrd="0" presId="urn:microsoft.com/office/officeart/2005/8/layout/default#1"/>
    <dgm:cxn modelId="{192F180A-DBE2-4056-811F-6440B3CA7F68}" type="presParOf" srcId="{83BAD786-6DA2-468C-9E03-0D7A3064FEB7}" destId="{AE633E8D-C1A4-49C6-90DF-2EFA6BC13B03}" srcOrd="5" destOrd="0" presId="urn:microsoft.com/office/officeart/2005/8/layout/default#1"/>
    <dgm:cxn modelId="{9F6BB0BF-61BD-49D4-B09B-E8117959A7B2}" type="presParOf" srcId="{83BAD786-6DA2-468C-9E03-0D7A3064FEB7}" destId="{D0C41214-46CA-45D9-A934-70D2028BFC53}" srcOrd="6" destOrd="0" presId="urn:microsoft.com/office/officeart/2005/8/layout/default#1"/>
    <dgm:cxn modelId="{9A49FF90-B2EE-4B8E-BA7B-3B608BC1DAE7}" type="presParOf" srcId="{83BAD786-6DA2-468C-9E03-0D7A3064FEB7}" destId="{DF817BAD-DA99-4157-9645-AAAECAC6B376}" srcOrd="7" destOrd="0" presId="urn:microsoft.com/office/officeart/2005/8/layout/default#1"/>
    <dgm:cxn modelId="{E8383333-24E0-4E4F-B16D-7D90A3A52254}" type="presParOf" srcId="{83BAD786-6DA2-468C-9E03-0D7A3064FEB7}" destId="{2F025859-0384-467B-811F-113D27FB30F1}" srcOrd="8" destOrd="0" presId="urn:microsoft.com/office/officeart/2005/8/layout/default#1"/>
    <dgm:cxn modelId="{1835E6F8-CCF3-432F-AE09-33E19CCCAEE1}" type="presParOf" srcId="{83BAD786-6DA2-468C-9E03-0D7A3064FEB7}" destId="{F8DF2D6D-EFD9-46CA-B746-1EF3D1095BB5}" srcOrd="9" destOrd="0" presId="urn:microsoft.com/office/officeart/2005/8/layout/default#1"/>
    <dgm:cxn modelId="{8057250A-0D75-432D-9F9B-FA0CA2BD9FFB}" type="presParOf" srcId="{83BAD786-6DA2-468C-9E03-0D7A3064FEB7}" destId="{6DCA0D52-2E01-4A93-87E0-7FB7A711EFD1}" srcOrd="10" destOrd="0" presId="urn:microsoft.com/office/officeart/2005/8/layout/defaul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FCA4CD-0230-45B7-ADF6-2A8B893C97C4}" type="doc">
      <dgm:prSet loTypeId="urn:microsoft.com/office/officeart/2005/8/layout/default#1" loCatId="list" qsTypeId="urn:microsoft.com/office/officeart/2005/8/quickstyle/simple4#1" qsCatId="simple" csTypeId="urn:microsoft.com/office/officeart/2005/8/colors/accent3_2#2" csCatId="accent3"/>
      <dgm:spPr/>
      <dgm:t>
        <a:bodyPr/>
        <a:lstStyle/>
        <a:p>
          <a:endParaRPr lang="en-US"/>
        </a:p>
      </dgm:t>
    </dgm:pt>
    <dgm:pt modelId="{8B8FB0FB-925E-41F2-9FB7-4AEBD71C2C45}">
      <dgm:prSet phldr="0" custT="1"/>
      <dgm:spPr/>
      <dgm:t>
        <a:bodyPr vert="horz" wrap="square"/>
        <a:lstStyle/>
        <a:p>
          <a:pPr>
            <a:lnSpc>
              <a:spcPct val="100000"/>
            </a:lnSpc>
            <a:spcBef>
              <a:spcPct val="0"/>
            </a:spcBef>
            <a:spcAft>
              <a:spcPct val="35000"/>
            </a:spcAft>
          </a:pPr>
          <a:r>
            <a:rPr lang="en-US" sz="2400" b="1" dirty="0">
              <a:solidFill>
                <a:schemeClr val="tx1"/>
              </a:solidFill>
              <a:latin typeface="Times New Roman" panose="02020603050405020304" pitchFamily="18" charset="0"/>
              <a:cs typeface="Times New Roman" panose="02020603050405020304" pitchFamily="18" charset="0"/>
            </a:rPr>
            <a:t>Corporate Jobs</a:t>
          </a:r>
        </a:p>
      </dgm:t>
    </dgm:pt>
    <dgm:pt modelId="{058E13C6-D93F-416C-965F-199313EC2648}" type="parTrans" cxnId="{D00BF49E-94A6-4050-92D4-982A2DC7DBA3}">
      <dgm:prSet/>
      <dgm:spPr/>
      <dgm:t>
        <a:bodyPr/>
        <a:lstStyle/>
        <a:p>
          <a:endParaRPr lang="en-US">
            <a:solidFill>
              <a:schemeClr val="tx1"/>
            </a:solidFill>
          </a:endParaRPr>
        </a:p>
      </dgm:t>
    </dgm:pt>
    <dgm:pt modelId="{0CAC8872-8FA1-4B77-BBA2-B3C72EF5329B}" type="sibTrans" cxnId="{D00BF49E-94A6-4050-92D4-982A2DC7DBA3}">
      <dgm:prSet/>
      <dgm:spPr/>
      <dgm:t>
        <a:bodyPr/>
        <a:lstStyle/>
        <a:p>
          <a:endParaRPr lang="en-US">
            <a:solidFill>
              <a:schemeClr val="tx1"/>
            </a:solidFill>
          </a:endParaRPr>
        </a:p>
      </dgm:t>
    </dgm:pt>
    <dgm:pt modelId="{C28CC641-901F-400B-866D-A64E34713CA5}">
      <dgm:prSet phldr="0" custT="1"/>
      <dgm:spPr/>
      <dgm:t>
        <a:bodyPr vert="horz" wrap="square"/>
        <a:lstStyle/>
        <a:p>
          <a:pPr>
            <a:lnSpc>
              <a:spcPct val="100000"/>
            </a:lnSpc>
            <a:spcBef>
              <a:spcPct val="0"/>
            </a:spcBef>
            <a:spcAft>
              <a:spcPct val="35000"/>
            </a:spcAft>
          </a:pPr>
          <a:r>
            <a:rPr lang="en-US" sz="2400" b="1" dirty="0">
              <a:solidFill>
                <a:schemeClr val="tx1"/>
              </a:solidFill>
              <a:latin typeface="Times New Roman" panose="02020603050405020304" pitchFamily="18" charset="0"/>
              <a:cs typeface="Times New Roman" panose="02020603050405020304" pitchFamily="18" charset="0"/>
            </a:rPr>
            <a:t>Government </a:t>
          </a:r>
        </a:p>
        <a:p>
          <a:pPr>
            <a:lnSpc>
              <a:spcPct val="100000"/>
            </a:lnSpc>
            <a:spcBef>
              <a:spcPct val="0"/>
            </a:spcBef>
            <a:spcAft>
              <a:spcPct val="35000"/>
            </a:spcAft>
          </a:pPr>
          <a:r>
            <a:rPr lang="en-US" sz="2400" b="1" dirty="0">
              <a:solidFill>
                <a:schemeClr val="tx1"/>
              </a:solidFill>
              <a:latin typeface="Times New Roman" panose="02020603050405020304" pitchFamily="18" charset="0"/>
              <a:cs typeface="Times New Roman" panose="02020603050405020304" pitchFamily="18" charset="0"/>
            </a:rPr>
            <a:t>Jobs</a:t>
          </a:r>
        </a:p>
      </dgm:t>
    </dgm:pt>
    <dgm:pt modelId="{02F632DB-6252-421B-9B32-9FC40D409B97}" type="parTrans" cxnId="{11B8D903-C22D-4FBA-B753-306113DD88E7}">
      <dgm:prSet/>
      <dgm:spPr/>
      <dgm:t>
        <a:bodyPr/>
        <a:lstStyle/>
        <a:p>
          <a:endParaRPr lang="en-US">
            <a:solidFill>
              <a:schemeClr val="tx1"/>
            </a:solidFill>
          </a:endParaRPr>
        </a:p>
      </dgm:t>
    </dgm:pt>
    <dgm:pt modelId="{F1F1E4AC-BAC4-4E05-BB50-6625E65102FA}" type="sibTrans" cxnId="{11B8D903-C22D-4FBA-B753-306113DD88E7}">
      <dgm:prSet/>
      <dgm:spPr/>
      <dgm:t>
        <a:bodyPr/>
        <a:lstStyle/>
        <a:p>
          <a:endParaRPr lang="en-US">
            <a:solidFill>
              <a:schemeClr val="tx1"/>
            </a:solidFill>
          </a:endParaRPr>
        </a:p>
      </dgm:t>
    </dgm:pt>
    <dgm:pt modelId="{37B5C008-AACF-4ABD-A2B2-22075F618190}">
      <dgm:prSet phldr="0" custT="1"/>
      <dgm:spPr/>
      <dgm:t>
        <a:bodyPr vert="horz" wrap="square"/>
        <a:lstStyle/>
        <a:p>
          <a:pPr>
            <a:lnSpc>
              <a:spcPct val="100000"/>
            </a:lnSpc>
            <a:spcBef>
              <a:spcPct val="0"/>
            </a:spcBef>
            <a:spcAft>
              <a:spcPct val="35000"/>
            </a:spcAft>
          </a:pPr>
          <a:r>
            <a:rPr lang="en-US" sz="2400" b="1" dirty="0">
              <a:solidFill>
                <a:schemeClr val="tx1"/>
              </a:solidFill>
              <a:latin typeface="Times New Roman" panose="02020603050405020304" pitchFamily="18" charset="0"/>
              <a:cs typeface="Times New Roman" panose="02020603050405020304" pitchFamily="18" charset="0"/>
            </a:rPr>
            <a:t>Higher Studies</a:t>
          </a:r>
        </a:p>
      </dgm:t>
    </dgm:pt>
    <dgm:pt modelId="{BB2825E1-D106-4FAC-862C-908D4DDE52BD}" type="parTrans" cxnId="{CA86B741-4F78-4D0B-B18C-6EB1919194B9}">
      <dgm:prSet/>
      <dgm:spPr/>
      <dgm:t>
        <a:bodyPr/>
        <a:lstStyle/>
        <a:p>
          <a:endParaRPr lang="en-US">
            <a:solidFill>
              <a:schemeClr val="tx1"/>
            </a:solidFill>
          </a:endParaRPr>
        </a:p>
      </dgm:t>
    </dgm:pt>
    <dgm:pt modelId="{E20E38C0-A9BF-40A5-9C60-BC92A1E029C5}" type="sibTrans" cxnId="{CA86B741-4F78-4D0B-B18C-6EB1919194B9}">
      <dgm:prSet/>
      <dgm:spPr/>
      <dgm:t>
        <a:bodyPr/>
        <a:lstStyle/>
        <a:p>
          <a:endParaRPr lang="en-US">
            <a:solidFill>
              <a:schemeClr val="tx1"/>
            </a:solidFill>
          </a:endParaRPr>
        </a:p>
      </dgm:t>
    </dgm:pt>
    <dgm:pt modelId="{56E10580-B785-4A01-A277-9478BC181640}">
      <dgm:prSet phldr="0" custT="1"/>
      <dgm:spPr/>
      <dgm:t>
        <a:bodyPr vert="horz" wrap="square"/>
        <a:lstStyle/>
        <a:p>
          <a:pPr>
            <a:lnSpc>
              <a:spcPct val="100000"/>
            </a:lnSpc>
            <a:spcBef>
              <a:spcPct val="0"/>
            </a:spcBef>
            <a:spcAft>
              <a:spcPct val="35000"/>
            </a:spcAft>
          </a:pPr>
          <a:r>
            <a:rPr lang="en-US" sz="2400" b="1" dirty="0">
              <a:solidFill>
                <a:schemeClr val="tx1"/>
              </a:solidFill>
              <a:latin typeface="Times New Roman" panose="02020603050405020304" pitchFamily="18" charset="0"/>
              <a:cs typeface="Times New Roman" panose="02020603050405020304" pitchFamily="18" charset="0"/>
            </a:rPr>
            <a:t>Entrepreneurship</a:t>
          </a:r>
        </a:p>
      </dgm:t>
    </dgm:pt>
    <dgm:pt modelId="{A5072507-4C4E-4D0D-A71D-1C71C6387A7E}" type="parTrans" cxnId="{1676D3E1-3471-47D3-BDBA-9E0A0539F466}">
      <dgm:prSet/>
      <dgm:spPr/>
      <dgm:t>
        <a:bodyPr/>
        <a:lstStyle/>
        <a:p>
          <a:endParaRPr lang="en-US">
            <a:solidFill>
              <a:schemeClr val="tx1"/>
            </a:solidFill>
          </a:endParaRPr>
        </a:p>
      </dgm:t>
    </dgm:pt>
    <dgm:pt modelId="{F7D273F5-1293-41A8-9245-349BCFDDEE36}" type="sibTrans" cxnId="{1676D3E1-3471-47D3-BDBA-9E0A0539F466}">
      <dgm:prSet/>
      <dgm:spPr/>
      <dgm:t>
        <a:bodyPr/>
        <a:lstStyle/>
        <a:p>
          <a:endParaRPr lang="en-US">
            <a:solidFill>
              <a:schemeClr val="tx1"/>
            </a:solidFill>
          </a:endParaRPr>
        </a:p>
      </dgm:t>
    </dgm:pt>
    <dgm:pt modelId="{D6DDCBC6-C381-4DBF-BAFE-575D52F9E46B}">
      <dgm:prSet phldr="0" custT="1"/>
      <dgm:spPr/>
      <dgm:t>
        <a:bodyPr vert="horz" wrap="square"/>
        <a:lstStyle/>
        <a:p>
          <a:pPr>
            <a:lnSpc>
              <a:spcPct val="100000"/>
            </a:lnSpc>
            <a:spcBef>
              <a:spcPct val="0"/>
            </a:spcBef>
            <a:spcAft>
              <a:spcPct val="35000"/>
            </a:spcAft>
          </a:pPr>
          <a:r>
            <a:rPr lang="en-US" sz="2400" b="1" dirty="0">
              <a:solidFill>
                <a:schemeClr val="tx1"/>
              </a:solidFill>
              <a:latin typeface="Times New Roman" panose="02020603050405020304" pitchFamily="18" charset="0"/>
              <a:cs typeface="Times New Roman" panose="02020603050405020304" pitchFamily="18" charset="0"/>
            </a:rPr>
            <a:t>Research</a:t>
          </a:r>
        </a:p>
      </dgm:t>
    </dgm:pt>
    <dgm:pt modelId="{39815ED1-B3F9-4FE4-BF34-B3CDE76E9480}" type="parTrans" cxnId="{6474274A-151C-4ABB-AF3C-005C7EFB86E3}">
      <dgm:prSet/>
      <dgm:spPr/>
      <dgm:t>
        <a:bodyPr/>
        <a:lstStyle/>
        <a:p>
          <a:endParaRPr lang="en-US">
            <a:solidFill>
              <a:schemeClr val="tx1"/>
            </a:solidFill>
          </a:endParaRPr>
        </a:p>
      </dgm:t>
    </dgm:pt>
    <dgm:pt modelId="{1E9863C8-E99C-449A-A1B8-F4ABFCED3CBF}" type="sibTrans" cxnId="{6474274A-151C-4ABB-AF3C-005C7EFB86E3}">
      <dgm:prSet/>
      <dgm:spPr/>
      <dgm:t>
        <a:bodyPr/>
        <a:lstStyle/>
        <a:p>
          <a:endParaRPr lang="en-US">
            <a:solidFill>
              <a:schemeClr val="tx1"/>
            </a:solidFill>
          </a:endParaRPr>
        </a:p>
      </dgm:t>
    </dgm:pt>
    <dgm:pt modelId="{8A9DEFBE-D071-4903-875B-701ADB36221D}">
      <dgm:prSet phldr="0" custT="1"/>
      <dgm:spPr/>
      <dgm:t>
        <a:bodyPr vert="horz" wrap="square"/>
        <a:lstStyle/>
        <a:p>
          <a:pPr>
            <a:lnSpc>
              <a:spcPct val="100000"/>
            </a:lnSpc>
            <a:spcBef>
              <a:spcPct val="0"/>
            </a:spcBef>
            <a:spcAft>
              <a:spcPct val="35000"/>
            </a:spcAft>
          </a:pPr>
          <a:r>
            <a:rPr lang="en-US" sz="2400" b="1" dirty="0">
              <a:solidFill>
                <a:schemeClr val="tx1"/>
              </a:solidFill>
              <a:latin typeface="Times New Roman" panose="02020603050405020304" pitchFamily="18" charset="0"/>
              <a:cs typeface="Times New Roman" panose="02020603050405020304" pitchFamily="18" charset="0"/>
            </a:rPr>
            <a:t>Study Abroad</a:t>
          </a:r>
        </a:p>
      </dgm:t>
    </dgm:pt>
    <dgm:pt modelId="{71D5DA04-CB44-4617-B4DB-092AB995A8D9}" type="parTrans" cxnId="{76F484B6-07E7-4A63-848B-FC2CCEDD0FAA}">
      <dgm:prSet/>
      <dgm:spPr/>
      <dgm:t>
        <a:bodyPr/>
        <a:lstStyle/>
        <a:p>
          <a:endParaRPr lang="en-US">
            <a:solidFill>
              <a:schemeClr val="tx1"/>
            </a:solidFill>
          </a:endParaRPr>
        </a:p>
      </dgm:t>
    </dgm:pt>
    <dgm:pt modelId="{703DAA7B-2AA1-4CCF-90A0-7313D9F62E38}" type="sibTrans" cxnId="{76F484B6-07E7-4A63-848B-FC2CCEDD0FAA}">
      <dgm:prSet/>
      <dgm:spPr/>
      <dgm:t>
        <a:bodyPr/>
        <a:lstStyle/>
        <a:p>
          <a:endParaRPr lang="en-US">
            <a:solidFill>
              <a:schemeClr val="tx1"/>
            </a:solidFill>
          </a:endParaRPr>
        </a:p>
      </dgm:t>
    </dgm:pt>
    <dgm:pt modelId="{83BAD786-6DA2-468C-9E03-0D7A3064FEB7}" type="pres">
      <dgm:prSet presAssocID="{C0FCA4CD-0230-45B7-ADF6-2A8B893C97C4}" presName="diagram" presStyleCnt="0">
        <dgm:presLayoutVars>
          <dgm:dir/>
          <dgm:resizeHandles val="exact"/>
        </dgm:presLayoutVars>
      </dgm:prSet>
      <dgm:spPr/>
    </dgm:pt>
    <dgm:pt modelId="{1161D67C-C7EA-4374-92B6-6D39276306A0}" type="pres">
      <dgm:prSet presAssocID="{8B8FB0FB-925E-41F2-9FB7-4AEBD71C2C45}" presName="node" presStyleLbl="node1" presStyleIdx="0" presStyleCnt="6" custLinFactNeighborX="-2319" custLinFactNeighborY="-71">
        <dgm:presLayoutVars>
          <dgm:bulletEnabled val="1"/>
        </dgm:presLayoutVars>
      </dgm:prSet>
      <dgm:spPr/>
    </dgm:pt>
    <dgm:pt modelId="{86F587C9-5C96-418B-B260-E1932ED98A28}" type="pres">
      <dgm:prSet presAssocID="{0CAC8872-8FA1-4B77-BBA2-B3C72EF5329B}" presName="sibTrans" presStyleCnt="0"/>
      <dgm:spPr/>
    </dgm:pt>
    <dgm:pt modelId="{24C63C61-0BDB-43C3-92BC-807D50656E7C}" type="pres">
      <dgm:prSet presAssocID="{C28CC641-901F-400B-866D-A64E34713CA5}" presName="node" presStyleLbl="node1" presStyleIdx="1" presStyleCnt="6">
        <dgm:presLayoutVars>
          <dgm:bulletEnabled val="1"/>
        </dgm:presLayoutVars>
      </dgm:prSet>
      <dgm:spPr/>
    </dgm:pt>
    <dgm:pt modelId="{19C29B1B-13E6-441E-AB74-5C3651A14983}" type="pres">
      <dgm:prSet presAssocID="{F1F1E4AC-BAC4-4E05-BB50-6625E65102FA}" presName="sibTrans" presStyleCnt="0"/>
      <dgm:spPr/>
    </dgm:pt>
    <dgm:pt modelId="{FB57CC5D-5DED-45ED-A4E1-C463343EAF4D}" type="pres">
      <dgm:prSet presAssocID="{37B5C008-AACF-4ABD-A2B2-22075F618190}" presName="node" presStyleLbl="node1" presStyleIdx="2" presStyleCnt="6">
        <dgm:presLayoutVars>
          <dgm:bulletEnabled val="1"/>
        </dgm:presLayoutVars>
      </dgm:prSet>
      <dgm:spPr/>
    </dgm:pt>
    <dgm:pt modelId="{AE633E8D-C1A4-49C6-90DF-2EFA6BC13B03}" type="pres">
      <dgm:prSet presAssocID="{E20E38C0-A9BF-40A5-9C60-BC92A1E029C5}" presName="sibTrans" presStyleCnt="0"/>
      <dgm:spPr/>
    </dgm:pt>
    <dgm:pt modelId="{D0C41214-46CA-45D9-A934-70D2028BFC53}" type="pres">
      <dgm:prSet presAssocID="{56E10580-B785-4A01-A277-9478BC181640}" presName="node" presStyleLbl="node1" presStyleIdx="3" presStyleCnt="6">
        <dgm:presLayoutVars>
          <dgm:bulletEnabled val="1"/>
        </dgm:presLayoutVars>
      </dgm:prSet>
      <dgm:spPr/>
    </dgm:pt>
    <dgm:pt modelId="{DF817BAD-DA99-4157-9645-AAAECAC6B376}" type="pres">
      <dgm:prSet presAssocID="{F7D273F5-1293-41A8-9245-349BCFDDEE36}" presName="sibTrans" presStyleCnt="0"/>
      <dgm:spPr/>
    </dgm:pt>
    <dgm:pt modelId="{2F025859-0384-467B-811F-113D27FB30F1}" type="pres">
      <dgm:prSet presAssocID="{D6DDCBC6-C381-4DBF-BAFE-575D52F9E46B}" presName="node" presStyleLbl="node1" presStyleIdx="4" presStyleCnt="6">
        <dgm:presLayoutVars>
          <dgm:bulletEnabled val="1"/>
        </dgm:presLayoutVars>
      </dgm:prSet>
      <dgm:spPr/>
    </dgm:pt>
    <dgm:pt modelId="{F8DF2D6D-EFD9-46CA-B746-1EF3D1095BB5}" type="pres">
      <dgm:prSet presAssocID="{1E9863C8-E99C-449A-A1B8-F4ABFCED3CBF}" presName="sibTrans" presStyleCnt="0"/>
      <dgm:spPr/>
    </dgm:pt>
    <dgm:pt modelId="{6DCA0D52-2E01-4A93-87E0-7FB7A711EFD1}" type="pres">
      <dgm:prSet presAssocID="{8A9DEFBE-D071-4903-875B-701ADB36221D}" presName="node" presStyleLbl="node1" presStyleIdx="5" presStyleCnt="6">
        <dgm:presLayoutVars>
          <dgm:bulletEnabled val="1"/>
        </dgm:presLayoutVars>
      </dgm:prSet>
      <dgm:spPr/>
    </dgm:pt>
  </dgm:ptLst>
  <dgm:cxnLst>
    <dgm:cxn modelId="{11B8D903-C22D-4FBA-B753-306113DD88E7}" srcId="{C0FCA4CD-0230-45B7-ADF6-2A8B893C97C4}" destId="{C28CC641-901F-400B-866D-A64E34713CA5}" srcOrd="1" destOrd="0" parTransId="{02F632DB-6252-421B-9B32-9FC40D409B97}" sibTransId="{F1F1E4AC-BAC4-4E05-BB50-6625E65102FA}"/>
    <dgm:cxn modelId="{3200C93B-99D2-49DD-9727-0E08EC145AFB}" type="presOf" srcId="{37B5C008-AACF-4ABD-A2B2-22075F618190}" destId="{FB57CC5D-5DED-45ED-A4E1-C463343EAF4D}" srcOrd="0" destOrd="0" presId="urn:microsoft.com/office/officeart/2005/8/layout/default#1"/>
    <dgm:cxn modelId="{CA86B741-4F78-4D0B-B18C-6EB1919194B9}" srcId="{C0FCA4CD-0230-45B7-ADF6-2A8B893C97C4}" destId="{37B5C008-AACF-4ABD-A2B2-22075F618190}" srcOrd="2" destOrd="0" parTransId="{BB2825E1-D106-4FAC-862C-908D4DDE52BD}" sibTransId="{E20E38C0-A9BF-40A5-9C60-BC92A1E029C5}"/>
    <dgm:cxn modelId="{6474274A-151C-4ABB-AF3C-005C7EFB86E3}" srcId="{C0FCA4CD-0230-45B7-ADF6-2A8B893C97C4}" destId="{D6DDCBC6-C381-4DBF-BAFE-575D52F9E46B}" srcOrd="4" destOrd="0" parTransId="{39815ED1-B3F9-4FE4-BF34-B3CDE76E9480}" sibTransId="{1E9863C8-E99C-449A-A1B8-F4ABFCED3CBF}"/>
    <dgm:cxn modelId="{27701E8C-2BF2-44EF-BEA2-4AC2653A97F6}" type="presOf" srcId="{8B8FB0FB-925E-41F2-9FB7-4AEBD71C2C45}" destId="{1161D67C-C7EA-4374-92B6-6D39276306A0}" srcOrd="0" destOrd="0" presId="urn:microsoft.com/office/officeart/2005/8/layout/default#1"/>
    <dgm:cxn modelId="{DCE8F095-0815-477A-B0A7-A9B4F9BDC249}" type="presOf" srcId="{8A9DEFBE-D071-4903-875B-701ADB36221D}" destId="{6DCA0D52-2E01-4A93-87E0-7FB7A711EFD1}" srcOrd="0" destOrd="0" presId="urn:microsoft.com/office/officeart/2005/8/layout/default#1"/>
    <dgm:cxn modelId="{9775FC9B-53E6-4670-9BB3-6B2455CEEB45}" type="presOf" srcId="{D6DDCBC6-C381-4DBF-BAFE-575D52F9E46B}" destId="{2F025859-0384-467B-811F-113D27FB30F1}" srcOrd="0" destOrd="0" presId="urn:microsoft.com/office/officeart/2005/8/layout/default#1"/>
    <dgm:cxn modelId="{D00BF49E-94A6-4050-92D4-982A2DC7DBA3}" srcId="{C0FCA4CD-0230-45B7-ADF6-2A8B893C97C4}" destId="{8B8FB0FB-925E-41F2-9FB7-4AEBD71C2C45}" srcOrd="0" destOrd="0" parTransId="{058E13C6-D93F-416C-965F-199313EC2648}" sibTransId="{0CAC8872-8FA1-4B77-BBA2-B3C72EF5329B}"/>
    <dgm:cxn modelId="{A6E2A9A2-3EC8-443F-A316-78B6905A14EC}" type="presOf" srcId="{56E10580-B785-4A01-A277-9478BC181640}" destId="{D0C41214-46CA-45D9-A934-70D2028BFC53}" srcOrd="0" destOrd="0" presId="urn:microsoft.com/office/officeart/2005/8/layout/default#1"/>
    <dgm:cxn modelId="{635E11B6-CC05-41FE-A014-29A93F0285CE}" type="presOf" srcId="{C0FCA4CD-0230-45B7-ADF6-2A8B893C97C4}" destId="{83BAD786-6DA2-468C-9E03-0D7A3064FEB7}" srcOrd="0" destOrd="0" presId="urn:microsoft.com/office/officeart/2005/8/layout/default#1"/>
    <dgm:cxn modelId="{76F484B6-07E7-4A63-848B-FC2CCEDD0FAA}" srcId="{C0FCA4CD-0230-45B7-ADF6-2A8B893C97C4}" destId="{8A9DEFBE-D071-4903-875B-701ADB36221D}" srcOrd="5" destOrd="0" parTransId="{71D5DA04-CB44-4617-B4DB-092AB995A8D9}" sibTransId="{703DAA7B-2AA1-4CCF-90A0-7313D9F62E38}"/>
    <dgm:cxn modelId="{239596B9-0C33-425D-BEB5-DACC42B9FD19}" type="presOf" srcId="{C28CC641-901F-400B-866D-A64E34713CA5}" destId="{24C63C61-0BDB-43C3-92BC-807D50656E7C}" srcOrd="0" destOrd="0" presId="urn:microsoft.com/office/officeart/2005/8/layout/default#1"/>
    <dgm:cxn modelId="{1676D3E1-3471-47D3-BDBA-9E0A0539F466}" srcId="{C0FCA4CD-0230-45B7-ADF6-2A8B893C97C4}" destId="{56E10580-B785-4A01-A277-9478BC181640}" srcOrd="3" destOrd="0" parTransId="{A5072507-4C4E-4D0D-A71D-1C71C6387A7E}" sibTransId="{F7D273F5-1293-41A8-9245-349BCFDDEE36}"/>
    <dgm:cxn modelId="{6613AFB5-9C80-4EFD-949D-6A8BE2114530}" type="presParOf" srcId="{83BAD786-6DA2-468C-9E03-0D7A3064FEB7}" destId="{1161D67C-C7EA-4374-92B6-6D39276306A0}" srcOrd="0" destOrd="0" presId="urn:microsoft.com/office/officeart/2005/8/layout/default#1"/>
    <dgm:cxn modelId="{51818C22-51A5-438E-83CF-5719C5292CE9}" type="presParOf" srcId="{83BAD786-6DA2-468C-9E03-0D7A3064FEB7}" destId="{86F587C9-5C96-418B-B260-E1932ED98A28}" srcOrd="1" destOrd="0" presId="urn:microsoft.com/office/officeart/2005/8/layout/default#1"/>
    <dgm:cxn modelId="{6E7CF78F-AC97-4A8C-98B2-299BAC37A338}" type="presParOf" srcId="{83BAD786-6DA2-468C-9E03-0D7A3064FEB7}" destId="{24C63C61-0BDB-43C3-92BC-807D50656E7C}" srcOrd="2" destOrd="0" presId="urn:microsoft.com/office/officeart/2005/8/layout/default#1"/>
    <dgm:cxn modelId="{87691C0F-E51C-4B70-920E-64FA1A3F7841}" type="presParOf" srcId="{83BAD786-6DA2-468C-9E03-0D7A3064FEB7}" destId="{19C29B1B-13E6-441E-AB74-5C3651A14983}" srcOrd="3" destOrd="0" presId="urn:microsoft.com/office/officeart/2005/8/layout/default#1"/>
    <dgm:cxn modelId="{EE2D4D45-FE84-4719-99C0-B8BE5A4DF911}" type="presParOf" srcId="{83BAD786-6DA2-468C-9E03-0D7A3064FEB7}" destId="{FB57CC5D-5DED-45ED-A4E1-C463343EAF4D}" srcOrd="4" destOrd="0" presId="urn:microsoft.com/office/officeart/2005/8/layout/default#1"/>
    <dgm:cxn modelId="{6E728437-9100-4ACD-809B-ACF4825C0761}" type="presParOf" srcId="{83BAD786-6DA2-468C-9E03-0D7A3064FEB7}" destId="{AE633E8D-C1A4-49C6-90DF-2EFA6BC13B03}" srcOrd="5" destOrd="0" presId="urn:microsoft.com/office/officeart/2005/8/layout/default#1"/>
    <dgm:cxn modelId="{3042A1E5-4794-4E7A-BF41-73C766FCDC7B}" type="presParOf" srcId="{83BAD786-6DA2-468C-9E03-0D7A3064FEB7}" destId="{D0C41214-46CA-45D9-A934-70D2028BFC53}" srcOrd="6" destOrd="0" presId="urn:microsoft.com/office/officeart/2005/8/layout/default#1"/>
    <dgm:cxn modelId="{4CD96F6F-5DEA-4797-863C-C3371CB1FDB9}" type="presParOf" srcId="{83BAD786-6DA2-468C-9E03-0D7A3064FEB7}" destId="{DF817BAD-DA99-4157-9645-AAAECAC6B376}" srcOrd="7" destOrd="0" presId="urn:microsoft.com/office/officeart/2005/8/layout/default#1"/>
    <dgm:cxn modelId="{C4ED4180-61CF-4567-A054-7D18B4DFDFC0}" type="presParOf" srcId="{83BAD786-6DA2-468C-9E03-0D7A3064FEB7}" destId="{2F025859-0384-467B-811F-113D27FB30F1}" srcOrd="8" destOrd="0" presId="urn:microsoft.com/office/officeart/2005/8/layout/default#1"/>
    <dgm:cxn modelId="{A57699A6-84BD-4C5D-998D-690ED6E2D530}" type="presParOf" srcId="{83BAD786-6DA2-468C-9E03-0D7A3064FEB7}" destId="{F8DF2D6D-EFD9-46CA-B746-1EF3D1095BB5}" srcOrd="9" destOrd="0" presId="urn:microsoft.com/office/officeart/2005/8/layout/default#1"/>
    <dgm:cxn modelId="{BE44FBF0-B358-404E-B94B-55306C7C926E}" type="presParOf" srcId="{83BAD786-6DA2-468C-9E03-0D7A3064FEB7}" destId="{6DCA0D52-2E01-4A93-87E0-7FB7A711EFD1}" srcOrd="10" destOrd="0" presId="urn:microsoft.com/office/officeart/2005/8/layout/defaul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61D67C-C7EA-4374-92B6-6D39276306A0}">
      <dsp:nvSpPr>
        <dsp:cNvPr id="0" name=""/>
        <dsp:cNvSpPr/>
      </dsp:nvSpPr>
      <dsp:spPr>
        <a:xfrm>
          <a:off x="0" y="39687"/>
          <a:ext cx="3286125" cy="197167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100000"/>
            </a:lnSpc>
            <a:spcBef>
              <a:spcPct val="0"/>
            </a:spcBef>
            <a:spcAft>
              <a:spcPct val="35000"/>
            </a:spcAft>
            <a:buNone/>
          </a:pPr>
          <a:r>
            <a:rPr lang="en-US" sz="3800" kern="1200">
              <a:latin typeface="Times New Roman" panose="02020603050405020304" pitchFamily="18" charset="0"/>
              <a:cs typeface="Times New Roman" panose="02020603050405020304" pitchFamily="18" charset="0"/>
            </a:rPr>
            <a:t>Course Exemption</a:t>
          </a:r>
        </a:p>
      </dsp:txBody>
      <dsp:txXfrm>
        <a:off x="0" y="39687"/>
        <a:ext cx="3286125" cy="1971675"/>
      </dsp:txXfrm>
    </dsp:sp>
    <dsp:sp modelId="{24C63C61-0BDB-43C3-92BC-807D50656E7C}">
      <dsp:nvSpPr>
        <dsp:cNvPr id="0" name=""/>
        <dsp:cNvSpPr/>
      </dsp:nvSpPr>
      <dsp:spPr>
        <a:xfrm>
          <a:off x="3614737" y="39687"/>
          <a:ext cx="3286125" cy="197167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100000"/>
            </a:lnSpc>
            <a:spcBef>
              <a:spcPct val="0"/>
            </a:spcBef>
            <a:spcAft>
              <a:spcPct val="35000"/>
            </a:spcAft>
            <a:buNone/>
          </a:pPr>
          <a:r>
            <a:rPr lang="en-US" sz="3800" kern="1200">
              <a:latin typeface="Times New Roman" panose="02020603050405020304" pitchFamily="18" charset="0"/>
              <a:cs typeface="Times New Roman" panose="02020603050405020304" pitchFamily="18" charset="0"/>
            </a:rPr>
            <a:t>Grade Upgradation</a:t>
          </a:r>
        </a:p>
      </dsp:txBody>
      <dsp:txXfrm>
        <a:off x="3614737" y="39687"/>
        <a:ext cx="3286125" cy="1971675"/>
      </dsp:txXfrm>
    </dsp:sp>
    <dsp:sp modelId="{FB57CC5D-5DED-45ED-A4E1-C463343EAF4D}">
      <dsp:nvSpPr>
        <dsp:cNvPr id="0" name=""/>
        <dsp:cNvSpPr/>
      </dsp:nvSpPr>
      <dsp:spPr>
        <a:xfrm>
          <a:off x="7229475" y="39687"/>
          <a:ext cx="3286125" cy="197167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100000"/>
            </a:lnSpc>
            <a:spcBef>
              <a:spcPct val="0"/>
            </a:spcBef>
            <a:spcAft>
              <a:spcPct val="35000"/>
            </a:spcAft>
            <a:buNone/>
          </a:pPr>
          <a:r>
            <a:rPr lang="en-US" sz="3800" kern="1200" dirty="0">
              <a:latin typeface="Times New Roman" panose="02020603050405020304" pitchFamily="18" charset="0"/>
              <a:cs typeface="Times New Roman" panose="02020603050405020304" pitchFamily="18" charset="0"/>
            </a:rPr>
            <a:t>No Pen-Paper based Evaluation</a:t>
          </a:r>
        </a:p>
      </dsp:txBody>
      <dsp:txXfrm>
        <a:off x="7229475" y="39687"/>
        <a:ext cx="3286125" cy="1971675"/>
      </dsp:txXfrm>
    </dsp:sp>
    <dsp:sp modelId="{D0C41214-46CA-45D9-A934-70D2028BFC53}">
      <dsp:nvSpPr>
        <dsp:cNvPr id="0" name=""/>
        <dsp:cNvSpPr/>
      </dsp:nvSpPr>
      <dsp:spPr>
        <a:xfrm>
          <a:off x="0" y="2339975"/>
          <a:ext cx="3286125" cy="197167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100000"/>
            </a:lnSpc>
            <a:spcBef>
              <a:spcPct val="0"/>
            </a:spcBef>
            <a:spcAft>
              <a:spcPct val="35000"/>
            </a:spcAft>
            <a:buNone/>
          </a:pPr>
          <a:r>
            <a:rPr lang="en-US" sz="3800" kern="1200">
              <a:latin typeface="Times New Roman" panose="02020603050405020304" pitchFamily="18" charset="0"/>
              <a:cs typeface="Times New Roman" panose="02020603050405020304" pitchFamily="18" charset="0"/>
            </a:rPr>
            <a:t>Attendance Relaxation </a:t>
          </a:r>
        </a:p>
      </dsp:txBody>
      <dsp:txXfrm>
        <a:off x="0" y="2339975"/>
        <a:ext cx="3286125" cy="1971675"/>
      </dsp:txXfrm>
    </dsp:sp>
    <dsp:sp modelId="{2F025859-0384-467B-811F-113D27FB30F1}">
      <dsp:nvSpPr>
        <dsp:cNvPr id="0" name=""/>
        <dsp:cNvSpPr/>
      </dsp:nvSpPr>
      <dsp:spPr>
        <a:xfrm>
          <a:off x="3614737" y="2339975"/>
          <a:ext cx="3286125" cy="197167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100000"/>
            </a:lnSpc>
            <a:spcBef>
              <a:spcPct val="0"/>
            </a:spcBef>
            <a:spcAft>
              <a:spcPct val="35000"/>
            </a:spcAft>
            <a:buNone/>
          </a:pPr>
          <a:r>
            <a:rPr lang="en-US" sz="3800" kern="1200">
              <a:latin typeface="Times New Roman" panose="02020603050405020304" pitchFamily="18" charset="0"/>
              <a:cs typeface="Times New Roman" panose="02020603050405020304" pitchFamily="18" charset="0"/>
            </a:rPr>
            <a:t>Duty Leaves</a:t>
          </a:r>
        </a:p>
      </dsp:txBody>
      <dsp:txXfrm>
        <a:off x="3614737" y="2339975"/>
        <a:ext cx="3286125" cy="1971675"/>
      </dsp:txXfrm>
    </dsp:sp>
    <dsp:sp modelId="{6DCA0D52-2E01-4A93-87E0-7FB7A711EFD1}">
      <dsp:nvSpPr>
        <dsp:cNvPr id="0" name=""/>
        <dsp:cNvSpPr/>
      </dsp:nvSpPr>
      <dsp:spPr>
        <a:xfrm>
          <a:off x="7229475" y="2339975"/>
          <a:ext cx="3286125" cy="197167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100000"/>
            </a:lnSpc>
            <a:spcBef>
              <a:spcPct val="0"/>
            </a:spcBef>
            <a:spcAft>
              <a:spcPct val="35000"/>
            </a:spcAft>
            <a:buNone/>
          </a:pPr>
          <a:r>
            <a:rPr lang="en-US" sz="3800" kern="1200">
              <a:latin typeface="Times New Roman" panose="02020603050405020304" pitchFamily="18" charset="0"/>
              <a:cs typeface="Times New Roman" panose="02020603050405020304" pitchFamily="18" charset="0"/>
            </a:rPr>
            <a:t>Value Addition in Academic Transcript</a:t>
          </a:r>
        </a:p>
      </dsp:txBody>
      <dsp:txXfrm>
        <a:off x="7229475" y="2339975"/>
        <a:ext cx="3286125" cy="19716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61D67C-C7EA-4374-92B6-6D39276306A0}">
      <dsp:nvSpPr>
        <dsp:cNvPr id="0" name=""/>
        <dsp:cNvSpPr/>
      </dsp:nvSpPr>
      <dsp:spPr>
        <a:xfrm>
          <a:off x="233980" y="1424"/>
          <a:ext cx="3007203" cy="1804321"/>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pPr>
          <a:r>
            <a:rPr lang="en-US" sz="2400" b="1" kern="1200" dirty="0">
              <a:solidFill>
                <a:schemeClr val="tx1"/>
              </a:solidFill>
              <a:latin typeface="Times New Roman" panose="02020603050405020304" pitchFamily="18" charset="0"/>
              <a:cs typeface="Times New Roman" panose="02020603050405020304" pitchFamily="18" charset="0"/>
            </a:rPr>
            <a:t>Corporate Jobs</a:t>
          </a:r>
        </a:p>
      </dsp:txBody>
      <dsp:txXfrm>
        <a:off x="233980" y="1424"/>
        <a:ext cx="3007203" cy="1804321"/>
      </dsp:txXfrm>
    </dsp:sp>
    <dsp:sp modelId="{24C63C61-0BDB-43C3-92BC-807D50656E7C}">
      <dsp:nvSpPr>
        <dsp:cNvPr id="0" name=""/>
        <dsp:cNvSpPr/>
      </dsp:nvSpPr>
      <dsp:spPr>
        <a:xfrm>
          <a:off x="3611640" y="2705"/>
          <a:ext cx="3007203" cy="1804321"/>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pPr>
          <a:r>
            <a:rPr lang="en-US" sz="2400" b="1" kern="1200" dirty="0">
              <a:solidFill>
                <a:schemeClr val="tx1"/>
              </a:solidFill>
              <a:latin typeface="Times New Roman" panose="02020603050405020304" pitchFamily="18" charset="0"/>
              <a:cs typeface="Times New Roman" panose="02020603050405020304" pitchFamily="18" charset="0"/>
            </a:rPr>
            <a:t>Government </a:t>
          </a:r>
        </a:p>
        <a:p>
          <a:pPr marL="0" lvl="0" indent="0" algn="ctr" defTabSz="1066800">
            <a:lnSpc>
              <a:spcPct val="100000"/>
            </a:lnSpc>
            <a:spcBef>
              <a:spcPct val="0"/>
            </a:spcBef>
            <a:spcAft>
              <a:spcPct val="35000"/>
            </a:spcAft>
            <a:buNone/>
          </a:pPr>
          <a:r>
            <a:rPr lang="en-US" sz="2400" b="1" kern="1200" dirty="0">
              <a:solidFill>
                <a:schemeClr val="tx1"/>
              </a:solidFill>
              <a:latin typeface="Times New Roman" panose="02020603050405020304" pitchFamily="18" charset="0"/>
              <a:cs typeface="Times New Roman" panose="02020603050405020304" pitchFamily="18" charset="0"/>
            </a:rPr>
            <a:t>Jobs</a:t>
          </a:r>
        </a:p>
      </dsp:txBody>
      <dsp:txXfrm>
        <a:off x="3611640" y="2705"/>
        <a:ext cx="3007203" cy="1804321"/>
      </dsp:txXfrm>
    </dsp:sp>
    <dsp:sp modelId="{FB57CC5D-5DED-45ED-A4E1-C463343EAF4D}">
      <dsp:nvSpPr>
        <dsp:cNvPr id="0" name=""/>
        <dsp:cNvSpPr/>
      </dsp:nvSpPr>
      <dsp:spPr>
        <a:xfrm>
          <a:off x="6919564" y="2705"/>
          <a:ext cx="3007203" cy="1804321"/>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pPr>
          <a:r>
            <a:rPr lang="en-US" sz="2400" b="1" kern="1200" dirty="0">
              <a:solidFill>
                <a:schemeClr val="tx1"/>
              </a:solidFill>
              <a:latin typeface="Times New Roman" panose="02020603050405020304" pitchFamily="18" charset="0"/>
              <a:cs typeface="Times New Roman" panose="02020603050405020304" pitchFamily="18" charset="0"/>
            </a:rPr>
            <a:t>Higher Studies</a:t>
          </a:r>
        </a:p>
      </dsp:txBody>
      <dsp:txXfrm>
        <a:off x="6919564" y="2705"/>
        <a:ext cx="3007203" cy="1804321"/>
      </dsp:txXfrm>
    </dsp:sp>
    <dsp:sp modelId="{D0C41214-46CA-45D9-A934-70D2028BFC53}">
      <dsp:nvSpPr>
        <dsp:cNvPr id="0" name=""/>
        <dsp:cNvSpPr/>
      </dsp:nvSpPr>
      <dsp:spPr>
        <a:xfrm>
          <a:off x="303717" y="2107747"/>
          <a:ext cx="3007203" cy="1804321"/>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pPr>
          <a:r>
            <a:rPr lang="en-US" sz="2400" b="1" kern="1200" dirty="0">
              <a:solidFill>
                <a:schemeClr val="tx1"/>
              </a:solidFill>
              <a:latin typeface="Times New Roman" panose="02020603050405020304" pitchFamily="18" charset="0"/>
              <a:cs typeface="Times New Roman" panose="02020603050405020304" pitchFamily="18" charset="0"/>
            </a:rPr>
            <a:t>Entrepreneurship</a:t>
          </a:r>
        </a:p>
      </dsp:txBody>
      <dsp:txXfrm>
        <a:off x="303717" y="2107747"/>
        <a:ext cx="3007203" cy="1804321"/>
      </dsp:txXfrm>
    </dsp:sp>
    <dsp:sp modelId="{2F025859-0384-467B-811F-113D27FB30F1}">
      <dsp:nvSpPr>
        <dsp:cNvPr id="0" name=""/>
        <dsp:cNvSpPr/>
      </dsp:nvSpPr>
      <dsp:spPr>
        <a:xfrm>
          <a:off x="3611640" y="2107747"/>
          <a:ext cx="3007203" cy="1804321"/>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pPr>
          <a:r>
            <a:rPr lang="en-US" sz="2400" b="1" kern="1200" dirty="0">
              <a:solidFill>
                <a:schemeClr val="tx1"/>
              </a:solidFill>
              <a:latin typeface="Times New Roman" panose="02020603050405020304" pitchFamily="18" charset="0"/>
              <a:cs typeface="Times New Roman" panose="02020603050405020304" pitchFamily="18" charset="0"/>
            </a:rPr>
            <a:t>Research</a:t>
          </a:r>
        </a:p>
      </dsp:txBody>
      <dsp:txXfrm>
        <a:off x="3611640" y="2107747"/>
        <a:ext cx="3007203" cy="1804321"/>
      </dsp:txXfrm>
    </dsp:sp>
    <dsp:sp modelId="{6DCA0D52-2E01-4A93-87E0-7FB7A711EFD1}">
      <dsp:nvSpPr>
        <dsp:cNvPr id="0" name=""/>
        <dsp:cNvSpPr/>
      </dsp:nvSpPr>
      <dsp:spPr>
        <a:xfrm>
          <a:off x="6919564" y="2107747"/>
          <a:ext cx="3007203" cy="1804321"/>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pPr>
          <a:r>
            <a:rPr lang="en-US" sz="2400" b="1" kern="1200" dirty="0">
              <a:solidFill>
                <a:schemeClr val="tx1"/>
              </a:solidFill>
              <a:latin typeface="Times New Roman" panose="02020603050405020304" pitchFamily="18" charset="0"/>
              <a:cs typeface="Times New Roman" panose="02020603050405020304" pitchFamily="18" charset="0"/>
            </a:rPr>
            <a:t>Study Abroad</a:t>
          </a:r>
        </a:p>
      </dsp:txBody>
      <dsp:txXfrm>
        <a:off x="6919564" y="2107747"/>
        <a:ext cx="3007203" cy="1804321"/>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2FD9E2-B484-4250-83E5-9F88B7A9F72F}" type="datetimeFigureOut">
              <a:rPr lang="en-IN" smtClean="0"/>
              <a:t>17-07-2026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4C31B8-E5FA-4633-862F-48C076866E46}" type="slidenum">
              <a:rPr lang="en-IN" smtClean="0"/>
              <a:t>‹#›</a:t>
            </a:fld>
            <a:endParaRPr lang="en-IN"/>
          </a:p>
        </p:txBody>
      </p:sp>
    </p:spTree>
    <p:extLst>
      <p:ext uri="{BB962C8B-B14F-4D97-AF65-F5344CB8AC3E}">
        <p14:creationId xmlns:p14="http://schemas.microsoft.com/office/powerpoint/2010/main" val="153141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5pPr>
            <a:lvl6pPr marL="25146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6pPr>
            <a:lvl7pPr marL="29718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7pPr>
            <a:lvl8pPr marL="34290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8pPr>
            <a:lvl9pPr marL="38862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9pPr>
          </a:lstStyle>
          <a:p>
            <a:fld id="{54D74875-FFDB-46A6-B54C-833D27C586D2}" type="slidenum">
              <a:rPr lang="en-IN" altLang="en-US">
                <a:latin typeface="Calibri" pitchFamily="32" charset="0"/>
              </a:rPr>
              <a:pPr/>
              <a:t>1</a:t>
            </a:fld>
            <a:endParaRPr lang="en-IN" altLang="en-US" dirty="0">
              <a:latin typeface="Calibri" pitchFamily="32" charset="0"/>
            </a:endParaRPr>
          </a:p>
        </p:txBody>
      </p:sp>
      <p:sp>
        <p:nvSpPr>
          <p:cNvPr id="13315" name="Rectangle 1"/>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6"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latin typeface="Times New Roman" pitchFamily="16" charset="0"/>
            </a:endParaRPr>
          </a:p>
        </p:txBody>
      </p:sp>
    </p:spTree>
    <p:extLst>
      <p:ext uri="{BB962C8B-B14F-4D97-AF65-F5344CB8AC3E}">
        <p14:creationId xmlns:p14="http://schemas.microsoft.com/office/powerpoint/2010/main" val="3666020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5pPr>
            <a:lvl6pPr marL="25146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6pPr>
            <a:lvl7pPr marL="29718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7pPr>
            <a:lvl8pPr marL="34290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8pPr>
            <a:lvl9pPr marL="38862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9pPr>
          </a:lstStyle>
          <a:p>
            <a:fld id="{5C59BFE7-9E71-446A-A874-0E5E8D2B8A91}" type="slidenum">
              <a:rPr lang="en-IN" altLang="en-US">
                <a:latin typeface="Calibri" pitchFamily="32" charset="0"/>
              </a:rPr>
              <a:pPr/>
              <a:t>3</a:t>
            </a:fld>
            <a:endParaRPr lang="en-IN" altLang="en-US">
              <a:latin typeface="Calibri" pitchFamily="32" charset="0"/>
            </a:endParaRPr>
          </a:p>
        </p:txBody>
      </p:sp>
      <p:sp>
        <p:nvSpPr>
          <p:cNvPr id="23555" name="Rectangle 1"/>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6"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itchFamily="16" charset="0"/>
            </a:endParaRPr>
          </a:p>
        </p:txBody>
      </p:sp>
    </p:spTree>
    <p:extLst>
      <p:ext uri="{BB962C8B-B14F-4D97-AF65-F5344CB8AC3E}">
        <p14:creationId xmlns:p14="http://schemas.microsoft.com/office/powerpoint/2010/main" val="3816806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AD6B0F8-D69B-9DB1-452C-A7FC78E512C3}"/>
            </a:ext>
          </a:extLst>
        </p:cNvPr>
        <p:cNvGrpSpPr/>
        <p:nvPr/>
      </p:nvGrpSpPr>
      <p:grpSpPr>
        <a:xfrm>
          <a:off x="0" y="0"/>
          <a:ext cx="0" cy="0"/>
          <a:chOff x="0" y="0"/>
          <a:chExt cx="0" cy="0"/>
        </a:xfrm>
      </p:grpSpPr>
      <p:sp>
        <p:nvSpPr>
          <p:cNvPr id="23554" name="Rectangle 7">
            <a:extLst>
              <a:ext uri="{FF2B5EF4-FFF2-40B4-BE49-F238E27FC236}">
                <a16:creationId xmlns:a16="http://schemas.microsoft.com/office/drawing/2014/main" id="{734AD437-88C4-4523-EEB3-ED0E8903371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5pPr>
            <a:lvl6pPr marL="25146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6pPr>
            <a:lvl7pPr marL="29718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7pPr>
            <a:lvl8pPr marL="34290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8pPr>
            <a:lvl9pPr marL="38862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9pPr>
          </a:lstStyle>
          <a:p>
            <a:fld id="{5C59BFE7-9E71-446A-A874-0E5E8D2B8A91}" type="slidenum">
              <a:rPr lang="en-IN" altLang="en-US">
                <a:latin typeface="Calibri" pitchFamily="32" charset="0"/>
              </a:rPr>
              <a:pPr/>
              <a:t>4</a:t>
            </a:fld>
            <a:endParaRPr lang="en-IN" altLang="en-US">
              <a:latin typeface="Calibri" pitchFamily="32" charset="0"/>
            </a:endParaRPr>
          </a:p>
        </p:txBody>
      </p:sp>
      <p:sp>
        <p:nvSpPr>
          <p:cNvPr id="23555" name="Rectangle 1">
            <a:extLst>
              <a:ext uri="{FF2B5EF4-FFF2-40B4-BE49-F238E27FC236}">
                <a16:creationId xmlns:a16="http://schemas.microsoft.com/office/drawing/2014/main" id="{FADF4765-6005-1950-1E0C-3762C3889ABC}"/>
              </a:ext>
            </a:extLst>
          </p:cNvPr>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6" name="Rectangle 2">
            <a:extLst>
              <a:ext uri="{FF2B5EF4-FFF2-40B4-BE49-F238E27FC236}">
                <a16:creationId xmlns:a16="http://schemas.microsoft.com/office/drawing/2014/main" id="{A38A58DB-AE15-591E-3DC4-8712C40BEC2C}"/>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itchFamily="16" charset="0"/>
            </a:endParaRPr>
          </a:p>
        </p:txBody>
      </p:sp>
    </p:spTree>
    <p:extLst>
      <p:ext uri="{BB962C8B-B14F-4D97-AF65-F5344CB8AC3E}">
        <p14:creationId xmlns:p14="http://schemas.microsoft.com/office/powerpoint/2010/main" val="3312301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FC686EC-95C8-B455-9399-7D8D26E19949}"/>
            </a:ext>
          </a:extLst>
        </p:cNvPr>
        <p:cNvGrpSpPr/>
        <p:nvPr/>
      </p:nvGrpSpPr>
      <p:grpSpPr>
        <a:xfrm>
          <a:off x="0" y="0"/>
          <a:ext cx="0" cy="0"/>
          <a:chOff x="0" y="0"/>
          <a:chExt cx="0" cy="0"/>
        </a:xfrm>
      </p:grpSpPr>
      <p:sp>
        <p:nvSpPr>
          <p:cNvPr id="23554" name="Rectangle 7">
            <a:extLst>
              <a:ext uri="{FF2B5EF4-FFF2-40B4-BE49-F238E27FC236}">
                <a16:creationId xmlns:a16="http://schemas.microsoft.com/office/drawing/2014/main" id="{2C852EE6-1D63-CDE0-FDAC-FED52064645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5pPr>
            <a:lvl6pPr marL="25146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6pPr>
            <a:lvl7pPr marL="29718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7pPr>
            <a:lvl8pPr marL="34290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8pPr>
            <a:lvl9pPr marL="38862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9pPr>
          </a:lstStyle>
          <a:p>
            <a:fld id="{5C59BFE7-9E71-446A-A874-0E5E8D2B8A91}" type="slidenum">
              <a:rPr lang="en-IN" altLang="en-US">
                <a:latin typeface="Calibri" pitchFamily="32" charset="0"/>
              </a:rPr>
              <a:pPr/>
              <a:t>5</a:t>
            </a:fld>
            <a:endParaRPr lang="en-IN" altLang="en-US">
              <a:latin typeface="Calibri" pitchFamily="32" charset="0"/>
            </a:endParaRPr>
          </a:p>
        </p:txBody>
      </p:sp>
      <p:sp>
        <p:nvSpPr>
          <p:cNvPr id="23555" name="Rectangle 1">
            <a:extLst>
              <a:ext uri="{FF2B5EF4-FFF2-40B4-BE49-F238E27FC236}">
                <a16:creationId xmlns:a16="http://schemas.microsoft.com/office/drawing/2014/main" id="{AE4D600C-D919-9989-5CD5-8C9484DC9166}"/>
              </a:ext>
            </a:extLst>
          </p:cNvPr>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6" name="Rectangle 2">
            <a:extLst>
              <a:ext uri="{FF2B5EF4-FFF2-40B4-BE49-F238E27FC236}">
                <a16:creationId xmlns:a16="http://schemas.microsoft.com/office/drawing/2014/main" id="{AC5A05D5-0016-83AD-1C52-4F6F1BEF5411}"/>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itchFamily="16" charset="0"/>
            </a:endParaRPr>
          </a:p>
        </p:txBody>
      </p:sp>
    </p:spTree>
    <p:extLst>
      <p:ext uri="{BB962C8B-B14F-4D97-AF65-F5344CB8AC3E}">
        <p14:creationId xmlns:p14="http://schemas.microsoft.com/office/powerpoint/2010/main" val="2330481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185B3F2-79BC-DC4E-B1EC-D8E5CAE90C49}"/>
            </a:ext>
          </a:extLst>
        </p:cNvPr>
        <p:cNvGrpSpPr/>
        <p:nvPr/>
      </p:nvGrpSpPr>
      <p:grpSpPr>
        <a:xfrm>
          <a:off x="0" y="0"/>
          <a:ext cx="0" cy="0"/>
          <a:chOff x="0" y="0"/>
          <a:chExt cx="0" cy="0"/>
        </a:xfrm>
      </p:grpSpPr>
      <p:sp>
        <p:nvSpPr>
          <p:cNvPr id="23554" name="Rectangle 7">
            <a:extLst>
              <a:ext uri="{FF2B5EF4-FFF2-40B4-BE49-F238E27FC236}">
                <a16:creationId xmlns:a16="http://schemas.microsoft.com/office/drawing/2014/main" id="{9DA52A0D-CB34-1622-0CD1-ECBAEE5D9ACE}"/>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5pPr>
            <a:lvl6pPr marL="25146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6pPr>
            <a:lvl7pPr marL="29718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7pPr>
            <a:lvl8pPr marL="34290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8pPr>
            <a:lvl9pPr marL="38862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9pPr>
          </a:lstStyle>
          <a:p>
            <a:fld id="{5C59BFE7-9E71-446A-A874-0E5E8D2B8A91}" type="slidenum">
              <a:rPr lang="en-IN" altLang="en-US">
                <a:latin typeface="Calibri" pitchFamily="32" charset="0"/>
              </a:rPr>
              <a:pPr/>
              <a:t>6</a:t>
            </a:fld>
            <a:endParaRPr lang="en-IN" altLang="en-US">
              <a:latin typeface="Calibri" pitchFamily="32" charset="0"/>
            </a:endParaRPr>
          </a:p>
        </p:txBody>
      </p:sp>
      <p:sp>
        <p:nvSpPr>
          <p:cNvPr id="23555" name="Rectangle 1">
            <a:extLst>
              <a:ext uri="{FF2B5EF4-FFF2-40B4-BE49-F238E27FC236}">
                <a16:creationId xmlns:a16="http://schemas.microsoft.com/office/drawing/2014/main" id="{F079FD8F-BE52-F860-DFD7-932841CF62A9}"/>
              </a:ext>
            </a:extLst>
          </p:cNvPr>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6" name="Rectangle 2">
            <a:extLst>
              <a:ext uri="{FF2B5EF4-FFF2-40B4-BE49-F238E27FC236}">
                <a16:creationId xmlns:a16="http://schemas.microsoft.com/office/drawing/2014/main" id="{CEB62D9A-EED4-0160-3462-18B500BD091B}"/>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itchFamily="16" charset="0"/>
            </a:endParaRPr>
          </a:p>
        </p:txBody>
      </p:sp>
    </p:spTree>
    <p:extLst>
      <p:ext uri="{BB962C8B-B14F-4D97-AF65-F5344CB8AC3E}">
        <p14:creationId xmlns:p14="http://schemas.microsoft.com/office/powerpoint/2010/main" val="2004084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5pPr>
            <a:lvl6pPr marL="25146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6pPr>
            <a:lvl7pPr marL="29718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7pPr>
            <a:lvl8pPr marL="34290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8pPr>
            <a:lvl9pPr marL="38862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9pPr>
          </a:lstStyle>
          <a:p>
            <a:fld id="{341E80A0-5749-422A-8BF6-649022B87008}" type="slidenum">
              <a:rPr lang="en-IN" altLang="en-US">
                <a:latin typeface="Calibri" pitchFamily="32" charset="0"/>
              </a:rPr>
              <a:pPr/>
              <a:t>7</a:t>
            </a:fld>
            <a:endParaRPr lang="en-IN" altLang="en-US">
              <a:latin typeface="Calibri" pitchFamily="32" charset="0"/>
            </a:endParaRPr>
          </a:p>
        </p:txBody>
      </p:sp>
      <p:sp>
        <p:nvSpPr>
          <p:cNvPr id="31747" name="Rectangle 1"/>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8"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itchFamily="16" charset="0"/>
            </a:endParaRPr>
          </a:p>
        </p:txBody>
      </p:sp>
    </p:spTree>
    <p:extLst>
      <p:ext uri="{BB962C8B-B14F-4D97-AF65-F5344CB8AC3E}">
        <p14:creationId xmlns:p14="http://schemas.microsoft.com/office/powerpoint/2010/main" val="1759573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5pPr>
            <a:lvl6pPr marL="25146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6pPr>
            <a:lvl7pPr marL="29718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7pPr>
            <a:lvl8pPr marL="34290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8pPr>
            <a:lvl9pPr marL="38862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9pPr>
          </a:lstStyle>
          <a:p>
            <a:fld id="{341E80A0-5749-422A-8BF6-649022B87008}" type="slidenum">
              <a:rPr lang="en-IN" altLang="en-US">
                <a:latin typeface="Calibri" pitchFamily="32" charset="0"/>
              </a:rPr>
              <a:pPr/>
              <a:t>8</a:t>
            </a:fld>
            <a:endParaRPr lang="en-IN" altLang="en-US">
              <a:latin typeface="Calibri" pitchFamily="32" charset="0"/>
            </a:endParaRPr>
          </a:p>
        </p:txBody>
      </p:sp>
      <p:sp>
        <p:nvSpPr>
          <p:cNvPr id="31747" name="Rectangle 1"/>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8"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itchFamily="16" charset="0"/>
            </a:endParaRPr>
          </a:p>
        </p:txBody>
      </p:sp>
    </p:spTree>
    <p:extLst>
      <p:ext uri="{BB962C8B-B14F-4D97-AF65-F5344CB8AC3E}">
        <p14:creationId xmlns:p14="http://schemas.microsoft.com/office/powerpoint/2010/main" val="1759573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4B889C7-E4BB-9BF7-8303-C7E4866C68D5}"/>
            </a:ext>
          </a:extLst>
        </p:cNvPr>
        <p:cNvGrpSpPr/>
        <p:nvPr/>
      </p:nvGrpSpPr>
      <p:grpSpPr>
        <a:xfrm>
          <a:off x="0" y="0"/>
          <a:ext cx="0" cy="0"/>
          <a:chOff x="0" y="0"/>
          <a:chExt cx="0" cy="0"/>
        </a:xfrm>
      </p:grpSpPr>
      <p:sp>
        <p:nvSpPr>
          <p:cNvPr id="31746" name="Rectangle 7">
            <a:extLst>
              <a:ext uri="{FF2B5EF4-FFF2-40B4-BE49-F238E27FC236}">
                <a16:creationId xmlns:a16="http://schemas.microsoft.com/office/drawing/2014/main" id="{792942E9-8378-7D5F-6996-EA4719332BB9}"/>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5pPr>
            <a:lvl6pPr marL="25146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6pPr>
            <a:lvl7pPr marL="29718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7pPr>
            <a:lvl8pPr marL="34290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8pPr>
            <a:lvl9pPr marL="38862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9pPr>
          </a:lstStyle>
          <a:p>
            <a:fld id="{341E80A0-5749-422A-8BF6-649022B87008}" type="slidenum">
              <a:rPr lang="en-IN" altLang="en-US">
                <a:latin typeface="Calibri" pitchFamily="32" charset="0"/>
              </a:rPr>
              <a:pPr/>
              <a:t>9</a:t>
            </a:fld>
            <a:endParaRPr lang="en-IN" altLang="en-US">
              <a:latin typeface="Calibri" pitchFamily="32" charset="0"/>
            </a:endParaRPr>
          </a:p>
        </p:txBody>
      </p:sp>
      <p:sp>
        <p:nvSpPr>
          <p:cNvPr id="31747" name="Rectangle 1">
            <a:extLst>
              <a:ext uri="{FF2B5EF4-FFF2-40B4-BE49-F238E27FC236}">
                <a16:creationId xmlns:a16="http://schemas.microsoft.com/office/drawing/2014/main" id="{51D0B9C4-260F-1543-BEDF-FF1A33A4C697}"/>
              </a:ext>
            </a:extLst>
          </p:cNvPr>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8" name="Rectangle 2">
            <a:extLst>
              <a:ext uri="{FF2B5EF4-FFF2-40B4-BE49-F238E27FC236}">
                <a16:creationId xmlns:a16="http://schemas.microsoft.com/office/drawing/2014/main" id="{A4C30148-3297-A40E-F7B8-E1FCC6E4D538}"/>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itchFamily="16" charset="0"/>
            </a:endParaRPr>
          </a:p>
        </p:txBody>
      </p:sp>
    </p:spTree>
    <p:extLst>
      <p:ext uri="{BB962C8B-B14F-4D97-AF65-F5344CB8AC3E}">
        <p14:creationId xmlns:p14="http://schemas.microsoft.com/office/powerpoint/2010/main" val="36774212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5pPr>
            <a:lvl6pPr marL="25146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6pPr>
            <a:lvl7pPr marL="29718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7pPr>
            <a:lvl8pPr marL="34290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8pPr>
            <a:lvl9pPr marL="38862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9pPr>
          </a:lstStyle>
          <a:p>
            <a:fld id="{341E80A0-5749-422A-8BF6-649022B87008}" type="slidenum">
              <a:rPr lang="en-IN" altLang="en-US">
                <a:latin typeface="Calibri" pitchFamily="32" charset="0"/>
              </a:rPr>
              <a:pPr/>
              <a:t>10</a:t>
            </a:fld>
            <a:endParaRPr lang="en-IN" altLang="en-US">
              <a:latin typeface="Calibri" pitchFamily="32" charset="0"/>
            </a:endParaRPr>
          </a:p>
        </p:txBody>
      </p:sp>
      <p:sp>
        <p:nvSpPr>
          <p:cNvPr id="31747" name="Rectangle 1"/>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8"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itchFamily="16" charset="0"/>
            </a:endParaRPr>
          </a:p>
        </p:txBody>
      </p:sp>
    </p:spTree>
    <p:extLst>
      <p:ext uri="{BB962C8B-B14F-4D97-AF65-F5344CB8AC3E}">
        <p14:creationId xmlns:p14="http://schemas.microsoft.com/office/powerpoint/2010/main" val="3624668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E78AB8F-1361-F427-45F3-334931984D94}"/>
            </a:ext>
          </a:extLst>
        </p:cNvPr>
        <p:cNvGrpSpPr/>
        <p:nvPr/>
      </p:nvGrpSpPr>
      <p:grpSpPr>
        <a:xfrm>
          <a:off x="0" y="0"/>
          <a:ext cx="0" cy="0"/>
          <a:chOff x="0" y="0"/>
          <a:chExt cx="0" cy="0"/>
        </a:xfrm>
      </p:grpSpPr>
      <p:sp>
        <p:nvSpPr>
          <p:cNvPr id="31746" name="Rectangle 7">
            <a:extLst>
              <a:ext uri="{FF2B5EF4-FFF2-40B4-BE49-F238E27FC236}">
                <a16:creationId xmlns:a16="http://schemas.microsoft.com/office/drawing/2014/main" id="{7F085A3A-771D-E435-7B29-D863FFF0A1A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5pPr>
            <a:lvl6pPr marL="25146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6pPr>
            <a:lvl7pPr marL="29718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7pPr>
            <a:lvl8pPr marL="34290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8pPr>
            <a:lvl9pPr marL="38862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9pPr>
          </a:lstStyle>
          <a:p>
            <a:fld id="{341E80A0-5749-422A-8BF6-649022B87008}" type="slidenum">
              <a:rPr lang="en-IN" altLang="en-US">
                <a:latin typeface="Calibri" pitchFamily="32" charset="0"/>
              </a:rPr>
              <a:pPr/>
              <a:t>11</a:t>
            </a:fld>
            <a:endParaRPr lang="en-IN" altLang="en-US">
              <a:latin typeface="Calibri" pitchFamily="32" charset="0"/>
            </a:endParaRPr>
          </a:p>
        </p:txBody>
      </p:sp>
      <p:sp>
        <p:nvSpPr>
          <p:cNvPr id="31747" name="Rectangle 1">
            <a:extLst>
              <a:ext uri="{FF2B5EF4-FFF2-40B4-BE49-F238E27FC236}">
                <a16:creationId xmlns:a16="http://schemas.microsoft.com/office/drawing/2014/main" id="{3AD3D916-2C41-C493-BAD6-D6F8B9B17EC8}"/>
              </a:ext>
            </a:extLst>
          </p:cNvPr>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8" name="Rectangle 2">
            <a:extLst>
              <a:ext uri="{FF2B5EF4-FFF2-40B4-BE49-F238E27FC236}">
                <a16:creationId xmlns:a16="http://schemas.microsoft.com/office/drawing/2014/main" id="{A9568812-0E34-13C8-B16A-B64EC4274E10}"/>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itchFamily="16" charset="0"/>
            </a:endParaRPr>
          </a:p>
        </p:txBody>
      </p:sp>
    </p:spTree>
    <p:extLst>
      <p:ext uri="{BB962C8B-B14F-4D97-AF65-F5344CB8AC3E}">
        <p14:creationId xmlns:p14="http://schemas.microsoft.com/office/powerpoint/2010/main" val="18377556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FDB096D-95C4-819E-7E52-91EE6D3919BB}"/>
            </a:ext>
          </a:extLst>
        </p:cNvPr>
        <p:cNvGrpSpPr/>
        <p:nvPr/>
      </p:nvGrpSpPr>
      <p:grpSpPr>
        <a:xfrm>
          <a:off x="0" y="0"/>
          <a:ext cx="0" cy="0"/>
          <a:chOff x="0" y="0"/>
          <a:chExt cx="0" cy="0"/>
        </a:xfrm>
      </p:grpSpPr>
      <p:sp>
        <p:nvSpPr>
          <p:cNvPr id="31746" name="Rectangle 7">
            <a:extLst>
              <a:ext uri="{FF2B5EF4-FFF2-40B4-BE49-F238E27FC236}">
                <a16:creationId xmlns:a16="http://schemas.microsoft.com/office/drawing/2014/main" id="{86EC61CB-592D-BA04-3B8A-0A0EA93AF579}"/>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5pPr>
            <a:lvl6pPr marL="25146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6pPr>
            <a:lvl7pPr marL="29718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7pPr>
            <a:lvl8pPr marL="34290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8pPr>
            <a:lvl9pPr marL="3886200" indent="-228600" defTabSz="449263" eaLnBrk="0" fontAlgn="base" hangingPunct="0">
              <a:spcBef>
                <a:spcPct val="3000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6" charset="0"/>
              </a:defRPr>
            </a:lvl9pPr>
          </a:lstStyle>
          <a:p>
            <a:fld id="{341E80A0-5749-422A-8BF6-649022B87008}" type="slidenum">
              <a:rPr lang="en-IN" altLang="en-US">
                <a:latin typeface="Calibri" pitchFamily="32" charset="0"/>
              </a:rPr>
              <a:pPr/>
              <a:t>12</a:t>
            </a:fld>
            <a:endParaRPr lang="en-IN" altLang="en-US">
              <a:latin typeface="Calibri" pitchFamily="32" charset="0"/>
            </a:endParaRPr>
          </a:p>
        </p:txBody>
      </p:sp>
      <p:sp>
        <p:nvSpPr>
          <p:cNvPr id="31747" name="Rectangle 1">
            <a:extLst>
              <a:ext uri="{FF2B5EF4-FFF2-40B4-BE49-F238E27FC236}">
                <a16:creationId xmlns:a16="http://schemas.microsoft.com/office/drawing/2014/main" id="{EDBE1543-7F25-5FB8-ED37-E2AB508303E6}"/>
              </a:ext>
            </a:extLst>
          </p:cNvPr>
          <p:cNvSpPr>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8" name="Rectangle 2">
            <a:extLst>
              <a:ext uri="{FF2B5EF4-FFF2-40B4-BE49-F238E27FC236}">
                <a16:creationId xmlns:a16="http://schemas.microsoft.com/office/drawing/2014/main" id="{31E8635E-3F86-72EE-15DF-09B3C839DDFC}"/>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itchFamily="16" charset="0"/>
            </a:endParaRPr>
          </a:p>
        </p:txBody>
      </p:sp>
    </p:spTree>
    <p:extLst>
      <p:ext uri="{BB962C8B-B14F-4D97-AF65-F5344CB8AC3E}">
        <p14:creationId xmlns:p14="http://schemas.microsoft.com/office/powerpoint/2010/main" val="1766024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1B3CEE5-36F5-49F2-9488-B27CD1F079FA}"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B37636-7365-43EF-99A2-4B52453C8892}" type="slidenum">
              <a:rPr lang="en-IN" smtClean="0"/>
              <a:t>‹#›</a:t>
            </a:fld>
            <a:endParaRPr lang="en-IN"/>
          </a:p>
        </p:txBody>
      </p:sp>
    </p:spTree>
    <p:extLst>
      <p:ext uri="{BB962C8B-B14F-4D97-AF65-F5344CB8AC3E}">
        <p14:creationId xmlns:p14="http://schemas.microsoft.com/office/powerpoint/2010/main" val="4119238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1B3CEE5-36F5-49F2-9488-B27CD1F079FA}"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B37636-7365-43EF-99A2-4B52453C8892}" type="slidenum">
              <a:rPr lang="en-IN" smtClean="0"/>
              <a:t>‹#›</a:t>
            </a:fld>
            <a:endParaRPr lang="en-IN"/>
          </a:p>
        </p:txBody>
      </p:sp>
    </p:spTree>
    <p:extLst>
      <p:ext uri="{BB962C8B-B14F-4D97-AF65-F5344CB8AC3E}">
        <p14:creationId xmlns:p14="http://schemas.microsoft.com/office/powerpoint/2010/main" val="1779500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1B3CEE5-36F5-49F2-9488-B27CD1F079FA}"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B37636-7365-43EF-99A2-4B52453C8892}" type="slidenum">
              <a:rPr lang="en-IN" smtClean="0"/>
              <a:t>‹#›</a:t>
            </a:fld>
            <a:endParaRPr lang="en-IN"/>
          </a:p>
        </p:txBody>
      </p:sp>
    </p:spTree>
    <p:extLst>
      <p:ext uri="{BB962C8B-B14F-4D97-AF65-F5344CB8AC3E}">
        <p14:creationId xmlns:p14="http://schemas.microsoft.com/office/powerpoint/2010/main" val="4237727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1B3CEE5-36F5-49F2-9488-B27CD1F079FA}"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B37636-7365-43EF-99A2-4B52453C8892}" type="slidenum">
              <a:rPr lang="en-IN" smtClean="0"/>
              <a:t>‹#›</a:t>
            </a:fld>
            <a:endParaRPr lang="en-IN"/>
          </a:p>
        </p:txBody>
      </p:sp>
    </p:spTree>
    <p:extLst>
      <p:ext uri="{BB962C8B-B14F-4D97-AF65-F5344CB8AC3E}">
        <p14:creationId xmlns:p14="http://schemas.microsoft.com/office/powerpoint/2010/main" val="1580536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1B3CEE5-36F5-49F2-9488-B27CD1F079FA}" type="datetimeFigureOut">
              <a:rPr lang="en-IN" smtClean="0"/>
              <a:t>17-07-2026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EB37636-7365-43EF-99A2-4B52453C8892}" type="slidenum">
              <a:rPr lang="en-IN" smtClean="0"/>
              <a:t>‹#›</a:t>
            </a:fld>
            <a:endParaRPr lang="en-IN"/>
          </a:p>
        </p:txBody>
      </p:sp>
    </p:spTree>
    <p:extLst>
      <p:ext uri="{BB962C8B-B14F-4D97-AF65-F5344CB8AC3E}">
        <p14:creationId xmlns:p14="http://schemas.microsoft.com/office/powerpoint/2010/main" val="948774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1B3CEE5-36F5-49F2-9488-B27CD1F079FA}" type="datetimeFigureOut">
              <a:rPr lang="en-IN" smtClean="0"/>
              <a:t>17-07-2026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EB37636-7365-43EF-99A2-4B52453C8892}" type="slidenum">
              <a:rPr lang="en-IN" smtClean="0"/>
              <a:t>‹#›</a:t>
            </a:fld>
            <a:endParaRPr lang="en-IN"/>
          </a:p>
        </p:txBody>
      </p:sp>
    </p:spTree>
    <p:extLst>
      <p:ext uri="{BB962C8B-B14F-4D97-AF65-F5344CB8AC3E}">
        <p14:creationId xmlns:p14="http://schemas.microsoft.com/office/powerpoint/2010/main" val="2833914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B3CEE5-36F5-49F2-9488-B27CD1F079FA}" type="datetimeFigureOut">
              <a:rPr lang="en-IN" smtClean="0"/>
              <a:t>17-07-2026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EB37636-7365-43EF-99A2-4B52453C8892}" type="slidenum">
              <a:rPr lang="en-IN" smtClean="0"/>
              <a:t>‹#›</a:t>
            </a:fld>
            <a:endParaRPr lang="en-IN"/>
          </a:p>
        </p:txBody>
      </p:sp>
    </p:spTree>
    <p:extLst>
      <p:ext uri="{BB962C8B-B14F-4D97-AF65-F5344CB8AC3E}">
        <p14:creationId xmlns:p14="http://schemas.microsoft.com/office/powerpoint/2010/main" val="1845459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1B3CEE5-36F5-49F2-9488-B27CD1F079FA}"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B37636-7365-43EF-99A2-4B52453C8892}" type="slidenum">
              <a:rPr lang="en-IN" smtClean="0"/>
              <a:t>‹#›</a:t>
            </a:fld>
            <a:endParaRPr lang="en-IN"/>
          </a:p>
        </p:txBody>
      </p:sp>
    </p:spTree>
    <p:extLst>
      <p:ext uri="{BB962C8B-B14F-4D97-AF65-F5344CB8AC3E}">
        <p14:creationId xmlns:p14="http://schemas.microsoft.com/office/powerpoint/2010/main" val="1020132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1B3CEE5-36F5-49F2-9488-B27CD1F079FA}"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B37636-7365-43EF-99A2-4B52453C8892}" type="slidenum">
              <a:rPr lang="en-IN" smtClean="0"/>
              <a:t>‹#›</a:t>
            </a:fld>
            <a:endParaRPr lang="en-IN"/>
          </a:p>
        </p:txBody>
      </p:sp>
    </p:spTree>
    <p:extLst>
      <p:ext uri="{BB962C8B-B14F-4D97-AF65-F5344CB8AC3E}">
        <p14:creationId xmlns:p14="http://schemas.microsoft.com/office/powerpoint/2010/main" val="3436354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1B3CEE5-36F5-49F2-9488-B27CD1F079FA}"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B37636-7365-43EF-99A2-4B52453C8892}" type="slidenum">
              <a:rPr lang="en-IN" smtClean="0"/>
              <a:t>‹#›</a:t>
            </a:fld>
            <a:endParaRPr lang="en-IN"/>
          </a:p>
        </p:txBody>
      </p:sp>
    </p:spTree>
    <p:extLst>
      <p:ext uri="{BB962C8B-B14F-4D97-AF65-F5344CB8AC3E}">
        <p14:creationId xmlns:p14="http://schemas.microsoft.com/office/powerpoint/2010/main" val="637713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1B3CEE5-36F5-49F2-9488-B27CD1F079FA}"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B37636-7365-43EF-99A2-4B52453C8892}" type="slidenum">
              <a:rPr lang="en-IN" smtClean="0"/>
              <a:t>‹#›</a:t>
            </a:fld>
            <a:endParaRPr lang="en-IN"/>
          </a:p>
        </p:txBody>
      </p:sp>
    </p:spTree>
    <p:extLst>
      <p:ext uri="{BB962C8B-B14F-4D97-AF65-F5344CB8AC3E}">
        <p14:creationId xmlns:p14="http://schemas.microsoft.com/office/powerpoint/2010/main" val="29179458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0B4FB4-92B0-4B03-8877-1ABBC6A29282}"/>
              </a:ext>
            </a:extLst>
          </p:cNvPr>
          <p:cNvSpPr/>
          <p:nvPr userDrawn="1"/>
        </p:nvSpPr>
        <p:spPr>
          <a:xfrm>
            <a:off x="0" y="6778626"/>
            <a:ext cx="12192000" cy="79375"/>
          </a:xfrm>
          <a:prstGeom prst="rect">
            <a:avLst/>
          </a:prstGeom>
          <a:solidFill>
            <a:srgbClr val="ED771F"/>
          </a:solidFill>
          <a:ln w="12700" cap="flat" cmpd="sng" algn="ctr">
            <a:noFill/>
            <a:prstDash val="solid"/>
            <a:miter lim="800000"/>
          </a:ln>
          <a:effectLst/>
        </p:spPr>
        <p:txBody>
          <a:bodyPr anchor="ctr"/>
          <a:lstStyle/>
          <a:p>
            <a:pPr algn="ctr" defTabSz="685800" eaLnBrk="1" fontAlgn="auto" hangingPunct="1">
              <a:spcBef>
                <a:spcPts val="0"/>
              </a:spcBef>
              <a:spcAft>
                <a:spcPts val="0"/>
              </a:spcAft>
              <a:defRPr/>
            </a:pPr>
            <a:endParaRPr lang="en-US" sz="1350" kern="0">
              <a:solidFill>
                <a:srgbClr val="FFFFFF"/>
              </a:solidFill>
            </a:endParaRPr>
          </a:p>
        </p:txBody>
      </p:sp>
      <p:sp>
        <p:nvSpPr>
          <p:cNvPr id="3" name="Rectangle 2">
            <a:extLst>
              <a:ext uri="{FF2B5EF4-FFF2-40B4-BE49-F238E27FC236}">
                <a16:creationId xmlns:a16="http://schemas.microsoft.com/office/drawing/2014/main" id="{D70383CE-66B3-49D6-A737-C885797C4908}"/>
              </a:ext>
            </a:extLst>
          </p:cNvPr>
          <p:cNvSpPr/>
          <p:nvPr userDrawn="1"/>
        </p:nvSpPr>
        <p:spPr>
          <a:xfrm>
            <a:off x="2078568" y="431800"/>
            <a:ext cx="8106833" cy="46038"/>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p>
        </p:txBody>
      </p:sp>
      <p:pic>
        <p:nvPicPr>
          <p:cNvPr id="4" name="Picture 4">
            <a:extLst>
              <a:ext uri="{FF2B5EF4-FFF2-40B4-BE49-F238E27FC236}">
                <a16:creationId xmlns:a16="http://schemas.microsoft.com/office/drawing/2014/main" id="{A75A6FD3-E9D7-4EFF-9DEA-D1DDC040468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354734" y="177800"/>
            <a:ext cx="1547284"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a:extLst>
              <a:ext uri="{FF2B5EF4-FFF2-40B4-BE49-F238E27FC236}">
                <a16:creationId xmlns:a16="http://schemas.microsoft.com/office/drawing/2014/main" id="{A9486E07-92DC-42F1-A094-76E347B1D693}"/>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28084" y="177801"/>
            <a:ext cx="1581149"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0773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2" indent="0" algn="ctr">
              <a:buNone/>
              <a:defRPr sz="2000"/>
            </a:lvl2pPr>
            <a:lvl3pPr marL="914363" indent="0" algn="ctr">
              <a:buNone/>
              <a:defRPr sz="1800"/>
            </a:lvl3pPr>
            <a:lvl4pPr marL="1371545" indent="0" algn="ctr">
              <a:buNone/>
              <a:defRPr sz="1600"/>
            </a:lvl4pPr>
            <a:lvl5pPr marL="1828727" indent="0" algn="ctr">
              <a:buNone/>
              <a:defRPr sz="1600"/>
            </a:lvl5pPr>
            <a:lvl6pPr marL="2285909" indent="0" algn="ctr">
              <a:buNone/>
              <a:defRPr sz="1600"/>
            </a:lvl6pPr>
            <a:lvl7pPr marL="2743090" indent="0" algn="ctr">
              <a:buNone/>
              <a:defRPr sz="1600"/>
            </a:lvl7pPr>
            <a:lvl8pPr marL="3200272" indent="0" algn="ctr">
              <a:buNone/>
              <a:defRPr sz="1600"/>
            </a:lvl8pPr>
            <a:lvl9pPr marL="3657454"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B4B9E56-B9A5-E8D9-EB89-91A20251BE2B}"/>
              </a:ext>
            </a:extLst>
          </p:cNvPr>
          <p:cNvSpPr>
            <a:spLocks noGrp="1"/>
          </p:cNvSpPr>
          <p:nvPr>
            <p:ph type="dt" sz="half" idx="10"/>
          </p:nvPr>
        </p:nvSpPr>
        <p:spPr/>
        <p:txBody>
          <a:bodyPr/>
          <a:lstStyle>
            <a:lvl1pPr>
              <a:defRPr/>
            </a:lvl1pPr>
          </a:lstStyle>
          <a:p>
            <a:pPr>
              <a:defRPr/>
            </a:pPr>
            <a:fld id="{9159BB3C-9370-40F2-8BB7-E9CC8F91D708}" type="datetimeFigureOut">
              <a:rPr lang="en-IN"/>
              <a:pPr>
                <a:defRPr/>
              </a:pPr>
              <a:t>17-07-2026</a:t>
            </a:fld>
            <a:endParaRPr lang="en-IN"/>
          </a:p>
        </p:txBody>
      </p:sp>
      <p:sp>
        <p:nvSpPr>
          <p:cNvPr id="5" name="Footer Placeholder 4">
            <a:extLst>
              <a:ext uri="{FF2B5EF4-FFF2-40B4-BE49-F238E27FC236}">
                <a16:creationId xmlns:a16="http://schemas.microsoft.com/office/drawing/2014/main" id="{3B3B6B74-9D3D-40EF-F915-6BBF08C00C4A}"/>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0288DDE4-C154-FF8B-3E34-CEA367087FAB}"/>
              </a:ext>
            </a:extLst>
          </p:cNvPr>
          <p:cNvSpPr>
            <a:spLocks noGrp="1"/>
          </p:cNvSpPr>
          <p:nvPr>
            <p:ph type="sldNum" sz="quarter" idx="12"/>
          </p:nvPr>
        </p:nvSpPr>
        <p:spPr/>
        <p:txBody>
          <a:bodyPr/>
          <a:lstStyle>
            <a:lvl1pPr>
              <a:defRPr/>
            </a:lvl1pPr>
          </a:lstStyle>
          <a:p>
            <a:fld id="{8764B90E-162C-4937-BDB1-9B38ABB41F13}" type="slidenum">
              <a:rPr lang="en-IN" altLang="en-US"/>
              <a:pPr/>
              <a:t>‹#›</a:t>
            </a:fld>
            <a:endParaRPr lang="en-IN" altLang="en-US"/>
          </a:p>
        </p:txBody>
      </p:sp>
    </p:spTree>
    <p:extLst>
      <p:ext uri="{BB962C8B-B14F-4D97-AF65-F5344CB8AC3E}">
        <p14:creationId xmlns:p14="http://schemas.microsoft.com/office/powerpoint/2010/main" val="9215312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77013B-466D-7537-C501-988227510889}"/>
              </a:ext>
            </a:extLst>
          </p:cNvPr>
          <p:cNvSpPr>
            <a:spLocks noGrp="1"/>
          </p:cNvSpPr>
          <p:nvPr>
            <p:ph type="dt" sz="half" idx="10"/>
          </p:nvPr>
        </p:nvSpPr>
        <p:spPr/>
        <p:txBody>
          <a:bodyPr/>
          <a:lstStyle>
            <a:lvl1pPr>
              <a:defRPr/>
            </a:lvl1pPr>
          </a:lstStyle>
          <a:p>
            <a:pPr>
              <a:defRPr/>
            </a:pPr>
            <a:fld id="{79306BDA-66DC-49C2-8AEA-8DB3E53CA213}" type="datetimeFigureOut">
              <a:rPr lang="en-IN"/>
              <a:pPr>
                <a:defRPr/>
              </a:pPr>
              <a:t>17-07-2026</a:t>
            </a:fld>
            <a:endParaRPr lang="en-IN"/>
          </a:p>
        </p:txBody>
      </p:sp>
      <p:sp>
        <p:nvSpPr>
          <p:cNvPr id="5" name="Footer Placeholder 4">
            <a:extLst>
              <a:ext uri="{FF2B5EF4-FFF2-40B4-BE49-F238E27FC236}">
                <a16:creationId xmlns:a16="http://schemas.microsoft.com/office/drawing/2014/main" id="{5195F9D1-8DF3-5530-8DD1-E2274743EB19}"/>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4AB9F5CC-7144-7118-02EB-65313E9348E4}"/>
              </a:ext>
            </a:extLst>
          </p:cNvPr>
          <p:cNvSpPr>
            <a:spLocks noGrp="1"/>
          </p:cNvSpPr>
          <p:nvPr>
            <p:ph type="sldNum" sz="quarter" idx="12"/>
          </p:nvPr>
        </p:nvSpPr>
        <p:spPr/>
        <p:txBody>
          <a:bodyPr/>
          <a:lstStyle>
            <a:lvl1pPr>
              <a:defRPr/>
            </a:lvl1pPr>
          </a:lstStyle>
          <a:p>
            <a:fld id="{C40C3624-9B76-4111-9ACB-D63D6BA2BB3A}" type="slidenum">
              <a:rPr lang="en-IN" altLang="en-US"/>
              <a:pPr/>
              <a:t>‹#›</a:t>
            </a:fld>
            <a:endParaRPr lang="en-IN" altLang="en-US"/>
          </a:p>
        </p:txBody>
      </p:sp>
    </p:spTree>
    <p:extLst>
      <p:ext uri="{BB962C8B-B14F-4D97-AF65-F5344CB8AC3E}">
        <p14:creationId xmlns:p14="http://schemas.microsoft.com/office/powerpoint/2010/main" val="25119579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182" indent="0">
              <a:buNone/>
              <a:defRPr sz="2000">
                <a:solidFill>
                  <a:schemeClr val="tx1">
                    <a:tint val="82000"/>
                  </a:schemeClr>
                </a:solidFill>
              </a:defRPr>
            </a:lvl2pPr>
            <a:lvl3pPr marL="914363" indent="0">
              <a:buNone/>
              <a:defRPr sz="1800">
                <a:solidFill>
                  <a:schemeClr val="tx1">
                    <a:tint val="82000"/>
                  </a:schemeClr>
                </a:solidFill>
              </a:defRPr>
            </a:lvl3pPr>
            <a:lvl4pPr marL="1371545" indent="0">
              <a:buNone/>
              <a:defRPr sz="1600">
                <a:solidFill>
                  <a:schemeClr val="tx1">
                    <a:tint val="82000"/>
                  </a:schemeClr>
                </a:solidFill>
              </a:defRPr>
            </a:lvl4pPr>
            <a:lvl5pPr marL="1828727" indent="0">
              <a:buNone/>
              <a:defRPr sz="1600">
                <a:solidFill>
                  <a:schemeClr val="tx1">
                    <a:tint val="82000"/>
                  </a:schemeClr>
                </a:solidFill>
              </a:defRPr>
            </a:lvl5pPr>
            <a:lvl6pPr marL="2285909" indent="0">
              <a:buNone/>
              <a:defRPr sz="1600">
                <a:solidFill>
                  <a:schemeClr val="tx1">
                    <a:tint val="82000"/>
                  </a:schemeClr>
                </a:solidFill>
              </a:defRPr>
            </a:lvl6pPr>
            <a:lvl7pPr marL="2743090" indent="0">
              <a:buNone/>
              <a:defRPr sz="1600">
                <a:solidFill>
                  <a:schemeClr val="tx1">
                    <a:tint val="82000"/>
                  </a:schemeClr>
                </a:solidFill>
              </a:defRPr>
            </a:lvl7pPr>
            <a:lvl8pPr marL="3200272" indent="0">
              <a:buNone/>
              <a:defRPr sz="1600">
                <a:solidFill>
                  <a:schemeClr val="tx1">
                    <a:tint val="82000"/>
                  </a:schemeClr>
                </a:solidFill>
              </a:defRPr>
            </a:lvl8pPr>
            <a:lvl9pPr marL="3657454"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F011FC-31BB-C3EA-7DA8-81A52B136D53}"/>
              </a:ext>
            </a:extLst>
          </p:cNvPr>
          <p:cNvSpPr>
            <a:spLocks noGrp="1"/>
          </p:cNvSpPr>
          <p:nvPr>
            <p:ph type="dt" sz="half" idx="10"/>
          </p:nvPr>
        </p:nvSpPr>
        <p:spPr/>
        <p:txBody>
          <a:bodyPr/>
          <a:lstStyle>
            <a:lvl1pPr>
              <a:defRPr/>
            </a:lvl1pPr>
          </a:lstStyle>
          <a:p>
            <a:pPr>
              <a:defRPr/>
            </a:pPr>
            <a:fld id="{A5C0A4FF-89F5-4809-96CF-F6D751946899}" type="datetimeFigureOut">
              <a:rPr lang="en-IN"/>
              <a:pPr>
                <a:defRPr/>
              </a:pPr>
              <a:t>17-07-2026</a:t>
            </a:fld>
            <a:endParaRPr lang="en-IN"/>
          </a:p>
        </p:txBody>
      </p:sp>
      <p:sp>
        <p:nvSpPr>
          <p:cNvPr id="5" name="Footer Placeholder 4">
            <a:extLst>
              <a:ext uri="{FF2B5EF4-FFF2-40B4-BE49-F238E27FC236}">
                <a16:creationId xmlns:a16="http://schemas.microsoft.com/office/drawing/2014/main" id="{CFA5C729-FAC5-053D-26C6-7E782BF2E3F7}"/>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2DD06D11-5272-D6CD-CB05-77C50F3C6D1E}"/>
              </a:ext>
            </a:extLst>
          </p:cNvPr>
          <p:cNvSpPr>
            <a:spLocks noGrp="1"/>
          </p:cNvSpPr>
          <p:nvPr>
            <p:ph type="sldNum" sz="quarter" idx="12"/>
          </p:nvPr>
        </p:nvSpPr>
        <p:spPr/>
        <p:txBody>
          <a:bodyPr/>
          <a:lstStyle>
            <a:lvl1pPr>
              <a:defRPr/>
            </a:lvl1pPr>
          </a:lstStyle>
          <a:p>
            <a:fld id="{727734A9-0E66-4D32-A34E-92D1CB7A4F3C}" type="slidenum">
              <a:rPr lang="en-IN" altLang="en-US"/>
              <a:pPr/>
              <a:t>‹#›</a:t>
            </a:fld>
            <a:endParaRPr lang="en-IN" altLang="en-US"/>
          </a:p>
        </p:txBody>
      </p:sp>
    </p:spTree>
    <p:extLst>
      <p:ext uri="{BB962C8B-B14F-4D97-AF65-F5344CB8AC3E}">
        <p14:creationId xmlns:p14="http://schemas.microsoft.com/office/powerpoint/2010/main" val="35890895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8C3FE0CC-8D97-39B5-683C-3CB329E673A3}"/>
              </a:ext>
            </a:extLst>
          </p:cNvPr>
          <p:cNvSpPr>
            <a:spLocks noGrp="1"/>
          </p:cNvSpPr>
          <p:nvPr>
            <p:ph type="dt" sz="half" idx="10"/>
          </p:nvPr>
        </p:nvSpPr>
        <p:spPr/>
        <p:txBody>
          <a:bodyPr/>
          <a:lstStyle>
            <a:lvl1pPr>
              <a:defRPr/>
            </a:lvl1pPr>
          </a:lstStyle>
          <a:p>
            <a:pPr>
              <a:defRPr/>
            </a:pPr>
            <a:fld id="{1CBEC3A3-3F9B-4DFD-B5E5-878C263BA21B}" type="datetimeFigureOut">
              <a:rPr lang="en-IN"/>
              <a:pPr>
                <a:defRPr/>
              </a:pPr>
              <a:t>17-07-2026</a:t>
            </a:fld>
            <a:endParaRPr lang="en-IN"/>
          </a:p>
        </p:txBody>
      </p:sp>
      <p:sp>
        <p:nvSpPr>
          <p:cNvPr id="6" name="Footer Placeholder 4">
            <a:extLst>
              <a:ext uri="{FF2B5EF4-FFF2-40B4-BE49-F238E27FC236}">
                <a16:creationId xmlns:a16="http://schemas.microsoft.com/office/drawing/2014/main" id="{06A48B7E-0839-68FB-C005-76C276869C9C}"/>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29E5EF88-BB01-3CE4-D0BB-157F3CD5EB8B}"/>
              </a:ext>
            </a:extLst>
          </p:cNvPr>
          <p:cNvSpPr>
            <a:spLocks noGrp="1"/>
          </p:cNvSpPr>
          <p:nvPr>
            <p:ph type="sldNum" sz="quarter" idx="12"/>
          </p:nvPr>
        </p:nvSpPr>
        <p:spPr/>
        <p:txBody>
          <a:bodyPr/>
          <a:lstStyle>
            <a:lvl1pPr>
              <a:defRPr/>
            </a:lvl1pPr>
          </a:lstStyle>
          <a:p>
            <a:fld id="{C519D040-EBA9-4527-BB88-5BB194D39CD2}" type="slidenum">
              <a:rPr lang="en-IN" altLang="en-US"/>
              <a:pPr/>
              <a:t>‹#›</a:t>
            </a:fld>
            <a:endParaRPr lang="en-IN" altLang="en-US"/>
          </a:p>
        </p:txBody>
      </p:sp>
    </p:spTree>
    <p:extLst>
      <p:ext uri="{BB962C8B-B14F-4D97-AF65-F5344CB8AC3E}">
        <p14:creationId xmlns:p14="http://schemas.microsoft.com/office/powerpoint/2010/main" val="1268054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64DCF974-3ACA-12CD-D6F4-2534D9BCD2C8}"/>
              </a:ext>
            </a:extLst>
          </p:cNvPr>
          <p:cNvSpPr>
            <a:spLocks noGrp="1"/>
          </p:cNvSpPr>
          <p:nvPr>
            <p:ph type="dt" sz="half" idx="10"/>
          </p:nvPr>
        </p:nvSpPr>
        <p:spPr/>
        <p:txBody>
          <a:bodyPr/>
          <a:lstStyle>
            <a:lvl1pPr>
              <a:defRPr/>
            </a:lvl1pPr>
          </a:lstStyle>
          <a:p>
            <a:pPr>
              <a:defRPr/>
            </a:pPr>
            <a:fld id="{14E6F419-3179-4A15-875F-42212C6A995D}" type="datetimeFigureOut">
              <a:rPr lang="en-IN"/>
              <a:pPr>
                <a:defRPr/>
              </a:pPr>
              <a:t>17-07-2026</a:t>
            </a:fld>
            <a:endParaRPr lang="en-IN"/>
          </a:p>
        </p:txBody>
      </p:sp>
      <p:sp>
        <p:nvSpPr>
          <p:cNvPr id="8" name="Footer Placeholder 4">
            <a:extLst>
              <a:ext uri="{FF2B5EF4-FFF2-40B4-BE49-F238E27FC236}">
                <a16:creationId xmlns:a16="http://schemas.microsoft.com/office/drawing/2014/main" id="{E8BFAB31-E647-3DF9-84E2-903CE5476B83}"/>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22A44346-4DFD-9261-553D-8120C254AAB6}"/>
              </a:ext>
            </a:extLst>
          </p:cNvPr>
          <p:cNvSpPr>
            <a:spLocks noGrp="1"/>
          </p:cNvSpPr>
          <p:nvPr>
            <p:ph type="sldNum" sz="quarter" idx="12"/>
          </p:nvPr>
        </p:nvSpPr>
        <p:spPr/>
        <p:txBody>
          <a:bodyPr/>
          <a:lstStyle>
            <a:lvl1pPr>
              <a:defRPr/>
            </a:lvl1pPr>
          </a:lstStyle>
          <a:p>
            <a:fld id="{CC0F0294-8109-413A-9761-D103C61480DC}" type="slidenum">
              <a:rPr lang="en-IN" altLang="en-US"/>
              <a:pPr/>
              <a:t>‹#›</a:t>
            </a:fld>
            <a:endParaRPr lang="en-IN" altLang="en-US"/>
          </a:p>
        </p:txBody>
      </p:sp>
    </p:spTree>
    <p:extLst>
      <p:ext uri="{BB962C8B-B14F-4D97-AF65-F5344CB8AC3E}">
        <p14:creationId xmlns:p14="http://schemas.microsoft.com/office/powerpoint/2010/main" val="30437302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858C2F55-422F-4F1C-6C92-9C5227C5D7DA}"/>
              </a:ext>
            </a:extLst>
          </p:cNvPr>
          <p:cNvSpPr>
            <a:spLocks noGrp="1"/>
          </p:cNvSpPr>
          <p:nvPr>
            <p:ph type="dt" sz="half" idx="10"/>
          </p:nvPr>
        </p:nvSpPr>
        <p:spPr/>
        <p:txBody>
          <a:bodyPr/>
          <a:lstStyle>
            <a:lvl1pPr>
              <a:defRPr/>
            </a:lvl1pPr>
          </a:lstStyle>
          <a:p>
            <a:pPr>
              <a:defRPr/>
            </a:pPr>
            <a:fld id="{BA80E1C5-9FA0-4AFD-976B-E5646B081AFC}" type="datetimeFigureOut">
              <a:rPr lang="en-IN"/>
              <a:pPr>
                <a:defRPr/>
              </a:pPr>
              <a:t>17-07-2026</a:t>
            </a:fld>
            <a:endParaRPr lang="en-IN"/>
          </a:p>
        </p:txBody>
      </p:sp>
      <p:sp>
        <p:nvSpPr>
          <p:cNvPr id="4" name="Footer Placeholder 4">
            <a:extLst>
              <a:ext uri="{FF2B5EF4-FFF2-40B4-BE49-F238E27FC236}">
                <a16:creationId xmlns:a16="http://schemas.microsoft.com/office/drawing/2014/main" id="{94342086-8FB2-CCC9-D8AE-6ADD2D6CB31A}"/>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4C7A1221-CDF8-2E84-4C8A-AC3EA0E33141}"/>
              </a:ext>
            </a:extLst>
          </p:cNvPr>
          <p:cNvSpPr>
            <a:spLocks noGrp="1"/>
          </p:cNvSpPr>
          <p:nvPr>
            <p:ph type="sldNum" sz="quarter" idx="12"/>
          </p:nvPr>
        </p:nvSpPr>
        <p:spPr/>
        <p:txBody>
          <a:bodyPr/>
          <a:lstStyle>
            <a:lvl1pPr>
              <a:defRPr/>
            </a:lvl1pPr>
          </a:lstStyle>
          <a:p>
            <a:fld id="{AA674C25-FF56-47EB-A13A-319BF2DF4C57}" type="slidenum">
              <a:rPr lang="en-IN" altLang="en-US"/>
              <a:pPr/>
              <a:t>‹#›</a:t>
            </a:fld>
            <a:endParaRPr lang="en-IN" altLang="en-US"/>
          </a:p>
        </p:txBody>
      </p:sp>
    </p:spTree>
    <p:extLst>
      <p:ext uri="{BB962C8B-B14F-4D97-AF65-F5344CB8AC3E}">
        <p14:creationId xmlns:p14="http://schemas.microsoft.com/office/powerpoint/2010/main" val="40547479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5A8704-F9A2-83AB-6EAA-6567922A7A9B}"/>
              </a:ext>
            </a:extLst>
          </p:cNvPr>
          <p:cNvSpPr>
            <a:spLocks noGrp="1"/>
          </p:cNvSpPr>
          <p:nvPr>
            <p:ph type="dt" sz="half" idx="10"/>
          </p:nvPr>
        </p:nvSpPr>
        <p:spPr/>
        <p:txBody>
          <a:bodyPr/>
          <a:lstStyle>
            <a:lvl1pPr>
              <a:defRPr/>
            </a:lvl1pPr>
          </a:lstStyle>
          <a:p>
            <a:pPr>
              <a:defRPr/>
            </a:pPr>
            <a:fld id="{2FFDB460-8784-4F94-86D8-C4F841C03FCB}" type="datetimeFigureOut">
              <a:rPr lang="en-IN"/>
              <a:pPr>
                <a:defRPr/>
              </a:pPr>
              <a:t>17-07-2026</a:t>
            </a:fld>
            <a:endParaRPr lang="en-IN"/>
          </a:p>
        </p:txBody>
      </p:sp>
      <p:sp>
        <p:nvSpPr>
          <p:cNvPr id="5" name="Footer Placeholder 4">
            <a:extLst>
              <a:ext uri="{FF2B5EF4-FFF2-40B4-BE49-F238E27FC236}">
                <a16:creationId xmlns:a16="http://schemas.microsoft.com/office/drawing/2014/main" id="{CE41B668-D7DA-52A6-90A9-782613CBE794}"/>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AA0DC696-8740-7244-411B-BF5A68BB847D}"/>
              </a:ext>
            </a:extLst>
          </p:cNvPr>
          <p:cNvSpPr>
            <a:spLocks noGrp="1"/>
          </p:cNvSpPr>
          <p:nvPr>
            <p:ph type="sldNum" sz="quarter" idx="12"/>
          </p:nvPr>
        </p:nvSpPr>
        <p:spPr/>
        <p:txBody>
          <a:bodyPr/>
          <a:lstStyle>
            <a:lvl1pPr>
              <a:defRPr/>
            </a:lvl1pPr>
          </a:lstStyle>
          <a:p>
            <a:fld id="{ECC14F33-662C-40D0-846C-20FACEF78FDC}" type="slidenum">
              <a:rPr lang="en-IN" altLang="en-US"/>
              <a:pPr/>
              <a:t>‹#›</a:t>
            </a:fld>
            <a:endParaRPr lang="en-IN" altLang="en-US"/>
          </a:p>
        </p:txBody>
      </p:sp>
    </p:spTree>
    <p:extLst>
      <p:ext uri="{BB962C8B-B14F-4D97-AF65-F5344CB8AC3E}">
        <p14:creationId xmlns:p14="http://schemas.microsoft.com/office/powerpoint/2010/main" val="6990577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F9724046-1CF9-06AA-4F8F-32C33B92992C}"/>
              </a:ext>
            </a:extLst>
          </p:cNvPr>
          <p:cNvSpPr>
            <a:spLocks noGrp="1"/>
          </p:cNvSpPr>
          <p:nvPr>
            <p:ph type="dt" sz="half" idx="10"/>
          </p:nvPr>
        </p:nvSpPr>
        <p:spPr/>
        <p:txBody>
          <a:bodyPr/>
          <a:lstStyle>
            <a:lvl1pPr>
              <a:defRPr/>
            </a:lvl1pPr>
          </a:lstStyle>
          <a:p>
            <a:pPr>
              <a:defRPr/>
            </a:pPr>
            <a:fld id="{82417635-7484-44BE-96F5-6BAB5DD95F2C}" type="datetimeFigureOut">
              <a:rPr lang="en-IN"/>
              <a:pPr>
                <a:defRPr/>
              </a:pPr>
              <a:t>17-07-2026</a:t>
            </a:fld>
            <a:endParaRPr lang="en-IN"/>
          </a:p>
        </p:txBody>
      </p:sp>
      <p:sp>
        <p:nvSpPr>
          <p:cNvPr id="3" name="Footer Placeholder 4">
            <a:extLst>
              <a:ext uri="{FF2B5EF4-FFF2-40B4-BE49-F238E27FC236}">
                <a16:creationId xmlns:a16="http://schemas.microsoft.com/office/drawing/2014/main" id="{F09F0C4F-B5A0-656C-C11C-BC809D2F21CF}"/>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8C7EDF34-A4DC-1C03-E03D-90F81E3603B8}"/>
              </a:ext>
            </a:extLst>
          </p:cNvPr>
          <p:cNvSpPr>
            <a:spLocks noGrp="1"/>
          </p:cNvSpPr>
          <p:nvPr>
            <p:ph type="sldNum" sz="quarter" idx="12"/>
          </p:nvPr>
        </p:nvSpPr>
        <p:spPr/>
        <p:txBody>
          <a:bodyPr/>
          <a:lstStyle>
            <a:lvl1pPr>
              <a:defRPr/>
            </a:lvl1pPr>
          </a:lstStyle>
          <a:p>
            <a:fld id="{D5206B30-C5D7-4B84-BE5C-9B9C783B5741}" type="slidenum">
              <a:rPr lang="en-IN" altLang="en-US"/>
              <a:pPr/>
              <a:t>‹#›</a:t>
            </a:fld>
            <a:endParaRPr lang="en-IN" altLang="en-US"/>
          </a:p>
        </p:txBody>
      </p:sp>
    </p:spTree>
    <p:extLst>
      <p:ext uri="{BB962C8B-B14F-4D97-AF65-F5344CB8AC3E}">
        <p14:creationId xmlns:p14="http://schemas.microsoft.com/office/powerpoint/2010/main" val="10833184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2" indent="0">
              <a:buNone/>
              <a:defRPr sz="1400"/>
            </a:lvl2pPr>
            <a:lvl3pPr marL="914363" indent="0">
              <a:buNone/>
              <a:defRPr sz="1200"/>
            </a:lvl3pPr>
            <a:lvl4pPr marL="1371545" indent="0">
              <a:buNone/>
              <a:defRPr sz="1000"/>
            </a:lvl4pPr>
            <a:lvl5pPr marL="1828727" indent="0">
              <a:buNone/>
              <a:defRPr sz="1000"/>
            </a:lvl5pPr>
            <a:lvl6pPr marL="2285909" indent="0">
              <a:buNone/>
              <a:defRPr sz="1000"/>
            </a:lvl6pPr>
            <a:lvl7pPr marL="2743090" indent="0">
              <a:buNone/>
              <a:defRPr sz="1000"/>
            </a:lvl7pPr>
            <a:lvl8pPr marL="3200272" indent="0">
              <a:buNone/>
              <a:defRPr sz="1000"/>
            </a:lvl8pPr>
            <a:lvl9pPr marL="3657454"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67173562-B105-54A5-7626-3517CD8AC942}"/>
              </a:ext>
            </a:extLst>
          </p:cNvPr>
          <p:cNvSpPr>
            <a:spLocks noGrp="1"/>
          </p:cNvSpPr>
          <p:nvPr>
            <p:ph type="dt" sz="half" idx="10"/>
          </p:nvPr>
        </p:nvSpPr>
        <p:spPr/>
        <p:txBody>
          <a:bodyPr/>
          <a:lstStyle>
            <a:lvl1pPr>
              <a:defRPr/>
            </a:lvl1pPr>
          </a:lstStyle>
          <a:p>
            <a:pPr>
              <a:defRPr/>
            </a:pPr>
            <a:fld id="{8DCBFED4-D9E5-4E88-BDD2-4BC29B15B491}" type="datetimeFigureOut">
              <a:rPr lang="en-IN"/>
              <a:pPr>
                <a:defRPr/>
              </a:pPr>
              <a:t>17-07-2026</a:t>
            </a:fld>
            <a:endParaRPr lang="en-IN"/>
          </a:p>
        </p:txBody>
      </p:sp>
      <p:sp>
        <p:nvSpPr>
          <p:cNvPr id="6" name="Footer Placeholder 4">
            <a:extLst>
              <a:ext uri="{FF2B5EF4-FFF2-40B4-BE49-F238E27FC236}">
                <a16:creationId xmlns:a16="http://schemas.microsoft.com/office/drawing/2014/main" id="{CA62969B-FD23-64CB-2A12-C134B321581E}"/>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290EF73F-6EBC-4C40-A271-D5DC8C770E31}"/>
              </a:ext>
            </a:extLst>
          </p:cNvPr>
          <p:cNvSpPr>
            <a:spLocks noGrp="1"/>
          </p:cNvSpPr>
          <p:nvPr>
            <p:ph type="sldNum" sz="quarter" idx="12"/>
          </p:nvPr>
        </p:nvSpPr>
        <p:spPr/>
        <p:txBody>
          <a:bodyPr/>
          <a:lstStyle>
            <a:lvl1pPr>
              <a:defRPr/>
            </a:lvl1pPr>
          </a:lstStyle>
          <a:p>
            <a:fld id="{8AED2CA6-68EC-4E05-AE3A-4C4FBA94BA11}" type="slidenum">
              <a:rPr lang="en-IN" altLang="en-US"/>
              <a:pPr/>
              <a:t>‹#›</a:t>
            </a:fld>
            <a:endParaRPr lang="en-IN" altLang="en-US"/>
          </a:p>
        </p:txBody>
      </p:sp>
    </p:spTree>
    <p:extLst>
      <p:ext uri="{BB962C8B-B14F-4D97-AF65-F5344CB8AC3E}">
        <p14:creationId xmlns:p14="http://schemas.microsoft.com/office/powerpoint/2010/main" val="9985188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6"/>
            <a:ext cx="6172200" cy="4873625"/>
          </a:xfrm>
        </p:spPr>
        <p:txBody>
          <a:bodyPr rtlCol="0">
            <a:normAutofit/>
          </a:bodyPr>
          <a:lstStyle>
            <a:lvl1pPr marL="0" indent="0">
              <a:buNone/>
              <a:defRPr sz="3200"/>
            </a:lvl1pPr>
            <a:lvl2pPr marL="457182" indent="0">
              <a:buNone/>
              <a:defRPr sz="2800"/>
            </a:lvl2pPr>
            <a:lvl3pPr marL="914363" indent="0">
              <a:buNone/>
              <a:defRPr sz="2400"/>
            </a:lvl3pPr>
            <a:lvl4pPr marL="1371545" indent="0">
              <a:buNone/>
              <a:defRPr sz="2000"/>
            </a:lvl4pPr>
            <a:lvl5pPr marL="1828727" indent="0">
              <a:buNone/>
              <a:defRPr sz="2000"/>
            </a:lvl5pPr>
            <a:lvl6pPr marL="2285909" indent="0">
              <a:buNone/>
              <a:defRPr sz="2000"/>
            </a:lvl6pPr>
            <a:lvl7pPr marL="2743090" indent="0">
              <a:buNone/>
              <a:defRPr sz="2000"/>
            </a:lvl7pPr>
            <a:lvl8pPr marL="3200272" indent="0">
              <a:buNone/>
              <a:defRPr sz="2000"/>
            </a:lvl8pPr>
            <a:lvl9pPr marL="3657454" indent="0">
              <a:buNone/>
              <a:defRPr sz="2000"/>
            </a:lvl9pPr>
          </a:lstStyle>
          <a:p>
            <a:pPr lvl="0"/>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2" indent="0">
              <a:buNone/>
              <a:defRPr sz="1400"/>
            </a:lvl2pPr>
            <a:lvl3pPr marL="914363" indent="0">
              <a:buNone/>
              <a:defRPr sz="1200"/>
            </a:lvl3pPr>
            <a:lvl4pPr marL="1371545" indent="0">
              <a:buNone/>
              <a:defRPr sz="1000"/>
            </a:lvl4pPr>
            <a:lvl5pPr marL="1828727" indent="0">
              <a:buNone/>
              <a:defRPr sz="1000"/>
            </a:lvl5pPr>
            <a:lvl6pPr marL="2285909" indent="0">
              <a:buNone/>
              <a:defRPr sz="1000"/>
            </a:lvl6pPr>
            <a:lvl7pPr marL="2743090" indent="0">
              <a:buNone/>
              <a:defRPr sz="1000"/>
            </a:lvl7pPr>
            <a:lvl8pPr marL="3200272" indent="0">
              <a:buNone/>
              <a:defRPr sz="1000"/>
            </a:lvl8pPr>
            <a:lvl9pPr marL="3657454"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78E3EF22-A86C-EB3A-CA57-0ABF93F46A16}"/>
              </a:ext>
            </a:extLst>
          </p:cNvPr>
          <p:cNvSpPr>
            <a:spLocks noGrp="1"/>
          </p:cNvSpPr>
          <p:nvPr>
            <p:ph type="dt" sz="half" idx="10"/>
          </p:nvPr>
        </p:nvSpPr>
        <p:spPr/>
        <p:txBody>
          <a:bodyPr/>
          <a:lstStyle>
            <a:lvl1pPr>
              <a:defRPr/>
            </a:lvl1pPr>
          </a:lstStyle>
          <a:p>
            <a:pPr>
              <a:defRPr/>
            </a:pPr>
            <a:fld id="{84FB091D-066B-4130-AEA6-4231F3603765}" type="datetimeFigureOut">
              <a:rPr lang="en-IN"/>
              <a:pPr>
                <a:defRPr/>
              </a:pPr>
              <a:t>17-07-2026</a:t>
            </a:fld>
            <a:endParaRPr lang="en-IN"/>
          </a:p>
        </p:txBody>
      </p:sp>
      <p:sp>
        <p:nvSpPr>
          <p:cNvPr id="6" name="Footer Placeholder 4">
            <a:extLst>
              <a:ext uri="{FF2B5EF4-FFF2-40B4-BE49-F238E27FC236}">
                <a16:creationId xmlns:a16="http://schemas.microsoft.com/office/drawing/2014/main" id="{875CBFBB-BA4A-4A40-F895-AD8D2D5F84B3}"/>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F1D5E29A-84DA-1CDB-B688-2258F6E29AFF}"/>
              </a:ext>
            </a:extLst>
          </p:cNvPr>
          <p:cNvSpPr>
            <a:spLocks noGrp="1"/>
          </p:cNvSpPr>
          <p:nvPr>
            <p:ph type="sldNum" sz="quarter" idx="12"/>
          </p:nvPr>
        </p:nvSpPr>
        <p:spPr/>
        <p:txBody>
          <a:bodyPr/>
          <a:lstStyle>
            <a:lvl1pPr>
              <a:defRPr/>
            </a:lvl1pPr>
          </a:lstStyle>
          <a:p>
            <a:fld id="{70EF20E7-FB56-490E-BE71-D162E329AD08}" type="slidenum">
              <a:rPr lang="en-IN" altLang="en-US"/>
              <a:pPr/>
              <a:t>‹#›</a:t>
            </a:fld>
            <a:endParaRPr lang="en-IN" altLang="en-US"/>
          </a:p>
        </p:txBody>
      </p:sp>
    </p:spTree>
    <p:extLst>
      <p:ext uri="{BB962C8B-B14F-4D97-AF65-F5344CB8AC3E}">
        <p14:creationId xmlns:p14="http://schemas.microsoft.com/office/powerpoint/2010/main" val="25841619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FB7697-3A31-89E7-E6E3-8CA913CFB6CD}"/>
              </a:ext>
            </a:extLst>
          </p:cNvPr>
          <p:cNvSpPr>
            <a:spLocks noGrp="1"/>
          </p:cNvSpPr>
          <p:nvPr>
            <p:ph type="dt" sz="half" idx="10"/>
          </p:nvPr>
        </p:nvSpPr>
        <p:spPr/>
        <p:txBody>
          <a:bodyPr/>
          <a:lstStyle>
            <a:lvl1pPr>
              <a:defRPr/>
            </a:lvl1pPr>
          </a:lstStyle>
          <a:p>
            <a:pPr>
              <a:defRPr/>
            </a:pPr>
            <a:fld id="{470B985E-3DB2-4BFB-8AF4-CA0435B0115C}" type="datetimeFigureOut">
              <a:rPr lang="en-IN"/>
              <a:pPr>
                <a:defRPr/>
              </a:pPr>
              <a:t>17-07-2026</a:t>
            </a:fld>
            <a:endParaRPr lang="en-IN"/>
          </a:p>
        </p:txBody>
      </p:sp>
      <p:sp>
        <p:nvSpPr>
          <p:cNvPr id="5" name="Footer Placeholder 4">
            <a:extLst>
              <a:ext uri="{FF2B5EF4-FFF2-40B4-BE49-F238E27FC236}">
                <a16:creationId xmlns:a16="http://schemas.microsoft.com/office/drawing/2014/main" id="{1FA6228D-70FA-3DE4-4714-C8460B780E81}"/>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A66A87F9-D403-9ECC-DAA0-C7883274DC62}"/>
              </a:ext>
            </a:extLst>
          </p:cNvPr>
          <p:cNvSpPr>
            <a:spLocks noGrp="1"/>
          </p:cNvSpPr>
          <p:nvPr>
            <p:ph type="sldNum" sz="quarter" idx="12"/>
          </p:nvPr>
        </p:nvSpPr>
        <p:spPr/>
        <p:txBody>
          <a:bodyPr/>
          <a:lstStyle>
            <a:lvl1pPr>
              <a:defRPr/>
            </a:lvl1pPr>
          </a:lstStyle>
          <a:p>
            <a:fld id="{EE4A11FF-BC98-4EB9-8772-78E551D8EC7C}" type="slidenum">
              <a:rPr lang="en-IN" altLang="en-US"/>
              <a:pPr/>
              <a:t>‹#›</a:t>
            </a:fld>
            <a:endParaRPr lang="en-IN" altLang="en-US"/>
          </a:p>
        </p:txBody>
      </p:sp>
    </p:spTree>
    <p:extLst>
      <p:ext uri="{BB962C8B-B14F-4D97-AF65-F5344CB8AC3E}">
        <p14:creationId xmlns:p14="http://schemas.microsoft.com/office/powerpoint/2010/main" val="31252323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7BEDD888-E3C3-23EE-2981-B39445A3D320}"/>
              </a:ext>
            </a:extLst>
          </p:cNvPr>
          <p:cNvSpPr>
            <a:spLocks noChangeArrowheads="1"/>
          </p:cNvSpPr>
          <p:nvPr userDrawn="1"/>
        </p:nvSpPr>
        <p:spPr bwMode="auto">
          <a:xfrm>
            <a:off x="0" y="6778626"/>
            <a:ext cx="12192000" cy="79375"/>
          </a:xfrm>
          <a:prstGeom prst="rect">
            <a:avLst/>
          </a:prstGeom>
          <a:solidFill>
            <a:srgbClr val="ED771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nchor="ct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algn="ctr"/>
            <a:endParaRPr lang="en-US" altLang="en-US" sz="1800">
              <a:solidFill>
                <a:srgbClr val="FFFFFF"/>
              </a:solidFill>
            </a:endParaRPr>
          </a:p>
        </p:txBody>
      </p:sp>
      <p:sp>
        <p:nvSpPr>
          <p:cNvPr id="3" name="Rectangle 2">
            <a:extLst>
              <a:ext uri="{FF2B5EF4-FFF2-40B4-BE49-F238E27FC236}">
                <a16:creationId xmlns:a16="http://schemas.microsoft.com/office/drawing/2014/main" id="{90739A4B-2C03-1944-58FC-754B3BCFD990}"/>
              </a:ext>
            </a:extLst>
          </p:cNvPr>
          <p:cNvSpPr/>
          <p:nvPr userDrawn="1"/>
        </p:nvSpPr>
        <p:spPr>
          <a:xfrm>
            <a:off x="2078038" y="431800"/>
            <a:ext cx="8107362" cy="46038"/>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4" name="Picture 12">
            <a:extLst>
              <a:ext uri="{FF2B5EF4-FFF2-40B4-BE49-F238E27FC236}">
                <a16:creationId xmlns:a16="http://schemas.microsoft.com/office/drawing/2014/main" id="{52BDAD98-B661-9335-0B6B-64E2DC6056A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355263" y="177800"/>
            <a:ext cx="1547812"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3">
            <a:extLst>
              <a:ext uri="{FF2B5EF4-FFF2-40B4-BE49-F238E27FC236}">
                <a16:creationId xmlns:a16="http://schemas.microsoft.com/office/drawing/2014/main" id="{6561ED9C-B6F6-804C-E873-B4001420294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28613" y="177800"/>
            <a:ext cx="158115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16165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Section Title">
    <p:bg>
      <p:bgPr>
        <a:solidFill>
          <a:srgbClr val="196B2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04D6C1-C98B-F582-96A2-440801E5999F}"/>
              </a:ext>
            </a:extLst>
          </p:cNvPr>
          <p:cNvSpPr/>
          <p:nvPr userDrawn="1"/>
        </p:nvSpPr>
        <p:spPr>
          <a:xfrm>
            <a:off x="6308725" y="3951288"/>
            <a:ext cx="2133600" cy="1016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 name="Picture Placeholder 3"/>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tIns="182880" rtlCol="0">
            <a:noAutofit/>
          </a:bodyPr>
          <a:lstStyle>
            <a:lvl1pPr marL="0" indent="0" algn="ctr">
              <a:buNone/>
              <a:defRPr sz="2000">
                <a:solidFill>
                  <a:schemeClr val="tx1"/>
                </a:solidFill>
              </a:defRPr>
            </a:lvl1pPr>
          </a:lstStyle>
          <a:p>
            <a:pPr lvl="0"/>
            <a:r>
              <a:rPr lang="en-US" noProof="0" dirty="0"/>
              <a:t>Click icon to add picture</a:t>
            </a:r>
          </a:p>
        </p:txBody>
      </p:sp>
      <p:sp>
        <p:nvSpPr>
          <p:cNvPr id="18" name="Title 1"/>
          <p:cNvSpPr>
            <a:spLocks noGrp="1"/>
          </p:cNvSpPr>
          <p:nvPr>
            <p:ph type="title"/>
          </p:nvPr>
        </p:nvSpPr>
        <p:spPr>
          <a:xfrm>
            <a:off x="6309360" y="444933"/>
            <a:ext cx="5477479" cy="3291840"/>
          </a:xfrm>
          <a:prstGeom prst="rect">
            <a:avLst/>
          </a:prstGeom>
        </p:spPr>
        <p:txBody>
          <a:bodyPr lIns="0" tIns="0" rIns="0" bIns="0" anchor="b">
            <a:noAutofit/>
          </a:bodyPr>
          <a:lstStyle>
            <a:lvl1pPr>
              <a:defRPr sz="6000" b="1" i="0" baseline="0">
                <a:solidFill>
                  <a:schemeClr val="tx1"/>
                </a:solidFill>
                <a:latin typeface="+mj-lt"/>
              </a:defRPr>
            </a:lvl1pPr>
          </a:lstStyle>
          <a:p>
            <a:r>
              <a:rPr lang="en-US"/>
              <a:t>Click to edit Master title style</a:t>
            </a:r>
            <a:endParaRPr lang="en-US" dirty="0"/>
          </a:p>
        </p:txBody>
      </p:sp>
    </p:spTree>
    <p:extLst>
      <p:ext uri="{BB962C8B-B14F-4D97-AF65-F5344CB8AC3E}">
        <p14:creationId xmlns:p14="http://schemas.microsoft.com/office/powerpoint/2010/main" val="1969735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2.emf"/><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emf"/><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B3CEE5-36F5-49F2-9488-B27CD1F079FA}" type="datetimeFigureOut">
              <a:rPr lang="en-IN" smtClean="0"/>
              <a:t>17-07-2026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B37636-7365-43EF-99A2-4B52453C8892}" type="slidenum">
              <a:rPr lang="en-IN" smtClean="0"/>
              <a:t>‹#›</a:t>
            </a:fld>
            <a:endParaRPr lang="en-IN"/>
          </a:p>
        </p:txBody>
      </p:sp>
    </p:spTree>
    <p:extLst>
      <p:ext uri="{BB962C8B-B14F-4D97-AF65-F5344CB8AC3E}">
        <p14:creationId xmlns:p14="http://schemas.microsoft.com/office/powerpoint/2010/main" val="2360490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AEC6C933-B67E-ABAA-E94B-347DB88AE9DF}"/>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6F4114E3-938B-4BDC-08ED-08A4F364960C}"/>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F84EDBEC-08B6-ECCA-8483-6C051AB345EC}"/>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82000"/>
                  </a:schemeClr>
                </a:solidFill>
                <a:latin typeface="+mn-lt"/>
                <a:cs typeface="+mn-cs"/>
              </a:defRPr>
            </a:lvl1pPr>
          </a:lstStyle>
          <a:p>
            <a:pPr>
              <a:defRPr/>
            </a:pPr>
            <a:fld id="{57FD5E87-4A76-42E7-832E-3A2FBED7FD40}" type="datetimeFigureOut">
              <a:rPr lang="en-IN"/>
              <a:pPr>
                <a:defRPr/>
              </a:pPr>
              <a:t>17-07-2026</a:t>
            </a:fld>
            <a:endParaRPr lang="en-IN"/>
          </a:p>
        </p:txBody>
      </p:sp>
      <p:sp>
        <p:nvSpPr>
          <p:cNvPr id="5" name="Footer Placeholder 4">
            <a:extLst>
              <a:ext uri="{FF2B5EF4-FFF2-40B4-BE49-F238E27FC236}">
                <a16:creationId xmlns:a16="http://schemas.microsoft.com/office/drawing/2014/main" id="{757B00CE-7FFB-A4EA-B519-E91EADA5BB2F}"/>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82000"/>
                  </a:schemeClr>
                </a:solidFill>
                <a:latin typeface="+mn-lt"/>
                <a:cs typeface="+mn-cs"/>
              </a:defRPr>
            </a:lvl1pPr>
          </a:lstStyle>
          <a:p>
            <a:pPr>
              <a:defRPr/>
            </a:pPr>
            <a:endParaRPr lang="en-IN"/>
          </a:p>
        </p:txBody>
      </p:sp>
      <p:sp>
        <p:nvSpPr>
          <p:cNvPr id="6" name="Slide Number Placeholder 5">
            <a:extLst>
              <a:ext uri="{FF2B5EF4-FFF2-40B4-BE49-F238E27FC236}">
                <a16:creationId xmlns:a16="http://schemas.microsoft.com/office/drawing/2014/main" id="{769D614F-4AC0-B217-89C1-CB9808C8558D}"/>
              </a:ext>
            </a:extLst>
          </p:cNvPr>
          <p:cNvSpPr>
            <a:spLocks noGrp="1"/>
          </p:cNvSpPr>
          <p:nvPr>
            <p:ph type="sldNum" sz="quarter" idx="4"/>
          </p:nvPr>
        </p:nvSpPr>
        <p:spPr>
          <a:xfrm>
            <a:off x="8610600" y="6356351"/>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767676"/>
                </a:solidFill>
              </a:defRPr>
            </a:lvl1pPr>
          </a:lstStyle>
          <a:p>
            <a:fld id="{0C0D4A63-D1A0-427E-8608-3E6FAD2E675E}" type="slidenum">
              <a:rPr lang="en-IN" altLang="en-US"/>
              <a:pPr/>
              <a:t>‹#›</a:t>
            </a:fld>
            <a:endParaRPr lang="en-IN" altLang="en-US"/>
          </a:p>
        </p:txBody>
      </p:sp>
      <p:sp>
        <p:nvSpPr>
          <p:cNvPr id="7" name="Rectangle 6">
            <a:extLst>
              <a:ext uri="{FF2B5EF4-FFF2-40B4-BE49-F238E27FC236}">
                <a16:creationId xmlns:a16="http://schemas.microsoft.com/office/drawing/2014/main" id="{5042FC29-912A-F24F-4EFF-AA1F1EC1F047}"/>
              </a:ext>
            </a:extLst>
          </p:cNvPr>
          <p:cNvSpPr/>
          <p:nvPr userDrawn="1"/>
        </p:nvSpPr>
        <p:spPr>
          <a:xfrm>
            <a:off x="2078038" y="431800"/>
            <a:ext cx="8107362" cy="46038"/>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1032" name="Picture 7">
            <a:extLst>
              <a:ext uri="{FF2B5EF4-FFF2-40B4-BE49-F238E27FC236}">
                <a16:creationId xmlns:a16="http://schemas.microsoft.com/office/drawing/2014/main" id="{D90DF4E6-7ECA-1675-A4E1-82813941BB11}"/>
              </a:ext>
            </a:extLst>
          </p:cNvPr>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0355263" y="177800"/>
            <a:ext cx="1547812"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8">
            <a:extLst>
              <a:ext uri="{FF2B5EF4-FFF2-40B4-BE49-F238E27FC236}">
                <a16:creationId xmlns:a16="http://schemas.microsoft.com/office/drawing/2014/main" id="{C967F6D9-321C-578E-FE2A-2DD8FD03B67D}"/>
              </a:ext>
            </a:extLst>
          </p:cNvPr>
          <p:cNvPicPr>
            <a:picLocks noChangeAspect="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328613" y="177800"/>
            <a:ext cx="158115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 name="Rectangle 9">
            <a:extLst>
              <a:ext uri="{FF2B5EF4-FFF2-40B4-BE49-F238E27FC236}">
                <a16:creationId xmlns:a16="http://schemas.microsoft.com/office/drawing/2014/main" id="{AB348354-BDC7-55CA-9794-F46BEA338399}"/>
              </a:ext>
            </a:extLst>
          </p:cNvPr>
          <p:cNvSpPr>
            <a:spLocks noChangeArrowheads="1"/>
          </p:cNvSpPr>
          <p:nvPr userDrawn="1"/>
        </p:nvSpPr>
        <p:spPr bwMode="auto">
          <a:xfrm>
            <a:off x="0" y="6778626"/>
            <a:ext cx="12192000" cy="79375"/>
          </a:xfrm>
          <a:prstGeom prst="rect">
            <a:avLst/>
          </a:prstGeom>
          <a:solidFill>
            <a:srgbClr val="ED771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nchor="ct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algn="ctr"/>
            <a:endParaRPr lang="en-US" altLang="en-US" sz="1800">
              <a:solidFill>
                <a:srgbClr val="FFFFFF"/>
              </a:solidFill>
            </a:endParaRPr>
          </a:p>
        </p:txBody>
      </p:sp>
    </p:spTree>
    <p:extLst>
      <p:ext uri="{BB962C8B-B14F-4D97-AF65-F5344CB8AC3E}">
        <p14:creationId xmlns:p14="http://schemas.microsoft.com/office/powerpoint/2010/main" val="315475131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Aptos Display" panose="020B0004020202020204" pitchFamily="34" charset="0"/>
        </a:defRPr>
      </a:lvl2pPr>
      <a:lvl3pPr algn="l" rtl="0" fontAlgn="base">
        <a:lnSpc>
          <a:spcPct val="90000"/>
        </a:lnSpc>
        <a:spcBef>
          <a:spcPct val="0"/>
        </a:spcBef>
        <a:spcAft>
          <a:spcPct val="0"/>
        </a:spcAft>
        <a:defRPr sz="4400">
          <a:solidFill>
            <a:schemeClr val="tx1"/>
          </a:solidFill>
          <a:latin typeface="Aptos Display" panose="020B0004020202020204" pitchFamily="34" charset="0"/>
        </a:defRPr>
      </a:lvl3pPr>
      <a:lvl4pPr algn="l" rtl="0" fontAlgn="base">
        <a:lnSpc>
          <a:spcPct val="90000"/>
        </a:lnSpc>
        <a:spcBef>
          <a:spcPct val="0"/>
        </a:spcBef>
        <a:spcAft>
          <a:spcPct val="0"/>
        </a:spcAft>
        <a:defRPr sz="4400">
          <a:solidFill>
            <a:schemeClr val="tx1"/>
          </a:solidFill>
          <a:latin typeface="Aptos Display" panose="020B0004020202020204" pitchFamily="34" charset="0"/>
        </a:defRPr>
      </a:lvl4pPr>
      <a:lvl5pPr algn="l" rtl="0" fontAlgn="base">
        <a:lnSpc>
          <a:spcPct val="90000"/>
        </a:lnSpc>
        <a:spcBef>
          <a:spcPct val="0"/>
        </a:spcBef>
        <a:spcAft>
          <a:spcPct val="0"/>
        </a:spcAft>
        <a:defRPr sz="4400">
          <a:solidFill>
            <a:schemeClr val="tx1"/>
          </a:solidFill>
          <a:latin typeface="Aptos Display" panose="020B0004020202020204" pitchFamily="34" charset="0"/>
        </a:defRPr>
      </a:lvl5pPr>
      <a:lvl6pPr marL="457182" algn="l" rtl="0" fontAlgn="base">
        <a:lnSpc>
          <a:spcPct val="90000"/>
        </a:lnSpc>
        <a:spcBef>
          <a:spcPct val="0"/>
        </a:spcBef>
        <a:spcAft>
          <a:spcPct val="0"/>
        </a:spcAft>
        <a:defRPr sz="4400">
          <a:solidFill>
            <a:schemeClr val="tx1"/>
          </a:solidFill>
          <a:latin typeface="Aptos Display" panose="020B0004020202020204" pitchFamily="34" charset="0"/>
        </a:defRPr>
      </a:lvl6pPr>
      <a:lvl7pPr marL="914363" algn="l" rtl="0" fontAlgn="base">
        <a:lnSpc>
          <a:spcPct val="90000"/>
        </a:lnSpc>
        <a:spcBef>
          <a:spcPct val="0"/>
        </a:spcBef>
        <a:spcAft>
          <a:spcPct val="0"/>
        </a:spcAft>
        <a:defRPr sz="4400">
          <a:solidFill>
            <a:schemeClr val="tx1"/>
          </a:solidFill>
          <a:latin typeface="Aptos Display" panose="020B0004020202020204" pitchFamily="34" charset="0"/>
        </a:defRPr>
      </a:lvl7pPr>
      <a:lvl8pPr marL="1371545" algn="l" rtl="0" fontAlgn="base">
        <a:lnSpc>
          <a:spcPct val="90000"/>
        </a:lnSpc>
        <a:spcBef>
          <a:spcPct val="0"/>
        </a:spcBef>
        <a:spcAft>
          <a:spcPct val="0"/>
        </a:spcAft>
        <a:defRPr sz="4400">
          <a:solidFill>
            <a:schemeClr val="tx1"/>
          </a:solidFill>
          <a:latin typeface="Aptos Display" panose="020B0004020202020204" pitchFamily="34" charset="0"/>
        </a:defRPr>
      </a:lvl8pPr>
      <a:lvl9pPr marL="1828727" algn="l" rtl="0" fontAlgn="base">
        <a:lnSpc>
          <a:spcPct val="90000"/>
        </a:lnSpc>
        <a:spcBef>
          <a:spcPct val="0"/>
        </a:spcBef>
        <a:spcAft>
          <a:spcPct val="0"/>
        </a:spcAft>
        <a:defRPr sz="4400">
          <a:solidFill>
            <a:schemeClr val="tx1"/>
          </a:solidFill>
          <a:latin typeface="Aptos Display" panose="020B0004020202020204" pitchFamily="34" charset="0"/>
        </a:defRPr>
      </a:lvl9pPr>
    </p:titleStyle>
    <p:bodyStyle>
      <a:lvl1pPr marL="228591" indent="-228591"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773" indent="-228591"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2954" indent="-228591"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136" indent="-228591"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318" indent="-228591"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hyperlink" Target="https://cp-algorithms.com/" TargetMode="External"/><Relationship Id="rId2" Type="http://schemas.openxmlformats.org/officeDocument/2006/relationships/hyperlink" Target="https://www.geeksforgeeks.org/dsa/" TargetMode="External"/><Relationship Id="rId1" Type="http://schemas.openxmlformats.org/officeDocument/2006/relationships/slideLayout" Target="../slideLayouts/slideLayout12.xml"/><Relationship Id="rId6" Type="http://schemas.openxmlformats.org/officeDocument/2006/relationships/hyperlink" Target="https://usaco.guide/" TargetMode="External"/><Relationship Id="rId5" Type="http://schemas.openxmlformats.org/officeDocument/2006/relationships/hyperlink" Target="https://leetcode.com/problemset/algorithms/" TargetMode="External"/><Relationship Id="rId4" Type="http://schemas.openxmlformats.org/officeDocument/2006/relationships/hyperlink" Target="https://www.programiz.com/dsa"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algorithm-visualizer.org/" TargetMode="External"/><Relationship Id="rId2" Type="http://schemas.openxmlformats.org/officeDocument/2006/relationships/hyperlink" Target="https://visualgo.net/en" TargetMode="External"/><Relationship Id="rId1" Type="http://schemas.openxmlformats.org/officeDocument/2006/relationships/slideLayout" Target="../slideLayouts/slideLayout12.xml"/><Relationship Id="rId4" Type="http://schemas.openxmlformats.org/officeDocument/2006/relationships/hyperlink" Target="https://www.cs.usfca.edu/~galles/visualization/Algorithms.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diagramLayout" Target="../diagrams/layout1.xml"/><Relationship Id="rId7" Type="http://schemas.openxmlformats.org/officeDocument/2006/relationships/image" Target="../media/image1.emf"/><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34.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3.xml"/><Relationship Id="rId7" Type="http://schemas.openxmlformats.org/officeDocument/2006/relationships/image" Target="../media/image7.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2.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image" Target="../media/image2.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1"/>
          <p:cNvSpPr txBox="1">
            <a:spLocks noChangeArrowheads="1"/>
          </p:cNvSpPr>
          <p:nvPr/>
        </p:nvSpPr>
        <p:spPr bwMode="auto">
          <a:xfrm>
            <a:off x="1797050" y="1300899"/>
            <a:ext cx="7956550" cy="24884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algn="ctr">
              <a:buClr>
                <a:srgbClr val="000000"/>
              </a:buClr>
              <a:buSzPct val="100000"/>
            </a:pPr>
            <a:r>
              <a:rPr lang="en-US" altLang="en-US" sz="5400" b="1" dirty="0">
                <a:solidFill>
                  <a:srgbClr val="10253F"/>
                </a:solidFill>
                <a:latin typeface="Times New Roman" panose="02020603050405020304" pitchFamily="18" charset="0"/>
                <a:cs typeface="Times New Roman" panose="02020603050405020304" pitchFamily="18" charset="0"/>
              </a:rPr>
              <a:t>CSE 408</a:t>
            </a:r>
          </a:p>
          <a:p>
            <a:pPr algn="ctr">
              <a:buClr>
                <a:srgbClr val="000000"/>
              </a:buClr>
              <a:buSzPct val="100000"/>
            </a:pPr>
            <a:r>
              <a:rPr lang="en-IN" sz="4400" b="1" dirty="0"/>
              <a:t>DESIGN AND ANALYSIS OF ALGORITHMS</a:t>
            </a:r>
            <a:endParaRPr lang="en-US" altLang="en-US" sz="7200" b="1" dirty="0">
              <a:solidFill>
                <a:srgbClr val="10253F"/>
              </a:solidFill>
              <a:latin typeface="Times New Roman" panose="02020603050405020304" pitchFamily="18" charset="0"/>
              <a:cs typeface="Times New Roman" panose="02020603050405020304" pitchFamily="18" charset="0"/>
            </a:endParaRPr>
          </a:p>
        </p:txBody>
      </p:sp>
      <p:sp>
        <p:nvSpPr>
          <p:cNvPr id="12292" name="Line 3"/>
          <p:cNvSpPr>
            <a:spLocks noChangeShapeType="1"/>
          </p:cNvSpPr>
          <p:nvPr/>
        </p:nvSpPr>
        <p:spPr bwMode="auto">
          <a:xfrm>
            <a:off x="2566989" y="3789364"/>
            <a:ext cx="7058025" cy="1587"/>
          </a:xfrm>
          <a:prstGeom prst="line">
            <a:avLst/>
          </a:prstGeom>
          <a:noFill/>
          <a:ln w="38160">
            <a:solidFill>
              <a:srgbClr val="F79646"/>
            </a:solidFill>
            <a:miter lim="800000"/>
            <a:headEnd/>
            <a:tailEnd/>
          </a:ln>
          <a:effectLst>
            <a:outerShdw dist="23040" dir="5400000" algn="ctr" rotWithShape="0">
              <a:srgbClr val="000000">
                <a:alpha val="35036"/>
              </a:srgbClr>
            </a:outerShdw>
          </a:effectLst>
          <a:extLst>
            <a:ext uri="{909E8E84-426E-40DD-AFC4-6F175D3DCCD1}">
              <a14:hiddenFill xmlns:a14="http://schemas.microsoft.com/office/drawing/2010/main">
                <a:noFill/>
              </a14:hiddenFill>
            </a:ext>
          </a:extLst>
        </p:spPr>
        <p:txBody>
          <a:bodyPr/>
          <a:lstStyle/>
          <a:p>
            <a:endParaRPr lang="en-IN" dirty="0"/>
          </a:p>
        </p:txBody>
      </p:sp>
      <p:sp>
        <p:nvSpPr>
          <p:cNvPr id="12293" name="Text Box 4"/>
          <p:cNvSpPr txBox="1">
            <a:spLocks noChangeArrowheads="1"/>
          </p:cNvSpPr>
          <p:nvPr/>
        </p:nvSpPr>
        <p:spPr bwMode="auto">
          <a:xfrm>
            <a:off x="5292725" y="3917950"/>
            <a:ext cx="1767448" cy="4638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eaLnBrk="1" hangingPunct="1">
              <a:buSzPct val="100000"/>
            </a:pPr>
            <a:r>
              <a:rPr lang="en-US" altLang="en-US" sz="2400" dirty="0">
                <a:solidFill>
                  <a:srgbClr val="376092"/>
                </a:solidFill>
                <a:latin typeface="Arial Rounded MT Bold" pitchFamily="32" charset="0"/>
                <a:cs typeface="Arial" charset="0"/>
              </a:rPr>
              <a:t>Lecture #0</a:t>
            </a:r>
          </a:p>
        </p:txBody>
      </p:sp>
      <p:sp>
        <p:nvSpPr>
          <p:cNvPr id="12294" name="Text Box 5"/>
          <p:cNvSpPr txBox="1">
            <a:spLocks noChangeArrowheads="1"/>
          </p:cNvSpPr>
          <p:nvPr/>
        </p:nvSpPr>
        <p:spPr bwMode="auto">
          <a:xfrm>
            <a:off x="2895600" y="4379913"/>
            <a:ext cx="6400800" cy="175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algn="ctr">
              <a:spcBef>
                <a:spcPts val="800"/>
              </a:spcBef>
              <a:buSzPct val="100000"/>
            </a:pPr>
            <a:r>
              <a:rPr lang="en-US" altLang="en-US" dirty="0">
                <a:solidFill>
                  <a:srgbClr val="898989"/>
                </a:solidFill>
              </a:rPr>
              <a:t>The kick start session</a:t>
            </a:r>
          </a:p>
        </p:txBody>
      </p:sp>
    </p:spTree>
    <p:extLst>
      <p:ext uri="{BB962C8B-B14F-4D97-AF65-F5344CB8AC3E}">
        <p14:creationId xmlns:p14="http://schemas.microsoft.com/office/powerpoint/2010/main" val="331911335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4CEF2241-5D97-43C2-AEA5-DC62D9EEA4B0}"/>
              </a:ext>
            </a:extLst>
          </p:cNvPr>
          <p:cNvSpPr>
            <a:spLocks noGrp="1"/>
          </p:cNvSpPr>
          <p:nvPr>
            <p:ph type="title" idx="4294967295"/>
          </p:nvPr>
        </p:nvSpPr>
        <p:spPr>
          <a:xfrm>
            <a:off x="1524000" y="274638"/>
            <a:ext cx="8229600" cy="1143000"/>
          </a:xfrm>
        </p:spPr>
        <p:txBody>
          <a:bodyPr/>
          <a:lstStyle/>
          <a:p>
            <a:pPr eaLnBrk="1" hangingPunct="1"/>
            <a:r>
              <a:rPr lang="en-US" altLang="en-US" sz="4800" dirty="0">
                <a:solidFill>
                  <a:srgbClr val="C00000"/>
                </a:solidFill>
                <a:latin typeface="Times New Roman" panose="02020603050405020304" pitchFamily="18" charset="0"/>
                <a:cs typeface="Times New Roman" panose="02020603050405020304" pitchFamily="18" charset="0"/>
              </a:rPr>
              <a:t>Course Details</a:t>
            </a:r>
            <a:endParaRPr lang="en-IN" altLang="en-US" sz="4800" dirty="0">
              <a:solidFill>
                <a:srgbClr val="C00000"/>
              </a:solidFill>
              <a:latin typeface="Times New Roman" panose="02020603050405020304" pitchFamily="18" charset="0"/>
              <a:cs typeface="Times New Roman" panose="02020603050405020304" pitchFamily="18" charset="0"/>
            </a:endParaRPr>
          </a:p>
        </p:txBody>
      </p:sp>
      <p:sp>
        <p:nvSpPr>
          <p:cNvPr id="13315" name="Content Placeholder 2">
            <a:extLst>
              <a:ext uri="{FF2B5EF4-FFF2-40B4-BE49-F238E27FC236}">
                <a16:creationId xmlns:a16="http://schemas.microsoft.com/office/drawing/2014/main" id="{C98A7AD7-8137-4B40-93BC-F7EB271409F3}"/>
              </a:ext>
            </a:extLst>
          </p:cNvPr>
          <p:cNvSpPr>
            <a:spLocks noGrp="1"/>
          </p:cNvSpPr>
          <p:nvPr>
            <p:ph idx="4294967295"/>
          </p:nvPr>
        </p:nvSpPr>
        <p:spPr>
          <a:xfrm>
            <a:off x="2057400" y="1863267"/>
            <a:ext cx="8610600" cy="3510012"/>
          </a:xfrm>
        </p:spPr>
        <p:txBody>
          <a:bodyPr/>
          <a:lstStyle/>
          <a:p>
            <a:pPr eaLnBrk="1" hangingPunct="1">
              <a:defRPr/>
            </a:pPr>
            <a:r>
              <a:rPr lang="en-US" altLang="en-US" sz="3600" dirty="0">
                <a:solidFill>
                  <a:srgbClr val="C00000"/>
                </a:solidFill>
                <a:latin typeface="Times New Roman" panose="02020603050405020304" pitchFamily="18" charset="0"/>
                <a:cs typeface="Times New Roman" panose="02020603050405020304" pitchFamily="18" charset="0"/>
              </a:rPr>
              <a:t>Course Code:-</a:t>
            </a:r>
            <a:r>
              <a:rPr lang="en-US" altLang="en-US" dirty="0">
                <a:solidFill>
                  <a:srgbClr val="002060"/>
                </a:solidFill>
                <a:latin typeface="Times New Roman" panose="02020603050405020304" pitchFamily="18" charset="0"/>
                <a:cs typeface="Times New Roman" panose="02020603050405020304" pitchFamily="18" charset="0"/>
              </a:rPr>
              <a:t> </a:t>
            </a: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CSE 408</a:t>
            </a:r>
          </a:p>
          <a:p>
            <a:pPr>
              <a:defRPr/>
            </a:pPr>
            <a:r>
              <a:rPr lang="en-US" altLang="en-US" sz="3600" dirty="0">
                <a:solidFill>
                  <a:srgbClr val="C00000"/>
                </a:solidFill>
                <a:latin typeface="Times New Roman" panose="02020603050405020304" pitchFamily="18" charset="0"/>
                <a:cs typeface="Times New Roman" panose="02020603050405020304" pitchFamily="18" charset="0"/>
              </a:rPr>
              <a:t>LTP:- </a:t>
            </a:r>
            <a:r>
              <a:rPr lang="en-US" altLang="en-US" sz="3600" dirty="0">
                <a:solidFill>
                  <a:srgbClr val="002060"/>
                </a:solidFill>
                <a:latin typeface="Times New Roman" panose="02020603050405020304" pitchFamily="18" charset="0"/>
                <a:cs typeface="Times New Roman" panose="02020603050405020304" pitchFamily="18" charset="0"/>
              </a:rPr>
              <a:t> </a:t>
            </a:r>
            <a:r>
              <a:rPr lang="en-US" altLang="en-US" dirty="0">
                <a:solidFill>
                  <a:srgbClr val="002060"/>
                </a:solidFill>
                <a:latin typeface="Times New Roman" panose="02020603050405020304" pitchFamily="18" charset="0"/>
                <a:cs typeface="Times New Roman" panose="02020603050405020304" pitchFamily="18" charset="0"/>
              </a:rPr>
              <a:t> </a:t>
            </a:r>
            <a:r>
              <a:rPr lang="en-IN" dirty="0"/>
              <a:t>3 0 2  </a:t>
            </a: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[3 lectures, 2 practical's /week]</a:t>
            </a:r>
          </a:p>
          <a:p>
            <a:pPr eaLnBrk="1" hangingPunct="1">
              <a:defRPr/>
            </a:pPr>
            <a:r>
              <a:rPr lang="en-US" altLang="en-US" sz="3600" dirty="0">
                <a:solidFill>
                  <a:srgbClr val="C00000"/>
                </a:solidFill>
                <a:latin typeface="Times New Roman" panose="02020603050405020304" pitchFamily="18" charset="0"/>
                <a:cs typeface="Times New Roman" panose="02020603050405020304" pitchFamily="18" charset="0"/>
              </a:rPr>
              <a:t>Credits:- 4</a:t>
            </a:r>
          </a:p>
          <a:p>
            <a:pPr marL="0" indent="0">
              <a:buNone/>
              <a:defRPr/>
            </a:pPr>
            <a:endParaRPr lang="en-US" altLang="en-US" sz="4000" b="1" dirty="0">
              <a:solidFill>
                <a:srgbClr val="FF0000"/>
              </a:solidFill>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FF63507F-5467-4BCA-B1B2-FE91FF3580D6}"/>
              </a:ext>
            </a:extLst>
          </p:cNvPr>
          <p:cNvCxnSpPr/>
          <p:nvPr/>
        </p:nvCxnSpPr>
        <p:spPr>
          <a:xfrm>
            <a:off x="2163764" y="1295400"/>
            <a:ext cx="7056437" cy="0"/>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843369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1"/>
          <p:cNvSpPr txBox="1">
            <a:spLocks noChangeArrowheads="1"/>
          </p:cNvSpPr>
          <p:nvPr/>
        </p:nvSpPr>
        <p:spPr bwMode="auto">
          <a:xfrm>
            <a:off x="2094786" y="256043"/>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eaLnBrk="1" hangingPunct="1">
              <a:buSzPct val="100000"/>
            </a:pPr>
            <a:r>
              <a:rPr lang="en-US" altLang="en-US" sz="4800" dirty="0">
                <a:solidFill>
                  <a:srgbClr val="C00000"/>
                </a:solidFill>
                <a:latin typeface="Times New Roman" panose="02020603050405020304" pitchFamily="18" charset="0"/>
                <a:cs typeface="Times New Roman" panose="02020603050405020304" pitchFamily="18" charset="0"/>
              </a:rPr>
              <a:t>Course outcome</a:t>
            </a:r>
          </a:p>
        </p:txBody>
      </p:sp>
      <p:sp>
        <p:nvSpPr>
          <p:cNvPr id="22531" name="Line 2"/>
          <p:cNvSpPr>
            <a:spLocks noChangeShapeType="1"/>
          </p:cNvSpPr>
          <p:nvPr/>
        </p:nvSpPr>
        <p:spPr bwMode="auto">
          <a:xfrm>
            <a:off x="2135189" y="1268414"/>
            <a:ext cx="7056437" cy="1587"/>
          </a:xfrm>
          <a:prstGeom prst="line">
            <a:avLst/>
          </a:prstGeom>
          <a:noFill/>
          <a:ln w="38160">
            <a:solidFill>
              <a:srgbClr val="F79646"/>
            </a:solidFill>
            <a:miter lim="800000"/>
            <a:headEnd/>
            <a:tailEnd/>
          </a:ln>
          <a:effectLst>
            <a:outerShdw dist="23040" dir="5400000" algn="ctr" rotWithShape="0">
              <a:srgbClr val="000000">
                <a:alpha val="35036"/>
              </a:srgbClr>
            </a:outerShdw>
          </a:effectLst>
          <a:extLst>
            <a:ext uri="{909E8E84-426E-40DD-AFC4-6F175D3DCCD1}">
              <a14:hiddenFill xmlns:a14="http://schemas.microsoft.com/office/drawing/2010/main">
                <a:noFill/>
              </a14:hiddenFill>
            </a:ext>
          </a:extLst>
        </p:spPr>
        <p:txBody>
          <a:bodyPr/>
          <a:lstStyle/>
          <a:p>
            <a:endParaRPr lang="en-IN" dirty="0"/>
          </a:p>
        </p:txBody>
      </p:sp>
      <p:sp>
        <p:nvSpPr>
          <p:cNvPr id="22533" name="Rectangle 4"/>
          <p:cNvSpPr>
            <a:spLocks noChangeArrowheads="1"/>
          </p:cNvSpPr>
          <p:nvPr/>
        </p:nvSpPr>
        <p:spPr bwMode="auto">
          <a:xfrm>
            <a:off x="1403520" y="1826999"/>
            <a:ext cx="9223289" cy="4403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pPr algn="just">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2000" dirty="0">
                <a:solidFill>
                  <a:srgbClr val="000000"/>
                </a:solidFill>
                <a:latin typeface="Times New Roman" panose="02020603050405020304" pitchFamily="18" charset="0"/>
                <a:cs typeface="Times New Roman" panose="02020603050405020304" pitchFamily="18" charset="0"/>
              </a:rPr>
              <a:t>Through this course students should be able to: </a:t>
            </a:r>
          </a:p>
          <a:p>
            <a:pPr algn="just">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sz="2000" dirty="0">
              <a:solidFill>
                <a:srgbClr val="000000"/>
              </a:solidFill>
              <a:latin typeface="Times New Roman" panose="02020603050405020304" pitchFamily="18" charset="0"/>
              <a:cs typeface="Times New Roman" panose="02020603050405020304" pitchFamily="18" charset="0"/>
            </a:endParaRPr>
          </a:p>
          <a:p>
            <a:pPr algn="just">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000" dirty="0">
                <a:latin typeface="Times New Roman" panose="02020603050405020304" pitchFamily="18" charset="0"/>
                <a:cs typeface="Times New Roman" panose="02020603050405020304" pitchFamily="18" charset="0"/>
              </a:rPr>
              <a:t>CO1 ::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the efficiency of algorithms using complexity analysis, recurrence solving techniques, and Divide-and-Conquer strategies.</a:t>
            </a:r>
          </a:p>
          <a:p>
            <a:pPr algn="just">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000" dirty="0">
                <a:latin typeface="Times New Roman" panose="02020603050405020304" pitchFamily="18" charset="0"/>
                <a:cs typeface="Times New Roman" panose="02020603050405020304" pitchFamily="18" charset="0"/>
              </a:rPr>
              <a:t> CO2 :: Apply string matching algorithms, Trie data structures, and computational geometry techniques to solve pattern matching and geometric problems. </a:t>
            </a:r>
          </a:p>
          <a:p>
            <a:pPr algn="just">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000" dirty="0">
                <a:latin typeface="Times New Roman" panose="02020603050405020304" pitchFamily="18" charset="0"/>
                <a:cs typeface="Times New Roman" panose="02020603050405020304" pitchFamily="18" charset="0"/>
              </a:rPr>
              <a:t>CO3 :: Apply Dynamic Programming techniques to solve optimization and combinatorial problems. </a:t>
            </a:r>
          </a:p>
          <a:p>
            <a:pPr algn="just">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000" dirty="0">
                <a:latin typeface="Times New Roman" panose="02020603050405020304" pitchFamily="18" charset="0"/>
                <a:cs typeface="Times New Roman" panose="02020603050405020304" pitchFamily="18" charset="0"/>
              </a:rPr>
              <a:t>CO4 :: Apply Graph algorithms, Network Optimization, and Greedy techniques to solve graph-based optimization problems. </a:t>
            </a:r>
          </a:p>
          <a:p>
            <a:pPr algn="just">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000" dirty="0">
                <a:latin typeface="Times New Roman" panose="02020603050405020304" pitchFamily="18" charset="0"/>
                <a:cs typeface="Times New Roman" panose="02020603050405020304" pitchFamily="18" charset="0"/>
              </a:rPr>
              <a:t>CO5 :: Apply Transform-and-Conquer and advanced algorithmic techniques to solve searching, sorting, and sequence-processing problems efficiently. </a:t>
            </a:r>
          </a:p>
          <a:p>
            <a:pPr algn="just">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000" dirty="0">
                <a:latin typeface="Times New Roman" panose="02020603050405020304" pitchFamily="18" charset="0"/>
                <a:cs typeface="Times New Roman" panose="02020603050405020304" pitchFamily="18" charset="0"/>
              </a:rPr>
              <a:t>CO6 :: Evaluate the suitability of Backtracking, Branch and Bound, Approximation Algorithms, and Complexity Classes for solving computationally hard problems. </a:t>
            </a:r>
            <a:endParaRPr lang="en-US" altLang="en-US" sz="20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800679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DF789-EE0D-400F-3FD2-3853ACC55DF4}"/>
            </a:ext>
          </a:extLst>
        </p:cNvPr>
        <p:cNvGrpSpPr/>
        <p:nvPr/>
      </p:nvGrpSpPr>
      <p:grpSpPr>
        <a:xfrm>
          <a:off x="0" y="0"/>
          <a:ext cx="0" cy="0"/>
          <a:chOff x="0" y="0"/>
          <a:chExt cx="0" cy="0"/>
        </a:xfrm>
      </p:grpSpPr>
      <p:sp>
        <p:nvSpPr>
          <p:cNvPr id="22530" name="Text Box 1">
            <a:extLst>
              <a:ext uri="{FF2B5EF4-FFF2-40B4-BE49-F238E27FC236}">
                <a16:creationId xmlns:a16="http://schemas.microsoft.com/office/drawing/2014/main" id="{BAAE8056-942F-E621-6064-48B0457E5BC3}"/>
              </a:ext>
            </a:extLst>
          </p:cNvPr>
          <p:cNvSpPr txBox="1">
            <a:spLocks noChangeArrowheads="1"/>
          </p:cNvSpPr>
          <p:nvPr/>
        </p:nvSpPr>
        <p:spPr bwMode="auto">
          <a:xfrm>
            <a:off x="1981200" y="188640"/>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eaLnBrk="1" hangingPunct="1">
              <a:buSzPct val="100000"/>
            </a:pPr>
            <a:r>
              <a:rPr lang="en-US" altLang="en-US" sz="4800" dirty="0">
                <a:solidFill>
                  <a:srgbClr val="C00000"/>
                </a:solidFill>
                <a:latin typeface="Times New Roman" panose="02020603050405020304" pitchFamily="18" charset="0"/>
                <a:cs typeface="Times New Roman" panose="02020603050405020304" pitchFamily="18" charset="0"/>
              </a:rPr>
              <a:t>Program outcome</a:t>
            </a:r>
          </a:p>
        </p:txBody>
      </p:sp>
      <p:sp>
        <p:nvSpPr>
          <p:cNvPr id="22531" name="Line 2">
            <a:extLst>
              <a:ext uri="{FF2B5EF4-FFF2-40B4-BE49-F238E27FC236}">
                <a16:creationId xmlns:a16="http://schemas.microsoft.com/office/drawing/2014/main" id="{0266D10F-ED3D-5149-2BD0-2FFBC67B593E}"/>
              </a:ext>
            </a:extLst>
          </p:cNvPr>
          <p:cNvSpPr>
            <a:spLocks noChangeShapeType="1"/>
          </p:cNvSpPr>
          <p:nvPr/>
        </p:nvSpPr>
        <p:spPr bwMode="auto">
          <a:xfrm>
            <a:off x="2135189" y="1268414"/>
            <a:ext cx="7056437" cy="1587"/>
          </a:xfrm>
          <a:prstGeom prst="line">
            <a:avLst/>
          </a:prstGeom>
          <a:noFill/>
          <a:ln w="38160">
            <a:solidFill>
              <a:srgbClr val="F79646"/>
            </a:solidFill>
            <a:miter lim="800000"/>
            <a:headEnd/>
            <a:tailEnd/>
          </a:ln>
          <a:effectLst>
            <a:outerShdw dist="23040" dir="5400000" algn="ctr" rotWithShape="0">
              <a:srgbClr val="000000">
                <a:alpha val="35036"/>
              </a:srgbClr>
            </a:outerShdw>
          </a:effectLst>
          <a:extLst>
            <a:ext uri="{909E8E84-426E-40DD-AFC4-6F175D3DCCD1}">
              <a14:hiddenFill xmlns:a14="http://schemas.microsoft.com/office/drawing/2010/main">
                <a:noFill/>
              </a14:hiddenFill>
            </a:ext>
          </a:extLst>
        </p:spPr>
        <p:txBody>
          <a:bodyPr/>
          <a:lstStyle/>
          <a:p>
            <a:endParaRPr lang="en-IN"/>
          </a:p>
        </p:txBody>
      </p:sp>
      <p:sp>
        <p:nvSpPr>
          <p:cNvPr id="22533" name="Rectangle 4">
            <a:extLst>
              <a:ext uri="{FF2B5EF4-FFF2-40B4-BE49-F238E27FC236}">
                <a16:creationId xmlns:a16="http://schemas.microsoft.com/office/drawing/2014/main" id="{2087CCD6-E0F9-F886-03F0-C25E065A2B59}"/>
              </a:ext>
            </a:extLst>
          </p:cNvPr>
          <p:cNvSpPr>
            <a:spLocks noChangeArrowheads="1"/>
          </p:cNvSpPr>
          <p:nvPr/>
        </p:nvSpPr>
        <p:spPr bwMode="auto">
          <a:xfrm>
            <a:off x="1472281" y="1510935"/>
            <a:ext cx="9042057" cy="4803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pPr algn="just"/>
            <a:r>
              <a:rPr lang="en-IN" b="1" dirty="0">
                <a:latin typeface="Times New Roman" panose="02020603050405020304" pitchFamily="18" charset="0"/>
                <a:cs typeface="Times New Roman" panose="02020603050405020304" pitchFamily="18" charset="0"/>
              </a:rPr>
              <a:t>PO1:</a:t>
            </a:r>
            <a:r>
              <a:rPr lang="en-IN" dirty="0">
                <a:latin typeface="Times New Roman" panose="02020603050405020304" pitchFamily="18" charset="0"/>
                <a:cs typeface="Times New Roman" panose="02020603050405020304" pitchFamily="18" charset="0"/>
              </a:rPr>
              <a:t> Apply the knowledge of mathematics, science, engineering fundamentals, and an engineering specialization to the solution of complex engineering problems.</a:t>
            </a:r>
          </a:p>
          <a:p>
            <a:pPr algn="just"/>
            <a:r>
              <a:rPr lang="en-IN" b="1" dirty="0">
                <a:latin typeface="Times New Roman" panose="02020603050405020304" pitchFamily="18" charset="0"/>
                <a:cs typeface="Times New Roman" panose="02020603050405020304" pitchFamily="18" charset="0"/>
              </a:rPr>
              <a:t>PO2:</a:t>
            </a:r>
            <a:r>
              <a:rPr lang="en-IN" dirty="0">
                <a:latin typeface="Times New Roman" panose="02020603050405020304" pitchFamily="18" charset="0"/>
                <a:cs typeface="Times New Roman" panose="02020603050405020304" pitchFamily="18" charset="0"/>
              </a:rPr>
              <a:t> Identify, formulate, review research literature, and analyse complex engineering problems reaching substantiated conclusions using first principles of mathematics, natural sciences and engineering sciences.</a:t>
            </a:r>
          </a:p>
          <a:p>
            <a:pPr algn="just"/>
            <a:r>
              <a:rPr lang="en-IN" b="1" dirty="0">
                <a:latin typeface="Times New Roman" panose="02020603050405020304" pitchFamily="18" charset="0"/>
                <a:cs typeface="Times New Roman" panose="02020603050405020304" pitchFamily="18" charset="0"/>
              </a:rPr>
              <a:t>PO3:</a:t>
            </a:r>
            <a:r>
              <a:rPr lang="en-IN" dirty="0">
                <a:latin typeface="Times New Roman" panose="02020603050405020304" pitchFamily="18" charset="0"/>
                <a:cs typeface="Times New Roman" panose="02020603050405020304" pitchFamily="18" charset="0"/>
              </a:rPr>
              <a:t> Design solutions for complex engineering problems and design system components or processes that meet the specified needs with appropriate consideration for the public health and safety, and the cultural, societal, and environmental considerations.</a:t>
            </a:r>
          </a:p>
          <a:p>
            <a:pPr algn="just"/>
            <a:r>
              <a:rPr lang="en-IN" b="1" dirty="0">
                <a:latin typeface="Times New Roman" panose="02020603050405020304" pitchFamily="18" charset="0"/>
                <a:cs typeface="Times New Roman" panose="02020603050405020304" pitchFamily="18" charset="0"/>
              </a:rPr>
              <a:t>PO4:</a:t>
            </a:r>
            <a:r>
              <a:rPr lang="en-IN" dirty="0">
                <a:latin typeface="Times New Roman" panose="02020603050405020304" pitchFamily="18" charset="0"/>
                <a:cs typeface="Times New Roman" panose="02020603050405020304" pitchFamily="18" charset="0"/>
              </a:rPr>
              <a:t> Use research-based knowledge and research methods including design of experiments, analysis and interpretation of data, and synthesis of the information to provide valid conclusions.</a:t>
            </a:r>
          </a:p>
          <a:p>
            <a:pPr algn="just"/>
            <a:r>
              <a:rPr lang="en-IN" b="1" dirty="0">
                <a:latin typeface="Times New Roman" panose="02020603050405020304" pitchFamily="18" charset="0"/>
                <a:cs typeface="Times New Roman" panose="02020603050405020304" pitchFamily="18" charset="0"/>
              </a:rPr>
              <a:t>PO5:</a:t>
            </a:r>
            <a:r>
              <a:rPr lang="en-IN" dirty="0">
                <a:latin typeface="Times New Roman" panose="02020603050405020304" pitchFamily="18" charset="0"/>
                <a:cs typeface="Times New Roman" panose="02020603050405020304" pitchFamily="18" charset="0"/>
              </a:rPr>
              <a:t> Create, select, and apply appropriate techniques, resources, and modern engineering and IT tools including prediction and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to complex engineering activities with an understanding of the limitations.</a:t>
            </a:r>
          </a:p>
          <a:p>
            <a:pPr algn="just"/>
            <a:r>
              <a:rPr lang="en-IN" b="1" dirty="0">
                <a:latin typeface="Times New Roman" panose="02020603050405020304" pitchFamily="18" charset="0"/>
                <a:cs typeface="Times New Roman" panose="02020603050405020304" pitchFamily="18" charset="0"/>
              </a:rPr>
              <a:t>PO6:</a:t>
            </a:r>
            <a:r>
              <a:rPr lang="en-IN" dirty="0">
                <a:latin typeface="Times New Roman" panose="02020603050405020304" pitchFamily="18" charset="0"/>
                <a:cs typeface="Times New Roman" panose="02020603050405020304" pitchFamily="18" charset="0"/>
              </a:rPr>
              <a:t> Apply reasoning informed by the contextual knowledge to assess societal, health, safety, legal and cultural issues and the consequent responsibilities relevant to the professional engineering practice.</a:t>
            </a:r>
          </a:p>
          <a:p>
            <a:pPr algn="just" fontAlgn="ct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869928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78102-9E8D-187C-F04E-BB407EA69C93}"/>
            </a:ext>
          </a:extLst>
        </p:cNvPr>
        <p:cNvGrpSpPr/>
        <p:nvPr/>
      </p:nvGrpSpPr>
      <p:grpSpPr>
        <a:xfrm>
          <a:off x="0" y="0"/>
          <a:ext cx="0" cy="0"/>
          <a:chOff x="0" y="0"/>
          <a:chExt cx="0" cy="0"/>
        </a:xfrm>
      </p:grpSpPr>
      <p:sp>
        <p:nvSpPr>
          <p:cNvPr id="22530" name="Text Box 1">
            <a:extLst>
              <a:ext uri="{FF2B5EF4-FFF2-40B4-BE49-F238E27FC236}">
                <a16:creationId xmlns:a16="http://schemas.microsoft.com/office/drawing/2014/main" id="{C03A721D-3C93-69B4-7BAB-75B4014324CC}"/>
              </a:ext>
            </a:extLst>
          </p:cNvPr>
          <p:cNvSpPr txBox="1">
            <a:spLocks noChangeArrowheads="1"/>
          </p:cNvSpPr>
          <p:nvPr/>
        </p:nvSpPr>
        <p:spPr bwMode="auto">
          <a:xfrm>
            <a:off x="1981200" y="188640"/>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eaLnBrk="1" hangingPunct="1">
              <a:buSzPct val="100000"/>
            </a:pPr>
            <a:r>
              <a:rPr lang="en-US" altLang="en-US" sz="4800" dirty="0">
                <a:solidFill>
                  <a:srgbClr val="C00000"/>
                </a:solidFill>
                <a:latin typeface="Times New Roman" panose="02020603050405020304" pitchFamily="18" charset="0"/>
                <a:cs typeface="Times New Roman" panose="02020603050405020304" pitchFamily="18" charset="0"/>
              </a:rPr>
              <a:t>Program outcome</a:t>
            </a:r>
          </a:p>
        </p:txBody>
      </p:sp>
      <p:sp>
        <p:nvSpPr>
          <p:cNvPr id="22531" name="Line 2">
            <a:extLst>
              <a:ext uri="{FF2B5EF4-FFF2-40B4-BE49-F238E27FC236}">
                <a16:creationId xmlns:a16="http://schemas.microsoft.com/office/drawing/2014/main" id="{90C57D89-C7E9-C311-B598-A2E61B900D6B}"/>
              </a:ext>
            </a:extLst>
          </p:cNvPr>
          <p:cNvSpPr>
            <a:spLocks noChangeShapeType="1"/>
          </p:cNvSpPr>
          <p:nvPr/>
        </p:nvSpPr>
        <p:spPr bwMode="auto">
          <a:xfrm>
            <a:off x="2135189" y="1268414"/>
            <a:ext cx="7056437" cy="1587"/>
          </a:xfrm>
          <a:prstGeom prst="line">
            <a:avLst/>
          </a:prstGeom>
          <a:noFill/>
          <a:ln w="38160">
            <a:solidFill>
              <a:srgbClr val="F79646"/>
            </a:solidFill>
            <a:miter lim="800000"/>
            <a:headEnd/>
            <a:tailEnd/>
          </a:ln>
          <a:effectLst>
            <a:outerShdw dist="23040" dir="5400000" algn="ctr" rotWithShape="0">
              <a:srgbClr val="000000">
                <a:alpha val="35036"/>
              </a:srgbClr>
            </a:outerShdw>
          </a:effectLst>
          <a:extLst>
            <a:ext uri="{909E8E84-426E-40DD-AFC4-6F175D3DCCD1}">
              <a14:hiddenFill xmlns:a14="http://schemas.microsoft.com/office/drawing/2010/main">
                <a:noFill/>
              </a14:hiddenFill>
            </a:ext>
          </a:extLst>
        </p:spPr>
        <p:txBody>
          <a:bodyPr/>
          <a:lstStyle/>
          <a:p>
            <a:endParaRPr lang="en-IN"/>
          </a:p>
        </p:txBody>
      </p:sp>
      <p:sp>
        <p:nvSpPr>
          <p:cNvPr id="22533" name="Rectangle 4">
            <a:extLst>
              <a:ext uri="{FF2B5EF4-FFF2-40B4-BE49-F238E27FC236}">
                <a16:creationId xmlns:a16="http://schemas.microsoft.com/office/drawing/2014/main" id="{FDC10389-B8A1-3D3F-3C04-D4E78BF059DE}"/>
              </a:ext>
            </a:extLst>
          </p:cNvPr>
          <p:cNvSpPr>
            <a:spLocks noChangeArrowheads="1"/>
          </p:cNvSpPr>
          <p:nvPr/>
        </p:nvSpPr>
        <p:spPr bwMode="auto">
          <a:xfrm>
            <a:off x="1472281" y="1510935"/>
            <a:ext cx="9042057" cy="4803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pPr algn="just"/>
            <a:r>
              <a:rPr lang="en-IN" b="1" dirty="0">
                <a:latin typeface="Times New Roman" panose="02020603050405020304" pitchFamily="18" charset="0"/>
                <a:cs typeface="Times New Roman" panose="02020603050405020304" pitchFamily="18" charset="0"/>
              </a:rPr>
              <a:t>PO7:</a:t>
            </a:r>
            <a:r>
              <a:rPr lang="en-IN" dirty="0">
                <a:latin typeface="Times New Roman" panose="02020603050405020304" pitchFamily="18" charset="0"/>
                <a:cs typeface="Times New Roman" panose="02020603050405020304" pitchFamily="18" charset="0"/>
              </a:rPr>
              <a:t> Understand the impact of the professional engineering solutions in societal and environmental contexts, and demonstrate the knowledge of, and need for sustainable development.</a:t>
            </a:r>
          </a:p>
          <a:p>
            <a:pPr algn="just"/>
            <a:r>
              <a:rPr lang="en-IN" b="1" dirty="0">
                <a:latin typeface="Times New Roman" panose="02020603050405020304" pitchFamily="18" charset="0"/>
                <a:cs typeface="Times New Roman" panose="02020603050405020304" pitchFamily="18" charset="0"/>
              </a:rPr>
              <a:t>PO8:</a:t>
            </a:r>
            <a:r>
              <a:rPr lang="en-IN" dirty="0">
                <a:latin typeface="Times New Roman" panose="02020603050405020304" pitchFamily="18" charset="0"/>
                <a:cs typeface="Times New Roman" panose="02020603050405020304" pitchFamily="18" charset="0"/>
              </a:rPr>
              <a:t> Apply ethical principles and commit to professional ethics and responsibilities and norms of the engineering practice.</a:t>
            </a:r>
          </a:p>
          <a:p>
            <a:pPr algn="just"/>
            <a:r>
              <a:rPr lang="en-IN" b="1" dirty="0">
                <a:latin typeface="Times New Roman" panose="02020603050405020304" pitchFamily="18" charset="0"/>
                <a:cs typeface="Times New Roman" panose="02020603050405020304" pitchFamily="18" charset="0"/>
              </a:rPr>
              <a:t>PO9:</a:t>
            </a:r>
            <a:r>
              <a:rPr lang="en-IN" dirty="0">
                <a:latin typeface="Times New Roman" panose="02020603050405020304" pitchFamily="18" charset="0"/>
                <a:cs typeface="Times New Roman" panose="02020603050405020304" pitchFamily="18" charset="0"/>
              </a:rPr>
              <a:t> Function effectively as an individual, and as a member or leader in diverse teams, and in multidisciplinary settings.</a:t>
            </a:r>
          </a:p>
          <a:p>
            <a:pPr algn="just"/>
            <a:r>
              <a:rPr lang="en-IN" b="1" dirty="0">
                <a:latin typeface="Times New Roman" panose="02020603050405020304" pitchFamily="18" charset="0"/>
                <a:cs typeface="Times New Roman" panose="02020603050405020304" pitchFamily="18" charset="0"/>
              </a:rPr>
              <a:t>PO10:</a:t>
            </a:r>
            <a:r>
              <a:rPr lang="en-IN" dirty="0">
                <a:latin typeface="Times New Roman" panose="02020603050405020304" pitchFamily="18" charset="0"/>
                <a:cs typeface="Times New Roman" panose="02020603050405020304" pitchFamily="18" charset="0"/>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algn="just"/>
            <a:r>
              <a:rPr lang="en-IN" b="1" dirty="0">
                <a:latin typeface="Times New Roman" panose="02020603050405020304" pitchFamily="18" charset="0"/>
                <a:cs typeface="Times New Roman" panose="02020603050405020304" pitchFamily="18" charset="0"/>
              </a:rPr>
              <a:t>PO11: </a:t>
            </a:r>
            <a:r>
              <a:rPr lang="en-IN" dirty="0">
                <a:latin typeface="Times New Roman" panose="02020603050405020304" pitchFamily="18" charset="0"/>
                <a:cs typeface="Times New Roman" panose="02020603050405020304" pitchFamily="18" charset="0"/>
              </a:rPr>
              <a:t>Project Management and Finance: Demonstrate knowledge and understanding of the engineering and management principles and apply these to one's own work, as a member and leader in a team, to manage projects and in multidisciplinary environments.</a:t>
            </a:r>
          </a:p>
          <a:p>
            <a:pPr algn="just"/>
            <a:r>
              <a:rPr lang="en-IN" b="1" dirty="0">
                <a:latin typeface="Times New Roman" panose="02020603050405020304" pitchFamily="18" charset="0"/>
                <a:cs typeface="Times New Roman" panose="02020603050405020304" pitchFamily="18" charset="0"/>
              </a:rPr>
              <a:t>PO12: </a:t>
            </a:r>
            <a:r>
              <a:rPr lang="en-IN" dirty="0">
                <a:latin typeface="Times New Roman" panose="02020603050405020304" pitchFamily="18" charset="0"/>
                <a:cs typeface="Times New Roman" panose="02020603050405020304" pitchFamily="18" charset="0"/>
              </a:rPr>
              <a:t>Life-long Learning: Recognize the need for, and have the preparation and ability to engage in independent and lifelong learning in the broadest context of technological change</a:t>
            </a:r>
            <a:r>
              <a:rPr lang="en-IN" dirty="0"/>
              <a:t>.</a:t>
            </a:r>
            <a:endParaRPr lang="en-IN" dirty="0">
              <a:latin typeface="Times New Roman" panose="02020603050405020304" pitchFamily="18" charset="0"/>
              <a:cs typeface="Times New Roman" panose="02020603050405020304" pitchFamily="18" charset="0"/>
            </a:endParaRPr>
          </a:p>
          <a:p>
            <a:pPr algn="just" fontAlgn="ct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76352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C5F18-09CA-AB5E-7E18-D4CFCD0CD124}"/>
            </a:ext>
          </a:extLst>
        </p:cNvPr>
        <p:cNvGrpSpPr/>
        <p:nvPr/>
      </p:nvGrpSpPr>
      <p:grpSpPr>
        <a:xfrm>
          <a:off x="0" y="0"/>
          <a:ext cx="0" cy="0"/>
          <a:chOff x="0" y="0"/>
          <a:chExt cx="0" cy="0"/>
        </a:xfrm>
      </p:grpSpPr>
      <p:sp>
        <p:nvSpPr>
          <p:cNvPr id="22530" name="Text Box 1">
            <a:extLst>
              <a:ext uri="{FF2B5EF4-FFF2-40B4-BE49-F238E27FC236}">
                <a16:creationId xmlns:a16="http://schemas.microsoft.com/office/drawing/2014/main" id="{0324E3CC-DE99-A262-C8F1-33313A4BA1B2}"/>
              </a:ext>
            </a:extLst>
          </p:cNvPr>
          <p:cNvSpPr txBox="1">
            <a:spLocks noChangeArrowheads="1"/>
          </p:cNvSpPr>
          <p:nvPr/>
        </p:nvSpPr>
        <p:spPr bwMode="auto">
          <a:xfrm>
            <a:off x="1981199" y="620768"/>
            <a:ext cx="928085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a:buSzPct val="100000"/>
            </a:pPr>
            <a:r>
              <a:rPr lang="en-US" altLang="en-US" sz="4800" dirty="0">
                <a:solidFill>
                  <a:srgbClr val="C00000"/>
                </a:solidFill>
                <a:latin typeface="Times New Roman" panose="02020603050405020304" pitchFamily="18" charset="0"/>
                <a:cs typeface="Times New Roman" panose="02020603050405020304" pitchFamily="18" charset="0"/>
              </a:rPr>
              <a:t>Program-Specific Outcomes (PSOs)</a:t>
            </a:r>
          </a:p>
        </p:txBody>
      </p:sp>
      <p:sp>
        <p:nvSpPr>
          <p:cNvPr id="22531" name="Line 2">
            <a:extLst>
              <a:ext uri="{FF2B5EF4-FFF2-40B4-BE49-F238E27FC236}">
                <a16:creationId xmlns:a16="http://schemas.microsoft.com/office/drawing/2014/main" id="{D4B89E3C-14DC-A8B8-BA13-A800503ADE8B}"/>
              </a:ext>
            </a:extLst>
          </p:cNvPr>
          <p:cNvSpPr>
            <a:spLocks noChangeShapeType="1"/>
          </p:cNvSpPr>
          <p:nvPr/>
        </p:nvSpPr>
        <p:spPr bwMode="auto">
          <a:xfrm flipV="1">
            <a:off x="2107197" y="1763768"/>
            <a:ext cx="9042056" cy="64483"/>
          </a:xfrm>
          <a:prstGeom prst="line">
            <a:avLst/>
          </a:prstGeom>
          <a:noFill/>
          <a:ln w="38160">
            <a:solidFill>
              <a:srgbClr val="F79646"/>
            </a:solidFill>
            <a:miter lim="800000"/>
            <a:headEnd/>
            <a:tailEnd/>
          </a:ln>
          <a:effectLst>
            <a:outerShdw dist="23040" dir="5400000" algn="ctr" rotWithShape="0">
              <a:srgbClr val="000000">
                <a:alpha val="35036"/>
              </a:srgbClr>
            </a:outerShdw>
          </a:effectLst>
          <a:extLst>
            <a:ext uri="{909E8E84-426E-40DD-AFC4-6F175D3DCCD1}">
              <a14:hiddenFill xmlns:a14="http://schemas.microsoft.com/office/drawing/2010/main">
                <a:noFill/>
              </a14:hiddenFill>
            </a:ext>
          </a:extLst>
        </p:spPr>
        <p:txBody>
          <a:bodyPr/>
          <a:lstStyle/>
          <a:p>
            <a:endParaRPr lang="en-IN"/>
          </a:p>
        </p:txBody>
      </p:sp>
      <p:sp>
        <p:nvSpPr>
          <p:cNvPr id="2" name="TextBox 1">
            <a:extLst>
              <a:ext uri="{FF2B5EF4-FFF2-40B4-BE49-F238E27FC236}">
                <a16:creationId xmlns:a16="http://schemas.microsoft.com/office/drawing/2014/main" id="{B62579E1-D88C-E401-B718-95699519C8DF}"/>
              </a:ext>
            </a:extLst>
          </p:cNvPr>
          <p:cNvSpPr txBox="1"/>
          <p:nvPr/>
        </p:nvSpPr>
        <p:spPr>
          <a:xfrm>
            <a:off x="1440611" y="2053087"/>
            <a:ext cx="9821438" cy="3785652"/>
          </a:xfrm>
          <a:prstGeom prst="rect">
            <a:avLst/>
          </a:prstGeom>
          <a:noFill/>
        </p:spPr>
        <p:txBody>
          <a:bodyPr wrap="square" rtlCol="0">
            <a:spAutoFit/>
          </a:bodyPr>
          <a:lstStyle/>
          <a:p>
            <a:pPr algn="just"/>
            <a:r>
              <a:rPr lang="en-IN" sz="2000" b="1" dirty="0">
                <a:latin typeface="Times New Roman" panose="02020603050405020304" pitchFamily="18" charset="0"/>
                <a:cs typeface="Times New Roman" panose="02020603050405020304" pitchFamily="18" charset="0"/>
              </a:rPr>
              <a:t>PSO1: </a:t>
            </a:r>
            <a:r>
              <a:rPr lang="en-IN" sz="2000" dirty="0">
                <a:latin typeface="Times New Roman" panose="02020603050405020304" pitchFamily="18" charset="0"/>
                <a:cs typeface="Times New Roman" panose="02020603050405020304" pitchFamily="18" charset="0"/>
              </a:rPr>
              <a:t>Apply basic knowledge in the areas such as Software Engineering, Networking &amp; Security, Database Management Systems, Intelligent Systems, Operating Systems and System Architecture for building software products.</a:t>
            </a:r>
          </a:p>
          <a:p>
            <a:pPr algn="just"/>
            <a:endParaRPr lang="en-IN"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PSO2: </a:t>
            </a:r>
            <a:r>
              <a:rPr lang="en-IN" sz="2000" dirty="0">
                <a:latin typeface="Times New Roman" panose="02020603050405020304" pitchFamily="18" charset="0"/>
                <a:cs typeface="Times New Roman" panose="02020603050405020304" pitchFamily="18" charset="0"/>
              </a:rPr>
              <a:t>Attain the ability to design and develop software based systems, evaluate and recognize potential risks and provides creative, economical and optimal solutions.</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PSO3: </a:t>
            </a:r>
            <a:r>
              <a:rPr lang="en-IN" sz="2000" dirty="0">
                <a:latin typeface="Times New Roman" panose="02020603050405020304" pitchFamily="18" charset="0"/>
                <a:cs typeface="Times New Roman" panose="02020603050405020304" pitchFamily="18" charset="0"/>
              </a:rPr>
              <a:t>Provide effective and efficient real time solutions using attained knowledge in inter-disciplinary domains for societal benefits through projects.</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PSO4: </a:t>
            </a:r>
            <a:r>
              <a:rPr lang="en-IN" sz="2000" dirty="0">
                <a:latin typeface="Times New Roman" panose="02020603050405020304" pitchFamily="18" charset="0"/>
                <a:cs typeface="Times New Roman" panose="02020603050405020304" pitchFamily="18" charset="0"/>
              </a:rPr>
              <a:t>Ability to adapt future technologies through acquired skills and knowledge to ideate, design, test and deploy solutions for different business environments.</a:t>
            </a:r>
          </a:p>
        </p:txBody>
      </p:sp>
    </p:spTree>
    <p:extLst>
      <p:ext uri="{BB962C8B-B14F-4D97-AF65-F5344CB8AC3E}">
        <p14:creationId xmlns:p14="http://schemas.microsoft.com/office/powerpoint/2010/main" val="158381155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1"/>
          <p:cNvSpPr txBox="1">
            <a:spLocks noChangeArrowheads="1"/>
          </p:cNvSpPr>
          <p:nvPr/>
        </p:nvSpPr>
        <p:spPr bwMode="auto">
          <a:xfrm>
            <a:off x="1981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eaLnBrk="1" hangingPunct="1">
              <a:buSzPct val="100000"/>
            </a:pPr>
            <a:r>
              <a:rPr lang="en-US" altLang="en-US" sz="4800" dirty="0">
                <a:solidFill>
                  <a:srgbClr val="C00000"/>
                </a:solidFill>
                <a:latin typeface="Times New Roman" panose="02020603050405020304" pitchFamily="18" charset="0"/>
                <a:cs typeface="Times New Roman" panose="02020603050405020304" pitchFamily="18" charset="0"/>
              </a:rPr>
              <a:t>Course contents</a:t>
            </a:r>
          </a:p>
        </p:txBody>
      </p:sp>
      <p:sp>
        <p:nvSpPr>
          <p:cNvPr id="30723" name="Text Box 2"/>
          <p:cNvSpPr txBox="1">
            <a:spLocks noChangeArrowheads="1"/>
          </p:cNvSpPr>
          <p:nvPr/>
        </p:nvSpPr>
        <p:spPr bwMode="auto">
          <a:xfrm>
            <a:off x="697584" y="1508289"/>
            <a:ext cx="10291691" cy="4769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algn="just"/>
            <a:r>
              <a:rPr lang="en-IN" sz="2400" dirty="0">
                <a:solidFill>
                  <a:srgbClr val="FF0000"/>
                </a:solidFill>
                <a:latin typeface="Times New Roman" panose="02020603050405020304" pitchFamily="18" charset="0"/>
                <a:cs typeface="Times New Roman" panose="02020603050405020304" pitchFamily="18" charset="0"/>
              </a:rPr>
              <a:t>Unit I </a:t>
            </a:r>
          </a:p>
          <a:p>
            <a:pPr algn="just"/>
            <a:r>
              <a:rPr lang="en-IN" sz="2400" dirty="0">
                <a:latin typeface="Times New Roman" panose="02020603050405020304" pitchFamily="18" charset="0"/>
                <a:cs typeface="Times New Roman" panose="02020603050405020304" pitchFamily="18" charset="0"/>
              </a:rPr>
              <a:t>     Analysis of Algorithms and Complexity Measures : Time and Space Complexity, Complexity Analysis of Insertion Sort and Merge Sort, Analysis of Iterative Algorithms, Analysis of Recursive Algorithms: Substitution Method, Recursion Tree Method and Master Method Divide-and-Conquer Technique : Strassen’s Matrix Multiplication, Order Statistics: Quick select, kth Smallest and k-</a:t>
            </a:r>
            <a:r>
              <a:rPr lang="en-IN" sz="2400" dirty="0" err="1">
                <a:latin typeface="Times New Roman" panose="02020603050405020304" pitchFamily="18" charset="0"/>
                <a:cs typeface="Times New Roman" panose="02020603050405020304" pitchFamily="18" charset="0"/>
              </a:rPr>
              <a:t>th</a:t>
            </a:r>
            <a:r>
              <a:rPr lang="en-IN" sz="2400" dirty="0">
                <a:latin typeface="Times New Roman" panose="02020603050405020304" pitchFamily="18" charset="0"/>
                <a:cs typeface="Times New Roman" panose="02020603050405020304" pitchFamily="18" charset="0"/>
              </a:rPr>
              <a:t> Largest Element </a:t>
            </a:r>
          </a:p>
          <a:p>
            <a:pPr algn="just"/>
            <a:r>
              <a:rPr lang="en-IN" sz="2400" dirty="0">
                <a:solidFill>
                  <a:srgbClr val="FF0000"/>
                </a:solidFill>
                <a:latin typeface="Times New Roman" panose="02020603050405020304" pitchFamily="18" charset="0"/>
                <a:cs typeface="Times New Roman" panose="02020603050405020304" pitchFamily="18" charset="0"/>
              </a:rPr>
              <a:t>Unit II </a:t>
            </a:r>
          </a:p>
          <a:p>
            <a:pPr algn="just"/>
            <a:r>
              <a:rPr lang="en-IN" sz="2400" dirty="0">
                <a:latin typeface="Times New Roman" panose="02020603050405020304" pitchFamily="18" charset="0"/>
                <a:cs typeface="Times New Roman" panose="02020603050405020304" pitchFamily="18" charset="0"/>
              </a:rPr>
              <a:t>    String Matching Algorithms and Computational Geometry : Sequential Search and Brute-Force String Matching, Naive Pattern Matching, Rabin-Karp Algorithm, Knuth-Morris-Pratt Algorithm, Data Structures for String Processing: Trie (Prefix Tree), Computational Geometry: Closest-Pair Problem, Convex Hull </a:t>
            </a:r>
            <a:endParaRPr lang="en-US" altLang="en-US" sz="2400" dirty="0">
              <a:latin typeface="Times New Roman" panose="02020603050405020304" pitchFamily="18" charset="0"/>
              <a:cs typeface="Times New Roman" panose="02020603050405020304" pitchFamily="18" charset="0"/>
            </a:endParaRPr>
          </a:p>
        </p:txBody>
      </p:sp>
      <p:sp>
        <p:nvSpPr>
          <p:cNvPr id="30724" name="Line 3"/>
          <p:cNvSpPr>
            <a:spLocks noChangeShapeType="1"/>
          </p:cNvSpPr>
          <p:nvPr/>
        </p:nvSpPr>
        <p:spPr bwMode="auto">
          <a:xfrm>
            <a:off x="2135189" y="1268414"/>
            <a:ext cx="7056437" cy="1587"/>
          </a:xfrm>
          <a:prstGeom prst="line">
            <a:avLst/>
          </a:prstGeom>
          <a:noFill/>
          <a:ln w="38160">
            <a:solidFill>
              <a:srgbClr val="F79646"/>
            </a:solidFill>
            <a:miter lim="800000"/>
            <a:headEnd/>
            <a:tailEnd/>
          </a:ln>
          <a:effectLst>
            <a:outerShdw dist="23040" dir="5400000" algn="ctr" rotWithShape="0">
              <a:srgbClr val="000000">
                <a:alpha val="35036"/>
              </a:srgbClr>
            </a:outerShdw>
          </a:effectLst>
          <a:extLst>
            <a:ext uri="{909E8E84-426E-40DD-AFC4-6F175D3DCCD1}">
              <a14:hiddenFill xmlns:a14="http://schemas.microsoft.com/office/drawing/2010/main">
                <a:noFill/>
              </a14:hiddenFill>
            </a:ext>
          </a:extLst>
        </p:spPr>
        <p:txBody>
          <a:bodyPr/>
          <a:lstStyle/>
          <a:p>
            <a:endParaRPr lang="en-IN"/>
          </a:p>
        </p:txBody>
      </p:sp>
      <p:sp>
        <p:nvSpPr>
          <p:cNvPr id="5" name="Rectangle 4">
            <a:extLst>
              <a:ext uri="{FF2B5EF4-FFF2-40B4-BE49-F238E27FC236}">
                <a16:creationId xmlns:a16="http://schemas.microsoft.com/office/drawing/2014/main" id="{D70383CE-66B3-49D6-A737-C885797C4908}"/>
              </a:ext>
            </a:extLst>
          </p:cNvPr>
          <p:cNvSpPr/>
          <p:nvPr/>
        </p:nvSpPr>
        <p:spPr>
          <a:xfrm>
            <a:off x="2078568" y="431800"/>
            <a:ext cx="8106833" cy="46038"/>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p>
        </p:txBody>
      </p:sp>
      <p:pic>
        <p:nvPicPr>
          <p:cNvPr id="6" name="Picture 4">
            <a:extLst>
              <a:ext uri="{FF2B5EF4-FFF2-40B4-BE49-F238E27FC236}">
                <a16:creationId xmlns:a16="http://schemas.microsoft.com/office/drawing/2014/main" id="{A75A6FD3-E9D7-4EFF-9DEA-D1DDC04046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54734" y="177800"/>
            <a:ext cx="1547284"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A9486E07-92DC-42F1-A094-76E347B1D69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8084" y="177801"/>
            <a:ext cx="1581149"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069341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1"/>
          <p:cNvSpPr txBox="1">
            <a:spLocks noChangeArrowheads="1"/>
          </p:cNvSpPr>
          <p:nvPr/>
        </p:nvSpPr>
        <p:spPr bwMode="auto">
          <a:xfrm>
            <a:off x="1981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eaLnBrk="1" hangingPunct="1">
              <a:buSzPct val="100000"/>
            </a:pPr>
            <a:r>
              <a:rPr lang="en-US" altLang="en-US" sz="4800" dirty="0">
                <a:solidFill>
                  <a:srgbClr val="C00000"/>
                </a:solidFill>
                <a:latin typeface="Times New Roman" panose="02020603050405020304" pitchFamily="18" charset="0"/>
                <a:cs typeface="Times New Roman" panose="02020603050405020304" pitchFamily="18" charset="0"/>
              </a:rPr>
              <a:t>Course contents</a:t>
            </a:r>
          </a:p>
        </p:txBody>
      </p:sp>
      <p:sp>
        <p:nvSpPr>
          <p:cNvPr id="30723" name="Text Box 2"/>
          <p:cNvSpPr txBox="1">
            <a:spLocks noChangeArrowheads="1"/>
          </p:cNvSpPr>
          <p:nvPr/>
        </p:nvSpPr>
        <p:spPr bwMode="auto">
          <a:xfrm>
            <a:off x="697584" y="1508289"/>
            <a:ext cx="10291691" cy="4769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algn="just"/>
            <a:r>
              <a:rPr lang="en-IN" sz="2400" dirty="0">
                <a:solidFill>
                  <a:srgbClr val="FF0000"/>
                </a:solidFill>
                <a:latin typeface="Times New Roman" panose="02020603050405020304" pitchFamily="18" charset="0"/>
                <a:cs typeface="Times New Roman" panose="02020603050405020304" pitchFamily="18" charset="0"/>
              </a:rPr>
              <a:t>Unit III </a:t>
            </a:r>
          </a:p>
          <a:p>
            <a:pPr algn="just"/>
            <a:r>
              <a:rPr lang="en-IN" sz="2400" dirty="0">
                <a:latin typeface="Times New Roman" panose="02020603050405020304" pitchFamily="18" charset="0"/>
                <a:cs typeface="Times New Roman" panose="02020603050405020304" pitchFamily="18" charset="0"/>
              </a:rPr>
              <a:t>     Dynamic Programming : Introduction to Dynamic Programming, Computing a Binomial Coefficient, Memory Functions, Knapsack Problem, Matrix-Chain Multiplication, Longest Common Subsequence, Optimal Binary Search Trees </a:t>
            </a:r>
          </a:p>
          <a:p>
            <a:pPr algn="just"/>
            <a:r>
              <a:rPr lang="en-IN" sz="2400" dirty="0">
                <a:solidFill>
                  <a:srgbClr val="FF0000"/>
                </a:solidFill>
                <a:latin typeface="Times New Roman" panose="02020603050405020304" pitchFamily="18" charset="0"/>
                <a:cs typeface="Times New Roman" panose="02020603050405020304" pitchFamily="18" charset="0"/>
              </a:rPr>
              <a:t>Unit IV </a:t>
            </a:r>
          </a:p>
          <a:p>
            <a:pPr algn="just"/>
            <a:r>
              <a:rPr lang="en-IN" sz="2400" dirty="0">
                <a:latin typeface="Times New Roman" panose="02020603050405020304" pitchFamily="18" charset="0"/>
                <a:cs typeface="Times New Roman" panose="02020603050405020304" pitchFamily="18" charset="0"/>
              </a:rPr>
              <a:t>     Graph Algorithms and Network Optimization : Introduction to Graphs, Breadth-First Search (BFS), Depth-First Search (DFS), Topological Sort Greedy Technique : Introduction to Greedy approach, Knapsack Problem, Minimum Spanning Trees, Prim’s Algorithm, Kruskal’s Algorithm, Single-Source Shortest Paths, All-Pairs Shortest Paths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0724" name="Line 3"/>
          <p:cNvSpPr>
            <a:spLocks noChangeShapeType="1"/>
          </p:cNvSpPr>
          <p:nvPr/>
        </p:nvSpPr>
        <p:spPr bwMode="auto">
          <a:xfrm>
            <a:off x="2135189" y="1268414"/>
            <a:ext cx="7056437" cy="1587"/>
          </a:xfrm>
          <a:prstGeom prst="line">
            <a:avLst/>
          </a:prstGeom>
          <a:noFill/>
          <a:ln w="38160">
            <a:solidFill>
              <a:srgbClr val="F79646"/>
            </a:solidFill>
            <a:miter lim="800000"/>
            <a:headEnd/>
            <a:tailEnd/>
          </a:ln>
          <a:effectLst>
            <a:outerShdw dist="23040" dir="5400000" algn="ctr" rotWithShape="0">
              <a:srgbClr val="000000">
                <a:alpha val="35036"/>
              </a:srgbClr>
            </a:outerShdw>
          </a:effectLst>
          <a:extLst>
            <a:ext uri="{909E8E84-426E-40DD-AFC4-6F175D3DCCD1}">
              <a14:hiddenFill xmlns:a14="http://schemas.microsoft.com/office/drawing/2010/main">
                <a:noFill/>
              </a14:hiddenFill>
            </a:ext>
          </a:extLst>
        </p:spPr>
        <p:txBody>
          <a:bodyPr/>
          <a:lstStyle/>
          <a:p>
            <a:endParaRPr lang="en-IN"/>
          </a:p>
        </p:txBody>
      </p:sp>
      <p:sp>
        <p:nvSpPr>
          <p:cNvPr id="5" name="Rectangle 4">
            <a:extLst>
              <a:ext uri="{FF2B5EF4-FFF2-40B4-BE49-F238E27FC236}">
                <a16:creationId xmlns:a16="http://schemas.microsoft.com/office/drawing/2014/main" id="{D70383CE-66B3-49D6-A737-C885797C4908}"/>
              </a:ext>
            </a:extLst>
          </p:cNvPr>
          <p:cNvSpPr/>
          <p:nvPr/>
        </p:nvSpPr>
        <p:spPr>
          <a:xfrm>
            <a:off x="2078568" y="431800"/>
            <a:ext cx="8106833" cy="46038"/>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p>
        </p:txBody>
      </p:sp>
      <p:pic>
        <p:nvPicPr>
          <p:cNvPr id="6" name="Picture 4">
            <a:extLst>
              <a:ext uri="{FF2B5EF4-FFF2-40B4-BE49-F238E27FC236}">
                <a16:creationId xmlns:a16="http://schemas.microsoft.com/office/drawing/2014/main" id="{A75A6FD3-E9D7-4EFF-9DEA-D1DDC04046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54734" y="177800"/>
            <a:ext cx="1547284"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A9486E07-92DC-42F1-A094-76E347B1D69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8084" y="177801"/>
            <a:ext cx="1581149"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953846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A1CFD-C165-6CBE-273F-12A229163372}"/>
            </a:ext>
          </a:extLst>
        </p:cNvPr>
        <p:cNvGrpSpPr/>
        <p:nvPr/>
      </p:nvGrpSpPr>
      <p:grpSpPr>
        <a:xfrm>
          <a:off x="0" y="0"/>
          <a:ext cx="0" cy="0"/>
          <a:chOff x="0" y="0"/>
          <a:chExt cx="0" cy="0"/>
        </a:xfrm>
      </p:grpSpPr>
      <p:sp>
        <p:nvSpPr>
          <p:cNvPr id="30722" name="Text Box 1">
            <a:extLst>
              <a:ext uri="{FF2B5EF4-FFF2-40B4-BE49-F238E27FC236}">
                <a16:creationId xmlns:a16="http://schemas.microsoft.com/office/drawing/2014/main" id="{DB01A931-CCE7-FE99-1B47-CE9CAA203C2F}"/>
              </a:ext>
            </a:extLst>
          </p:cNvPr>
          <p:cNvSpPr txBox="1">
            <a:spLocks noChangeArrowheads="1"/>
          </p:cNvSpPr>
          <p:nvPr/>
        </p:nvSpPr>
        <p:spPr bwMode="auto">
          <a:xfrm>
            <a:off x="1981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eaLnBrk="1" hangingPunct="1">
              <a:buSzPct val="100000"/>
            </a:pPr>
            <a:r>
              <a:rPr lang="en-US" altLang="en-US" sz="4800" dirty="0">
                <a:solidFill>
                  <a:srgbClr val="C00000"/>
                </a:solidFill>
                <a:latin typeface="Times New Roman" panose="02020603050405020304" pitchFamily="18" charset="0"/>
                <a:cs typeface="Times New Roman" panose="02020603050405020304" pitchFamily="18" charset="0"/>
              </a:rPr>
              <a:t>Course contents</a:t>
            </a:r>
          </a:p>
        </p:txBody>
      </p:sp>
      <p:sp>
        <p:nvSpPr>
          <p:cNvPr id="30723" name="Text Box 2">
            <a:extLst>
              <a:ext uri="{FF2B5EF4-FFF2-40B4-BE49-F238E27FC236}">
                <a16:creationId xmlns:a16="http://schemas.microsoft.com/office/drawing/2014/main" id="{BF1F2B30-BDF3-65D1-F18D-98866AF9A7F9}"/>
              </a:ext>
            </a:extLst>
          </p:cNvPr>
          <p:cNvSpPr txBox="1">
            <a:spLocks noChangeArrowheads="1"/>
          </p:cNvSpPr>
          <p:nvPr/>
        </p:nvSpPr>
        <p:spPr bwMode="auto">
          <a:xfrm>
            <a:off x="697584" y="1508289"/>
            <a:ext cx="10291691" cy="4769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algn="just"/>
            <a:r>
              <a:rPr lang="en-IN" sz="2400" dirty="0">
                <a:solidFill>
                  <a:srgbClr val="FF0000"/>
                </a:solidFill>
                <a:latin typeface="Times New Roman" panose="02020603050405020304" pitchFamily="18" charset="0"/>
                <a:cs typeface="Times New Roman" panose="02020603050405020304" pitchFamily="18" charset="0"/>
              </a:rPr>
              <a:t>Unit V </a:t>
            </a:r>
          </a:p>
          <a:p>
            <a:pPr algn="just"/>
            <a:r>
              <a:rPr lang="en-IN" sz="2400" dirty="0">
                <a:latin typeface="Times New Roman" panose="02020603050405020304" pitchFamily="18" charset="0"/>
                <a:cs typeface="Times New Roman" panose="02020603050405020304" pitchFamily="18" charset="0"/>
              </a:rPr>
              <a:t>     Transform-and-Conquer Techniques : Balanced Search Trees, Counting Sort, Radix Sort, Bucket Sort Advanced Algorithmic Techniques : Monotonic Stack, Monotonic Queue, Two pointers Technique </a:t>
            </a:r>
          </a:p>
          <a:p>
            <a:pPr algn="just"/>
            <a:r>
              <a:rPr lang="en-IN" sz="2400" dirty="0">
                <a:solidFill>
                  <a:srgbClr val="FF0000"/>
                </a:solidFill>
                <a:latin typeface="Times New Roman" panose="02020603050405020304" pitchFamily="18" charset="0"/>
                <a:cs typeface="Times New Roman" panose="02020603050405020304" pitchFamily="18" charset="0"/>
              </a:rPr>
              <a:t>Unit VI </a:t>
            </a:r>
          </a:p>
          <a:p>
            <a:pPr algn="just"/>
            <a:r>
              <a:rPr lang="en-IN" sz="2400" dirty="0">
                <a:latin typeface="Times New Roman" panose="02020603050405020304" pitchFamily="18" charset="0"/>
                <a:cs typeface="Times New Roman" panose="02020603050405020304" pitchFamily="18" charset="0"/>
              </a:rPr>
              <a:t>    Backtracking, Approximation and Complexity Classes : n-Queens Problem, Hamiltonian Circuit, Subset-Sum Problem, Branch and Bound: Assignment Problem, Knapsack Problem, Traveling Salesman Problem, Approximation Algorithms: Vertex-Cover, Set-Covering, Bin Packing Problems, Complexity Classes: Concepts of P, NP, NP-Hard, NP-Complete Problems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0724" name="Line 3">
            <a:extLst>
              <a:ext uri="{FF2B5EF4-FFF2-40B4-BE49-F238E27FC236}">
                <a16:creationId xmlns:a16="http://schemas.microsoft.com/office/drawing/2014/main" id="{C5E87517-1BA2-F8A6-BDBD-7F93FCBA69C8}"/>
              </a:ext>
            </a:extLst>
          </p:cNvPr>
          <p:cNvSpPr>
            <a:spLocks noChangeShapeType="1"/>
          </p:cNvSpPr>
          <p:nvPr/>
        </p:nvSpPr>
        <p:spPr bwMode="auto">
          <a:xfrm>
            <a:off x="2135189" y="1268414"/>
            <a:ext cx="7056437" cy="1587"/>
          </a:xfrm>
          <a:prstGeom prst="line">
            <a:avLst/>
          </a:prstGeom>
          <a:noFill/>
          <a:ln w="38160">
            <a:solidFill>
              <a:srgbClr val="F79646"/>
            </a:solidFill>
            <a:miter lim="800000"/>
            <a:headEnd/>
            <a:tailEnd/>
          </a:ln>
          <a:effectLst>
            <a:outerShdw dist="23040" dir="5400000" algn="ctr" rotWithShape="0">
              <a:srgbClr val="000000">
                <a:alpha val="35036"/>
              </a:srgbClr>
            </a:outerShdw>
          </a:effectLst>
          <a:extLst>
            <a:ext uri="{909E8E84-426E-40DD-AFC4-6F175D3DCCD1}">
              <a14:hiddenFill xmlns:a14="http://schemas.microsoft.com/office/drawing/2010/main">
                <a:noFill/>
              </a14:hiddenFill>
            </a:ext>
          </a:extLst>
        </p:spPr>
        <p:txBody>
          <a:bodyPr/>
          <a:lstStyle/>
          <a:p>
            <a:endParaRPr lang="en-IN"/>
          </a:p>
        </p:txBody>
      </p:sp>
      <p:sp>
        <p:nvSpPr>
          <p:cNvPr id="5" name="Rectangle 4">
            <a:extLst>
              <a:ext uri="{FF2B5EF4-FFF2-40B4-BE49-F238E27FC236}">
                <a16:creationId xmlns:a16="http://schemas.microsoft.com/office/drawing/2014/main" id="{6AB243DC-13BF-05B1-46AA-AFD1D9951069}"/>
              </a:ext>
            </a:extLst>
          </p:cNvPr>
          <p:cNvSpPr/>
          <p:nvPr/>
        </p:nvSpPr>
        <p:spPr>
          <a:xfrm>
            <a:off x="2078568" y="431800"/>
            <a:ext cx="8106833" cy="46038"/>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p>
        </p:txBody>
      </p:sp>
      <p:pic>
        <p:nvPicPr>
          <p:cNvPr id="6" name="Picture 4">
            <a:extLst>
              <a:ext uri="{FF2B5EF4-FFF2-40B4-BE49-F238E27FC236}">
                <a16:creationId xmlns:a16="http://schemas.microsoft.com/office/drawing/2014/main" id="{5170C08F-F9AE-01B0-5F9A-1F066CC1580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54734" y="177800"/>
            <a:ext cx="1547284"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ACBEADE2-FC47-835F-14B9-8E75AC8882B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8084" y="177801"/>
            <a:ext cx="1581149"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0492961"/>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1"/>
          <p:cNvSpPr txBox="1">
            <a:spLocks noChangeArrowheads="1"/>
          </p:cNvSpPr>
          <p:nvPr/>
        </p:nvSpPr>
        <p:spPr bwMode="auto">
          <a:xfrm>
            <a:off x="1981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eaLnBrk="1" hangingPunct="1">
              <a:buSzPct val="100000"/>
            </a:pPr>
            <a:r>
              <a:rPr lang="en-US" altLang="en-US" sz="4800" dirty="0">
                <a:solidFill>
                  <a:srgbClr val="C00000"/>
                </a:solidFill>
                <a:latin typeface="Times New Roman" panose="02020603050405020304" pitchFamily="18" charset="0"/>
                <a:cs typeface="Times New Roman" panose="02020603050405020304" pitchFamily="18" charset="0"/>
              </a:rPr>
              <a:t>List of Practical</a:t>
            </a:r>
          </a:p>
        </p:txBody>
      </p:sp>
      <p:sp>
        <p:nvSpPr>
          <p:cNvPr id="30723" name="Text Box 2"/>
          <p:cNvSpPr txBox="1">
            <a:spLocks noChangeArrowheads="1"/>
          </p:cNvSpPr>
          <p:nvPr/>
        </p:nvSpPr>
        <p:spPr bwMode="auto">
          <a:xfrm>
            <a:off x="1000896" y="1554594"/>
            <a:ext cx="9741243" cy="5068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marL="0" lvl="0" indent="0" algn="just">
              <a:lnSpc>
                <a:spcPct val="150000"/>
              </a:lnSpc>
            </a:pPr>
            <a:r>
              <a:rPr lang="en-IN" sz="2000" dirty="0">
                <a:latin typeface="Times New Roman" panose="02020603050405020304" pitchFamily="18" charset="0"/>
                <a:cs typeface="Times New Roman" panose="02020603050405020304" pitchFamily="18" charset="0"/>
              </a:rPr>
              <a:t>1. Implement Insertion Sort algorithm and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its time complexity. </a:t>
            </a:r>
          </a:p>
          <a:p>
            <a:pPr marL="0" lvl="0" indent="0" algn="just">
              <a:lnSpc>
                <a:spcPct val="150000"/>
              </a:lnSpc>
            </a:pPr>
            <a:r>
              <a:rPr lang="en-IN" sz="2000" dirty="0">
                <a:latin typeface="Times New Roman" panose="02020603050405020304" pitchFamily="18" charset="0"/>
                <a:cs typeface="Times New Roman" panose="02020603050405020304" pitchFamily="18" charset="0"/>
              </a:rPr>
              <a:t>2. Implement Merge Sort algorithm and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its time complexity. </a:t>
            </a:r>
          </a:p>
          <a:p>
            <a:pPr marL="0" lvl="0" indent="0" algn="just">
              <a:lnSpc>
                <a:spcPct val="150000"/>
              </a:lnSpc>
            </a:pPr>
            <a:r>
              <a:rPr lang="en-IN" sz="2000" dirty="0">
                <a:latin typeface="Times New Roman" panose="02020603050405020304" pitchFamily="18" charset="0"/>
                <a:cs typeface="Times New Roman" panose="02020603050405020304" pitchFamily="18" charset="0"/>
              </a:rPr>
              <a:t>3. Implement Strassen's Matrix Multiplication algorithm. </a:t>
            </a:r>
          </a:p>
          <a:p>
            <a:pPr marL="0" lvl="0" indent="0" algn="just">
              <a:lnSpc>
                <a:spcPct val="150000"/>
              </a:lnSpc>
            </a:pPr>
            <a:r>
              <a:rPr lang="en-IN" sz="2000" dirty="0">
                <a:latin typeface="Times New Roman" panose="02020603050405020304" pitchFamily="18" charset="0"/>
                <a:cs typeface="Times New Roman" panose="02020603050405020304" pitchFamily="18" charset="0"/>
              </a:rPr>
              <a:t>4. Implement the Quick Select algorithm to find the k-</a:t>
            </a:r>
            <a:r>
              <a:rPr lang="en-IN" sz="2000" dirty="0" err="1">
                <a:latin typeface="Times New Roman" panose="02020603050405020304" pitchFamily="18" charset="0"/>
                <a:cs typeface="Times New Roman" panose="02020603050405020304" pitchFamily="18" charset="0"/>
              </a:rPr>
              <a:t>th</a:t>
            </a:r>
            <a:r>
              <a:rPr lang="en-IN" sz="2000" dirty="0">
                <a:latin typeface="Times New Roman" panose="02020603050405020304" pitchFamily="18" charset="0"/>
                <a:cs typeface="Times New Roman" panose="02020603050405020304" pitchFamily="18" charset="0"/>
              </a:rPr>
              <a:t> smallest and k-</a:t>
            </a:r>
            <a:r>
              <a:rPr lang="en-IN" sz="2000" dirty="0" err="1">
                <a:latin typeface="Times New Roman" panose="02020603050405020304" pitchFamily="18" charset="0"/>
                <a:cs typeface="Times New Roman" panose="02020603050405020304" pitchFamily="18" charset="0"/>
              </a:rPr>
              <a:t>th</a:t>
            </a:r>
            <a:r>
              <a:rPr lang="en-IN" sz="2000" dirty="0">
                <a:latin typeface="Times New Roman" panose="02020603050405020304" pitchFamily="18" charset="0"/>
                <a:cs typeface="Times New Roman" panose="02020603050405020304" pitchFamily="18" charset="0"/>
              </a:rPr>
              <a:t> largest element. . </a:t>
            </a:r>
          </a:p>
          <a:p>
            <a:pPr marL="0" lvl="0" indent="0" algn="just">
              <a:lnSpc>
                <a:spcPct val="150000"/>
              </a:lnSpc>
            </a:pPr>
            <a:r>
              <a:rPr lang="en-IN" sz="2000" dirty="0">
                <a:latin typeface="Times New Roman" panose="02020603050405020304" pitchFamily="18" charset="0"/>
                <a:cs typeface="Times New Roman" panose="02020603050405020304" pitchFamily="18" charset="0"/>
              </a:rPr>
              <a:t>5. Implement the Naïve String Matching algorithm. </a:t>
            </a:r>
          </a:p>
          <a:p>
            <a:pPr marL="0" lvl="0" indent="0" algn="just">
              <a:lnSpc>
                <a:spcPct val="150000"/>
              </a:lnSpc>
            </a:pPr>
            <a:r>
              <a:rPr lang="en-IN" sz="2000" dirty="0">
                <a:latin typeface="Times New Roman" panose="02020603050405020304" pitchFamily="18" charset="0"/>
                <a:cs typeface="Times New Roman" panose="02020603050405020304" pitchFamily="18" charset="0"/>
              </a:rPr>
              <a:t>6. Implement the Rabin-Karp algorithm for string matching using hashing. </a:t>
            </a:r>
          </a:p>
          <a:p>
            <a:pPr marL="0" lvl="0" indent="0" algn="just">
              <a:lnSpc>
                <a:spcPct val="150000"/>
              </a:lnSpc>
            </a:pPr>
            <a:r>
              <a:rPr lang="en-IN" sz="2000" dirty="0">
                <a:latin typeface="Times New Roman" panose="02020603050405020304" pitchFamily="18" charset="0"/>
                <a:cs typeface="Times New Roman" panose="02020603050405020304" pitchFamily="18" charset="0"/>
              </a:rPr>
              <a:t>7. Implement the Knuth-Morris-Pratt (KMP) algorithm for efficient string matching. </a:t>
            </a:r>
          </a:p>
          <a:p>
            <a:pPr marL="0" lvl="0" indent="0" algn="just">
              <a:lnSpc>
                <a:spcPct val="150000"/>
              </a:lnSpc>
            </a:pPr>
            <a:r>
              <a:rPr lang="en-IN" sz="2000" dirty="0">
                <a:latin typeface="Times New Roman" panose="02020603050405020304" pitchFamily="18" charset="0"/>
                <a:cs typeface="Times New Roman" panose="02020603050405020304" pitchFamily="18" charset="0"/>
              </a:rPr>
              <a:t>8. Implement a Trie (Prefix Tree) for insertion and searching of strings. </a:t>
            </a:r>
          </a:p>
          <a:p>
            <a:pPr marL="0" lvl="0" indent="0" algn="just">
              <a:lnSpc>
                <a:spcPct val="150000"/>
              </a:lnSpc>
            </a:pPr>
            <a:r>
              <a:rPr lang="en-IN" sz="2000" dirty="0">
                <a:latin typeface="Times New Roman" panose="02020603050405020304" pitchFamily="18" charset="0"/>
                <a:cs typeface="Times New Roman" panose="02020603050405020304" pitchFamily="18" charset="0"/>
              </a:rPr>
              <a:t>9. Implement the Convex Hull algorithm using Graham Scan </a:t>
            </a:r>
          </a:p>
          <a:p>
            <a:pPr marL="0" lvl="0" indent="0" algn="just">
              <a:lnSpc>
                <a:spcPct val="150000"/>
              </a:lnSpc>
            </a:pPr>
            <a:r>
              <a:rPr lang="en-IN" sz="2000" dirty="0">
                <a:latin typeface="Times New Roman" panose="02020603050405020304" pitchFamily="18" charset="0"/>
                <a:cs typeface="Times New Roman" panose="02020603050405020304" pitchFamily="18" charset="0"/>
              </a:rPr>
              <a:t>10. Implement the Longest Common Subsequence (LCS) algorithm using Dynamic Programming. </a:t>
            </a:r>
          </a:p>
          <a:p>
            <a:pPr marL="342900" lvl="0" indent="-342900" algn="just">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
        <p:nvSpPr>
          <p:cNvPr id="30724" name="Line 3"/>
          <p:cNvSpPr>
            <a:spLocks noChangeShapeType="1"/>
          </p:cNvSpPr>
          <p:nvPr/>
        </p:nvSpPr>
        <p:spPr bwMode="auto">
          <a:xfrm>
            <a:off x="2135189" y="1268414"/>
            <a:ext cx="7056437" cy="1587"/>
          </a:xfrm>
          <a:prstGeom prst="line">
            <a:avLst/>
          </a:prstGeom>
          <a:noFill/>
          <a:ln w="38160">
            <a:solidFill>
              <a:srgbClr val="F79646"/>
            </a:solidFill>
            <a:miter lim="800000"/>
            <a:headEnd/>
            <a:tailEnd/>
          </a:ln>
          <a:effectLst>
            <a:outerShdw dist="23040" dir="5400000" algn="ctr" rotWithShape="0">
              <a:srgbClr val="000000">
                <a:alpha val="35036"/>
              </a:srgbClr>
            </a:outerShdw>
          </a:effectLst>
          <a:extLst>
            <a:ext uri="{909E8E84-426E-40DD-AFC4-6F175D3DCCD1}">
              <a14:hiddenFill xmlns:a14="http://schemas.microsoft.com/office/drawing/2010/main">
                <a:noFill/>
              </a14:hiddenFill>
            </a:ext>
          </a:extLst>
        </p:spPr>
        <p:txBody>
          <a:bodyPr/>
          <a:lstStyle/>
          <a:p>
            <a:endParaRPr lang="en-IN"/>
          </a:p>
        </p:txBody>
      </p:sp>
      <p:sp>
        <p:nvSpPr>
          <p:cNvPr id="5" name="Rectangle 4">
            <a:extLst>
              <a:ext uri="{FF2B5EF4-FFF2-40B4-BE49-F238E27FC236}">
                <a16:creationId xmlns:a16="http://schemas.microsoft.com/office/drawing/2014/main" id="{D70383CE-66B3-49D6-A737-C885797C4908}"/>
              </a:ext>
            </a:extLst>
          </p:cNvPr>
          <p:cNvSpPr/>
          <p:nvPr/>
        </p:nvSpPr>
        <p:spPr>
          <a:xfrm>
            <a:off x="2078568" y="431800"/>
            <a:ext cx="8106833" cy="46038"/>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p>
        </p:txBody>
      </p:sp>
      <p:pic>
        <p:nvPicPr>
          <p:cNvPr id="6" name="Picture 4">
            <a:extLst>
              <a:ext uri="{FF2B5EF4-FFF2-40B4-BE49-F238E27FC236}">
                <a16:creationId xmlns:a16="http://schemas.microsoft.com/office/drawing/2014/main" id="{A75A6FD3-E9D7-4EFF-9DEA-D1DDC04046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54734" y="177800"/>
            <a:ext cx="1547284"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A9486E07-92DC-42F1-A094-76E347B1D69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8084" y="177801"/>
            <a:ext cx="1581149"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623828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97985-70D8-CAA2-53A1-56ABF1E96372}"/>
            </a:ext>
          </a:extLst>
        </p:cNvPr>
        <p:cNvGrpSpPr/>
        <p:nvPr/>
      </p:nvGrpSpPr>
      <p:grpSpPr>
        <a:xfrm>
          <a:off x="0" y="0"/>
          <a:ext cx="0" cy="0"/>
          <a:chOff x="0" y="0"/>
          <a:chExt cx="0" cy="0"/>
        </a:xfrm>
      </p:grpSpPr>
      <p:sp>
        <p:nvSpPr>
          <p:cNvPr id="30722" name="Text Box 1">
            <a:extLst>
              <a:ext uri="{FF2B5EF4-FFF2-40B4-BE49-F238E27FC236}">
                <a16:creationId xmlns:a16="http://schemas.microsoft.com/office/drawing/2014/main" id="{AC0964B0-9ADA-29F6-03F7-AE1BB116055F}"/>
              </a:ext>
            </a:extLst>
          </p:cNvPr>
          <p:cNvSpPr txBox="1">
            <a:spLocks noChangeArrowheads="1"/>
          </p:cNvSpPr>
          <p:nvPr/>
        </p:nvSpPr>
        <p:spPr bwMode="auto">
          <a:xfrm>
            <a:off x="1981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eaLnBrk="1" hangingPunct="1">
              <a:buSzPct val="100000"/>
            </a:pPr>
            <a:r>
              <a:rPr lang="en-US" altLang="en-US" sz="4800" dirty="0">
                <a:solidFill>
                  <a:srgbClr val="C00000"/>
                </a:solidFill>
                <a:latin typeface="Times New Roman" panose="02020603050405020304" pitchFamily="18" charset="0"/>
                <a:cs typeface="Times New Roman" panose="02020603050405020304" pitchFamily="18" charset="0"/>
              </a:rPr>
              <a:t>List of Practical</a:t>
            </a:r>
          </a:p>
        </p:txBody>
      </p:sp>
      <p:sp>
        <p:nvSpPr>
          <p:cNvPr id="30723" name="Text Box 2">
            <a:extLst>
              <a:ext uri="{FF2B5EF4-FFF2-40B4-BE49-F238E27FC236}">
                <a16:creationId xmlns:a16="http://schemas.microsoft.com/office/drawing/2014/main" id="{09A230EC-5D9C-9A47-0BE0-A173CE2BFE1A}"/>
              </a:ext>
            </a:extLst>
          </p:cNvPr>
          <p:cNvSpPr txBox="1">
            <a:spLocks noChangeArrowheads="1"/>
          </p:cNvSpPr>
          <p:nvPr/>
        </p:nvSpPr>
        <p:spPr bwMode="auto">
          <a:xfrm>
            <a:off x="1000896" y="1554594"/>
            <a:ext cx="10308334" cy="5068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marL="0" lvl="0" indent="0" algn="just">
              <a:lnSpc>
                <a:spcPct val="150000"/>
              </a:lnSpc>
            </a:pPr>
            <a:r>
              <a:rPr lang="en-IN" sz="2000" dirty="0">
                <a:latin typeface="Times New Roman" panose="02020603050405020304" pitchFamily="18" charset="0"/>
                <a:cs typeface="Times New Roman" panose="02020603050405020304" pitchFamily="18" charset="0"/>
              </a:rPr>
              <a:t>11. Implement Matrix Chain Multiplication using Dynamic Programming. </a:t>
            </a:r>
          </a:p>
          <a:p>
            <a:pPr marL="0" lvl="0" indent="0" algn="just">
              <a:lnSpc>
                <a:spcPct val="150000"/>
              </a:lnSpc>
            </a:pPr>
            <a:r>
              <a:rPr lang="en-IN" sz="2000" dirty="0">
                <a:latin typeface="Times New Roman" panose="02020603050405020304" pitchFamily="18" charset="0"/>
                <a:cs typeface="Times New Roman" panose="02020603050405020304" pitchFamily="18" charset="0"/>
              </a:rPr>
              <a:t>12. Implement the 0/1 Knapsack problem using Dynamic Programming. </a:t>
            </a:r>
          </a:p>
          <a:p>
            <a:pPr marL="0" lvl="0" indent="0" algn="just">
              <a:lnSpc>
                <a:spcPct val="150000"/>
              </a:lnSpc>
            </a:pPr>
            <a:r>
              <a:rPr lang="en-IN" sz="2000" dirty="0">
                <a:latin typeface="Times New Roman" panose="02020603050405020304" pitchFamily="18" charset="0"/>
                <a:cs typeface="Times New Roman" panose="02020603050405020304" pitchFamily="18" charset="0"/>
              </a:rPr>
              <a:t>13. Implement Breadth-First Search (BFS) and Depth-First Search (DFS) graph traversal algorithms </a:t>
            </a:r>
          </a:p>
          <a:p>
            <a:pPr marL="0" lvl="0" indent="0" algn="just">
              <a:lnSpc>
                <a:spcPct val="150000"/>
              </a:lnSpc>
            </a:pPr>
            <a:r>
              <a:rPr lang="en-IN" sz="2000" dirty="0">
                <a:latin typeface="Times New Roman" panose="02020603050405020304" pitchFamily="18" charset="0"/>
                <a:cs typeface="Times New Roman" panose="02020603050405020304" pitchFamily="18" charset="0"/>
              </a:rPr>
              <a:t>14. Implement Prim's algorithm to find the Minimum Spanning Tree of a weighted graph. </a:t>
            </a:r>
          </a:p>
          <a:p>
            <a:pPr marL="0" lvl="0" indent="0" algn="just">
              <a:lnSpc>
                <a:spcPct val="150000"/>
              </a:lnSpc>
            </a:pPr>
            <a:r>
              <a:rPr lang="en-IN" sz="2000" dirty="0">
                <a:latin typeface="Times New Roman" panose="02020603050405020304" pitchFamily="18" charset="0"/>
                <a:cs typeface="Times New Roman" panose="02020603050405020304" pitchFamily="18" charset="0"/>
              </a:rPr>
              <a:t>15. Implement Kruskal's algorithm to find the Minimum Spanning Tree of a weighted graph.</a:t>
            </a:r>
          </a:p>
          <a:p>
            <a:pPr marL="0" lvl="0" indent="0" algn="just">
              <a:lnSpc>
                <a:spcPct val="150000"/>
              </a:lnSpc>
            </a:pPr>
            <a:r>
              <a:rPr lang="en-IN" sz="2000" dirty="0">
                <a:latin typeface="Times New Roman" panose="02020603050405020304" pitchFamily="18" charset="0"/>
                <a:cs typeface="Times New Roman" panose="02020603050405020304" pitchFamily="18" charset="0"/>
              </a:rPr>
              <a:t>16. Implement Dijkstra's algorithm to find the Single-Source Shortest Path in a weighted graph </a:t>
            </a:r>
          </a:p>
          <a:p>
            <a:pPr marL="0" lvl="0" indent="0" algn="just">
              <a:lnSpc>
                <a:spcPct val="150000"/>
              </a:lnSpc>
            </a:pPr>
            <a:r>
              <a:rPr lang="en-IN" sz="2000" dirty="0">
                <a:latin typeface="Times New Roman" panose="02020603050405020304" pitchFamily="18" charset="0"/>
                <a:cs typeface="Times New Roman" panose="02020603050405020304" pitchFamily="18" charset="0"/>
              </a:rPr>
              <a:t>17. Implement the Largest Rectangle in Histogram problem using the Monotonic Stack technique. </a:t>
            </a:r>
          </a:p>
          <a:p>
            <a:pPr marL="0" lvl="0" indent="0" algn="just">
              <a:lnSpc>
                <a:spcPct val="150000"/>
              </a:lnSpc>
            </a:pPr>
            <a:r>
              <a:rPr lang="en-IN" sz="2000" dirty="0">
                <a:latin typeface="Times New Roman" panose="02020603050405020304" pitchFamily="18" charset="0"/>
                <a:cs typeface="Times New Roman" panose="02020603050405020304" pitchFamily="18" charset="0"/>
              </a:rPr>
              <a:t>18. Implement the Longest Palindromic Substring problem using the Two-Pointer technique.</a:t>
            </a:r>
          </a:p>
          <a:p>
            <a:pPr marL="0" lvl="0" indent="0" algn="just">
              <a:lnSpc>
                <a:spcPct val="150000"/>
              </a:lnSpc>
            </a:pPr>
            <a:r>
              <a:rPr lang="en-IN" sz="2000" dirty="0">
                <a:latin typeface="Times New Roman" panose="02020603050405020304" pitchFamily="18" charset="0"/>
                <a:cs typeface="Times New Roman" panose="02020603050405020304" pitchFamily="18" charset="0"/>
              </a:rPr>
              <a:t>19. Implement the N-Queens problem using the Backtracking technique. </a:t>
            </a:r>
          </a:p>
          <a:p>
            <a:pPr marL="0" lvl="0" indent="0" algn="just">
              <a:lnSpc>
                <a:spcPct val="150000"/>
              </a:lnSpc>
            </a:pPr>
            <a:r>
              <a:rPr lang="en-IN" sz="2000" dirty="0">
                <a:latin typeface="Times New Roman" panose="02020603050405020304" pitchFamily="18" charset="0"/>
                <a:cs typeface="Times New Roman" panose="02020603050405020304" pitchFamily="18" charset="0"/>
              </a:rPr>
              <a:t>20. Implement the Traveling Salesman Problem using the Branch and Bound technique. </a:t>
            </a:r>
          </a:p>
        </p:txBody>
      </p:sp>
      <p:sp>
        <p:nvSpPr>
          <p:cNvPr id="30724" name="Line 3">
            <a:extLst>
              <a:ext uri="{FF2B5EF4-FFF2-40B4-BE49-F238E27FC236}">
                <a16:creationId xmlns:a16="http://schemas.microsoft.com/office/drawing/2014/main" id="{CE028F2E-6A27-C754-7AF3-322F6DE6A5F3}"/>
              </a:ext>
            </a:extLst>
          </p:cNvPr>
          <p:cNvSpPr>
            <a:spLocks noChangeShapeType="1"/>
          </p:cNvSpPr>
          <p:nvPr/>
        </p:nvSpPr>
        <p:spPr bwMode="auto">
          <a:xfrm>
            <a:off x="2135189" y="1268414"/>
            <a:ext cx="7056437" cy="1587"/>
          </a:xfrm>
          <a:prstGeom prst="line">
            <a:avLst/>
          </a:prstGeom>
          <a:noFill/>
          <a:ln w="38160">
            <a:solidFill>
              <a:srgbClr val="F79646"/>
            </a:solidFill>
            <a:miter lim="800000"/>
            <a:headEnd/>
            <a:tailEnd/>
          </a:ln>
          <a:effectLst>
            <a:outerShdw dist="23040" dir="5400000" algn="ctr" rotWithShape="0">
              <a:srgbClr val="000000">
                <a:alpha val="35036"/>
              </a:srgbClr>
            </a:outerShdw>
          </a:effectLst>
          <a:extLst>
            <a:ext uri="{909E8E84-426E-40DD-AFC4-6F175D3DCCD1}">
              <a14:hiddenFill xmlns:a14="http://schemas.microsoft.com/office/drawing/2010/main">
                <a:noFill/>
              </a14:hiddenFill>
            </a:ext>
          </a:extLst>
        </p:spPr>
        <p:txBody>
          <a:bodyPr/>
          <a:lstStyle/>
          <a:p>
            <a:endParaRPr lang="en-IN"/>
          </a:p>
        </p:txBody>
      </p:sp>
      <p:sp>
        <p:nvSpPr>
          <p:cNvPr id="5" name="Rectangle 4">
            <a:extLst>
              <a:ext uri="{FF2B5EF4-FFF2-40B4-BE49-F238E27FC236}">
                <a16:creationId xmlns:a16="http://schemas.microsoft.com/office/drawing/2014/main" id="{B33F3B4C-E906-C841-69D0-38C6F0CF9DB0}"/>
              </a:ext>
            </a:extLst>
          </p:cNvPr>
          <p:cNvSpPr/>
          <p:nvPr/>
        </p:nvSpPr>
        <p:spPr>
          <a:xfrm>
            <a:off x="2078568" y="431800"/>
            <a:ext cx="8106833" cy="46038"/>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p>
        </p:txBody>
      </p:sp>
      <p:pic>
        <p:nvPicPr>
          <p:cNvPr id="6" name="Picture 4">
            <a:extLst>
              <a:ext uri="{FF2B5EF4-FFF2-40B4-BE49-F238E27FC236}">
                <a16:creationId xmlns:a16="http://schemas.microsoft.com/office/drawing/2014/main" id="{BD2C2CC8-549D-6F2F-F764-2C04283A3D7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54734" y="177800"/>
            <a:ext cx="1547284"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F9077A58-16DE-B13A-5B8B-42C42AE0F75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8084" y="177801"/>
            <a:ext cx="1581149"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8689694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00DAA-D5BB-BDF4-962B-D9958FCDB3C3}"/>
            </a:ext>
          </a:extLst>
        </p:cNvPr>
        <p:cNvGrpSpPr/>
        <p:nvPr/>
      </p:nvGrpSpPr>
      <p:grpSpPr>
        <a:xfrm>
          <a:off x="0" y="0"/>
          <a:ext cx="0" cy="0"/>
          <a:chOff x="0" y="0"/>
          <a:chExt cx="0" cy="0"/>
        </a:xfrm>
      </p:grpSpPr>
      <p:sp>
        <p:nvSpPr>
          <p:cNvPr id="30722" name="Text Box 1">
            <a:extLst>
              <a:ext uri="{FF2B5EF4-FFF2-40B4-BE49-F238E27FC236}">
                <a16:creationId xmlns:a16="http://schemas.microsoft.com/office/drawing/2014/main" id="{BB2C365C-6F6C-27FE-D3E6-B61B0C711BEC}"/>
              </a:ext>
            </a:extLst>
          </p:cNvPr>
          <p:cNvSpPr txBox="1">
            <a:spLocks noChangeArrowheads="1"/>
          </p:cNvSpPr>
          <p:nvPr/>
        </p:nvSpPr>
        <p:spPr bwMode="auto">
          <a:xfrm>
            <a:off x="1981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a:buSzPct val="100000"/>
            </a:pPr>
            <a:r>
              <a:rPr lang="en-US" altLang="en-US" sz="4800" dirty="0">
                <a:solidFill>
                  <a:srgbClr val="C00000"/>
                </a:solidFill>
                <a:latin typeface="Times New Roman" panose="02020603050405020304" pitchFamily="18" charset="0"/>
                <a:cs typeface="Times New Roman" panose="02020603050405020304" pitchFamily="18" charset="0"/>
              </a:rPr>
              <a:t>Innovative </a:t>
            </a:r>
            <a:r>
              <a:rPr lang="en-IN" altLang="en-US" sz="4800" dirty="0">
                <a:solidFill>
                  <a:srgbClr val="C00000"/>
                </a:solidFill>
                <a:latin typeface="Times New Roman" panose="02020603050405020304" pitchFamily="18" charset="0"/>
                <a:cs typeface="Times New Roman" panose="02020603050405020304" pitchFamily="18" charset="0"/>
              </a:rPr>
              <a:t>P</a:t>
            </a:r>
            <a:r>
              <a:rPr lang="en-IN" sz="4800" dirty="0">
                <a:solidFill>
                  <a:srgbClr val="C00000"/>
                </a:solidFill>
                <a:latin typeface="Times New Roman" panose="02020603050405020304" pitchFamily="18" charset="0"/>
                <a:cs typeface="Times New Roman" panose="02020603050405020304" pitchFamily="18" charset="0"/>
              </a:rPr>
              <a:t>edagogies</a:t>
            </a:r>
            <a:endParaRPr lang="en-US" altLang="en-US" sz="4800" dirty="0">
              <a:solidFill>
                <a:srgbClr val="C00000"/>
              </a:solidFill>
              <a:latin typeface="Times New Roman" panose="02020603050405020304" pitchFamily="18" charset="0"/>
              <a:cs typeface="Times New Roman" panose="02020603050405020304" pitchFamily="18" charset="0"/>
            </a:endParaRPr>
          </a:p>
        </p:txBody>
      </p:sp>
      <p:sp>
        <p:nvSpPr>
          <p:cNvPr id="30723" name="Text Box 2">
            <a:extLst>
              <a:ext uri="{FF2B5EF4-FFF2-40B4-BE49-F238E27FC236}">
                <a16:creationId xmlns:a16="http://schemas.microsoft.com/office/drawing/2014/main" id="{D32D1B5B-9BA6-6840-0482-9B13759C7BB0}"/>
              </a:ext>
            </a:extLst>
          </p:cNvPr>
          <p:cNvSpPr txBox="1">
            <a:spLocks noChangeArrowheads="1"/>
          </p:cNvSpPr>
          <p:nvPr/>
        </p:nvSpPr>
        <p:spPr bwMode="auto">
          <a:xfrm>
            <a:off x="1000896" y="1554594"/>
            <a:ext cx="9741243" cy="5068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marL="342900" indent="-342900" algn="just">
              <a:buFont typeface="Arial" pitchFamily="34" charset="0"/>
              <a:buChar char="•"/>
            </a:pPr>
            <a:endParaRPr lang="en-IN" sz="2400" dirty="0"/>
          </a:p>
        </p:txBody>
      </p:sp>
      <p:sp>
        <p:nvSpPr>
          <p:cNvPr id="30724" name="Line 3">
            <a:extLst>
              <a:ext uri="{FF2B5EF4-FFF2-40B4-BE49-F238E27FC236}">
                <a16:creationId xmlns:a16="http://schemas.microsoft.com/office/drawing/2014/main" id="{05FB9557-9302-BD56-4568-7A30800867FA}"/>
              </a:ext>
            </a:extLst>
          </p:cNvPr>
          <p:cNvSpPr>
            <a:spLocks noChangeShapeType="1"/>
          </p:cNvSpPr>
          <p:nvPr/>
        </p:nvSpPr>
        <p:spPr bwMode="auto">
          <a:xfrm>
            <a:off x="2135189" y="1268414"/>
            <a:ext cx="7056437" cy="1587"/>
          </a:xfrm>
          <a:prstGeom prst="line">
            <a:avLst/>
          </a:prstGeom>
          <a:noFill/>
          <a:ln w="38160">
            <a:solidFill>
              <a:srgbClr val="F79646"/>
            </a:solidFill>
            <a:miter lim="800000"/>
            <a:headEnd/>
            <a:tailEnd/>
          </a:ln>
          <a:effectLst>
            <a:outerShdw dist="23040" dir="5400000" algn="ctr" rotWithShape="0">
              <a:srgbClr val="000000">
                <a:alpha val="35036"/>
              </a:srgbClr>
            </a:outerShdw>
          </a:effectLst>
          <a:extLst>
            <a:ext uri="{909E8E84-426E-40DD-AFC4-6F175D3DCCD1}">
              <a14:hiddenFill xmlns:a14="http://schemas.microsoft.com/office/drawing/2010/main">
                <a:noFill/>
              </a14:hiddenFill>
            </a:ext>
          </a:extLst>
        </p:spPr>
        <p:txBody>
          <a:bodyPr/>
          <a:lstStyle/>
          <a:p>
            <a:endParaRPr lang="en-IN"/>
          </a:p>
        </p:txBody>
      </p:sp>
      <p:sp>
        <p:nvSpPr>
          <p:cNvPr id="5" name="Rectangle 4">
            <a:extLst>
              <a:ext uri="{FF2B5EF4-FFF2-40B4-BE49-F238E27FC236}">
                <a16:creationId xmlns:a16="http://schemas.microsoft.com/office/drawing/2014/main" id="{D418EE07-C5A6-97CB-EF2C-F80E87565A52}"/>
              </a:ext>
            </a:extLst>
          </p:cNvPr>
          <p:cNvSpPr/>
          <p:nvPr/>
        </p:nvSpPr>
        <p:spPr>
          <a:xfrm>
            <a:off x="2078568" y="431800"/>
            <a:ext cx="8106833" cy="46038"/>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p>
        </p:txBody>
      </p:sp>
      <p:pic>
        <p:nvPicPr>
          <p:cNvPr id="6" name="Picture 4">
            <a:extLst>
              <a:ext uri="{FF2B5EF4-FFF2-40B4-BE49-F238E27FC236}">
                <a16:creationId xmlns:a16="http://schemas.microsoft.com/office/drawing/2014/main" id="{BEB16B43-BA41-2006-3443-9BACDF8D4F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54734" y="177800"/>
            <a:ext cx="1547284"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786D91F6-4AA8-6053-553E-E455246105C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8084" y="177801"/>
            <a:ext cx="1581149"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Content Placeholder 3">
            <a:extLst>
              <a:ext uri="{FF2B5EF4-FFF2-40B4-BE49-F238E27FC236}">
                <a16:creationId xmlns:a16="http://schemas.microsoft.com/office/drawing/2014/main" id="{50CE9225-33CB-D444-E183-E7D60F006E01}"/>
              </a:ext>
            </a:extLst>
          </p:cNvPr>
          <p:cNvGraphicFramePr>
            <a:graphicFrameLocks/>
          </p:cNvGraphicFramePr>
          <p:nvPr>
            <p:extLst>
              <p:ext uri="{D42A27DB-BD31-4B8C-83A1-F6EECF244321}">
                <p14:modId xmlns:p14="http://schemas.microsoft.com/office/powerpoint/2010/main" val="1694622788"/>
              </p:ext>
            </p:extLst>
          </p:nvPr>
        </p:nvGraphicFramePr>
        <p:xfrm>
          <a:off x="2304241" y="1810172"/>
          <a:ext cx="7667895" cy="4059528"/>
        </p:xfrm>
        <a:graphic>
          <a:graphicData uri="http://schemas.openxmlformats.org/drawingml/2006/table">
            <a:tbl>
              <a:tblPr/>
              <a:tblGrid>
                <a:gridCol w="2343976">
                  <a:extLst>
                    <a:ext uri="{9D8B030D-6E8A-4147-A177-3AD203B41FA5}">
                      <a16:colId xmlns:a16="http://schemas.microsoft.com/office/drawing/2014/main" val="56483108"/>
                    </a:ext>
                  </a:extLst>
                </a:gridCol>
                <a:gridCol w="5323919">
                  <a:extLst>
                    <a:ext uri="{9D8B030D-6E8A-4147-A177-3AD203B41FA5}">
                      <a16:colId xmlns:a16="http://schemas.microsoft.com/office/drawing/2014/main" val="1401713603"/>
                    </a:ext>
                  </a:extLst>
                </a:gridCol>
              </a:tblGrid>
              <a:tr h="401928">
                <a:tc>
                  <a:txBody>
                    <a:bodyPr/>
                    <a:lstStyle/>
                    <a:p>
                      <a:pPr algn="ctr">
                        <a:buNone/>
                      </a:pPr>
                      <a:r>
                        <a:rPr lang="en-IN" b="1"/>
                        <a:t>Pedagogy</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a:t>Implementation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8096446"/>
                  </a:ext>
                </a:extLst>
              </a:tr>
              <a:tr h="716481">
                <a:tc>
                  <a:txBody>
                    <a:bodyPr/>
                    <a:lstStyle/>
                    <a:p>
                      <a:pPr algn="ctr">
                        <a:buNone/>
                      </a:pPr>
                      <a:r>
                        <a:rPr lang="en-IN" b="1"/>
                        <a:t>Case-Based Learning</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t>Analysis of real-world applications such as Google Maps (Shortest Path), GPS Navigation, Huffman Coding, Scheduling, and Data Compression.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0333749"/>
                  </a:ext>
                </a:extLst>
              </a:tr>
              <a:tr h="716481">
                <a:tc>
                  <a:txBody>
                    <a:bodyPr/>
                    <a:lstStyle/>
                    <a:p>
                      <a:pPr algn="ctr">
                        <a:buNone/>
                      </a:pPr>
                      <a:r>
                        <a:rPr lang="en-IN" b="1"/>
                        <a:t>Hands-on Practical Learning</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t>Implementation of sorting, graph, greedy, dynamic programming, backtracking, and branch-and-bound algorithms using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0378472"/>
                  </a:ext>
                </a:extLst>
              </a:tr>
              <a:tr h="716481">
                <a:tc>
                  <a:txBody>
                    <a:bodyPr/>
                    <a:lstStyle/>
                    <a:p>
                      <a:pPr algn="ctr">
                        <a:buNone/>
                      </a:pPr>
                      <a:r>
                        <a:rPr lang="en-IN" b="1"/>
                        <a:t>Quizzes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t>Short quizzes on algorithm design techniques, recurrence relations, asymptotic analysis, and problem-solving strategies.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0876170"/>
                  </a:ext>
                </a:extLst>
              </a:tr>
              <a:tr h="716481">
                <a:tc>
                  <a:txBody>
                    <a:bodyPr/>
                    <a:lstStyle/>
                    <a:p>
                      <a:pPr algn="ctr">
                        <a:buNone/>
                      </a:pPr>
                      <a:r>
                        <a:rPr lang="en-IN" b="1"/>
                        <a:t>Multimedia Tools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t>Live demonstrations using algorithm visualizers (</a:t>
                      </a:r>
                      <a:r>
                        <a:rPr lang="en-IN" dirty="0" err="1"/>
                        <a:t>VisuAlgo</a:t>
                      </a:r>
                      <a:r>
                        <a:rPr lang="en-IN" dirty="0"/>
                        <a:t>, Algorithm Visualizer), animations, and interactive presentations.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0596541"/>
                  </a:ext>
                </a:extLst>
              </a:tr>
            </a:tbl>
          </a:graphicData>
        </a:graphic>
      </p:graphicFrame>
    </p:spTree>
    <p:extLst>
      <p:ext uri="{BB962C8B-B14F-4D97-AF65-F5344CB8AC3E}">
        <p14:creationId xmlns:p14="http://schemas.microsoft.com/office/powerpoint/2010/main" val="26913194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D494D517-8E7C-5F2E-8E0E-0F0B4D4B937F}"/>
              </a:ext>
            </a:extLst>
          </p:cNvPr>
          <p:cNvSpPr>
            <a:spLocks noGrp="1"/>
          </p:cNvSpPr>
          <p:nvPr>
            <p:ph type="title"/>
          </p:nvPr>
        </p:nvSpPr>
        <p:spPr/>
        <p:txBody>
          <a:bodyPr/>
          <a:lstStyle/>
          <a:p>
            <a:r>
              <a:rPr lang="en-IN" sz="3600" dirty="0">
                <a:solidFill>
                  <a:srgbClr val="C00000"/>
                </a:solidFill>
                <a:latin typeface="Times New Roman" panose="02020603050405020304" pitchFamily="18" charset="0"/>
                <a:cs typeface="Times New Roman" panose="02020603050405020304" pitchFamily="18" charset="0"/>
              </a:rPr>
              <a:t>Assessment &amp; Evaluation Framework</a:t>
            </a:r>
            <a:endParaRPr lang="en-IN" altLang="en-US" sz="36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FDEEAE-4AB5-B957-5F97-0F9CD7437BA5}"/>
              </a:ext>
            </a:extLst>
          </p:cNvPr>
          <p:cNvSpPr>
            <a:spLocks noGrp="1"/>
          </p:cNvSpPr>
          <p:nvPr>
            <p:ph idx="1"/>
          </p:nvPr>
        </p:nvSpPr>
        <p:spPr>
          <a:xfrm>
            <a:off x="1436688" y="1492256"/>
            <a:ext cx="8774113" cy="5091106"/>
          </a:xfrm>
          <a:ln>
            <a:miter lim="800000"/>
            <a:headEnd/>
            <a:tailEnd/>
          </a:ln>
        </p:spPr>
        <p:txBody>
          <a:bodyPr rtlCol="0">
            <a:normAutofit/>
          </a:bodyPr>
          <a:lstStyle/>
          <a:p>
            <a:pPr marL="0" indent="0">
              <a:buNone/>
              <a:defRPr/>
            </a:pPr>
            <a:r>
              <a:rPr lang="en-US" sz="4000" b="1" dirty="0">
                <a:solidFill>
                  <a:srgbClr val="002060"/>
                </a:solidFill>
                <a:latin typeface="Times New Roman" pitchFamily="18" charset="0"/>
                <a:cs typeface="Times New Roman" pitchFamily="18" charset="0"/>
              </a:rPr>
              <a:t> </a:t>
            </a:r>
            <a:r>
              <a:rPr lang="en-US" sz="2667" b="1" dirty="0">
                <a:solidFill>
                  <a:srgbClr val="002060"/>
                </a:solidFill>
                <a:latin typeface="Times New Roman" pitchFamily="18" charset="0"/>
                <a:cs typeface="Times New Roman" pitchFamily="18" charset="0"/>
              </a:rPr>
              <a:t>CSE226                                              Marks weightage</a:t>
            </a:r>
          </a:p>
          <a:p>
            <a:pPr>
              <a:defRPr/>
            </a:pPr>
            <a:r>
              <a:rPr lang="en-US" sz="2667" dirty="0">
                <a:solidFill>
                  <a:srgbClr val="C00000"/>
                </a:solidFill>
                <a:latin typeface="Times New Roman" pitchFamily="18" charset="0"/>
                <a:cs typeface="Times New Roman" pitchFamily="18" charset="0"/>
              </a:rPr>
              <a:t> Attendance				          05</a:t>
            </a:r>
          </a:p>
          <a:p>
            <a:pPr>
              <a:defRPr/>
            </a:pPr>
            <a:r>
              <a:rPr lang="en-IN" sz="2667" dirty="0">
                <a:solidFill>
                  <a:srgbClr val="C00000"/>
                </a:solidFill>
                <a:latin typeface="Times New Roman" pitchFamily="18" charset="0"/>
                <a:cs typeface="Times New Roman" pitchFamily="18" charset="0"/>
              </a:rPr>
              <a:t>Academic Task	(Total 3)		           25</a:t>
            </a:r>
          </a:p>
          <a:p>
            <a:pPr>
              <a:defRPr/>
            </a:pPr>
            <a:r>
              <a:rPr lang="en-US" sz="2667" dirty="0">
                <a:solidFill>
                  <a:srgbClr val="C00000"/>
                </a:solidFill>
                <a:latin typeface="Times New Roman" pitchFamily="18" charset="0"/>
                <a:cs typeface="Times New Roman" pitchFamily="18" charset="0"/>
              </a:rPr>
              <a:t>MTE  (MCQs)                                                 20</a:t>
            </a:r>
          </a:p>
          <a:p>
            <a:pPr>
              <a:defRPr/>
            </a:pPr>
            <a:r>
              <a:rPr lang="en-US" sz="2667" dirty="0">
                <a:solidFill>
                  <a:srgbClr val="C00000"/>
                </a:solidFill>
                <a:latin typeface="Times New Roman" pitchFamily="18" charset="0"/>
                <a:cs typeface="Times New Roman" pitchFamily="18" charset="0"/>
              </a:rPr>
              <a:t>ETT    (MCQs)                             		50</a:t>
            </a:r>
          </a:p>
          <a:p>
            <a:pPr>
              <a:defRPr/>
            </a:pPr>
            <a:endParaRPr lang="en-US" sz="2667" dirty="0">
              <a:solidFill>
                <a:srgbClr val="C00000"/>
              </a:solidFill>
              <a:latin typeface="Times New Roman" pitchFamily="18" charset="0"/>
              <a:cs typeface="Times New Roman" pitchFamily="18" charset="0"/>
            </a:endParaRPr>
          </a:p>
          <a:p>
            <a:pPr marL="0" indent="0">
              <a:buNone/>
              <a:defRPr/>
            </a:pPr>
            <a:endParaRPr lang="en-US" sz="2667" dirty="0">
              <a:solidFill>
                <a:srgbClr val="C00000"/>
              </a:solidFill>
              <a:latin typeface="Times New Roman" pitchFamily="18" charset="0"/>
              <a:cs typeface="Times New Roman" pitchFamily="18" charset="0"/>
            </a:endParaRPr>
          </a:p>
          <a:p>
            <a:pPr>
              <a:defRPr/>
            </a:pPr>
            <a:r>
              <a:rPr lang="en-US" sz="2667" b="1" dirty="0">
                <a:solidFill>
                  <a:srgbClr val="002060"/>
                </a:solidFill>
                <a:latin typeface="Times New Roman" pitchFamily="18" charset="0"/>
                <a:cs typeface="Times New Roman" pitchFamily="18" charset="0"/>
              </a:rPr>
              <a:t>Total					         100</a:t>
            </a:r>
          </a:p>
          <a:p>
            <a:pPr>
              <a:defRPr/>
            </a:pPr>
            <a:endParaRPr lang="en-IN" sz="2667" dirty="0">
              <a:solidFill>
                <a:srgbClr val="FF0000"/>
              </a:solidFill>
              <a:latin typeface="Time new roman"/>
            </a:endParaRPr>
          </a:p>
          <a:p>
            <a:pPr marL="0" indent="0">
              <a:buNone/>
              <a:defRPr/>
            </a:pPr>
            <a:endParaRPr lang="en-IN" dirty="0">
              <a:solidFill>
                <a:schemeClr val="accent6">
                  <a:lumMod val="75000"/>
                </a:schemeClr>
              </a:solidFill>
              <a:latin typeface="Times New Roman" pitchFamily="18" charset="0"/>
              <a:cs typeface="Times New Roman" pitchFamily="18" charset="0"/>
            </a:endParaRPr>
          </a:p>
        </p:txBody>
      </p:sp>
      <p:cxnSp>
        <p:nvCxnSpPr>
          <p:cNvPr id="4" name="Straight Connector 3">
            <a:extLst>
              <a:ext uri="{FF2B5EF4-FFF2-40B4-BE49-F238E27FC236}">
                <a16:creationId xmlns:a16="http://schemas.microsoft.com/office/drawing/2014/main" id="{BB3FAD7D-9AC4-6FB4-E071-337F816B6106}"/>
              </a:ext>
            </a:extLst>
          </p:cNvPr>
          <p:cNvCxnSpPr>
            <a:cxnSpLocks/>
          </p:cNvCxnSpPr>
          <p:nvPr/>
        </p:nvCxnSpPr>
        <p:spPr>
          <a:xfrm>
            <a:off x="644526" y="1377950"/>
            <a:ext cx="11345067"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5" name="Straight Connector 4">
            <a:extLst>
              <a:ext uri="{FF2B5EF4-FFF2-40B4-BE49-F238E27FC236}">
                <a16:creationId xmlns:a16="http://schemas.microsoft.com/office/drawing/2014/main" id="{F8C9FA85-3915-E76E-E980-1A6958F667EB}"/>
              </a:ext>
            </a:extLst>
          </p:cNvPr>
          <p:cNvCxnSpPr>
            <a:cxnSpLocks/>
          </p:cNvCxnSpPr>
          <p:nvPr/>
        </p:nvCxnSpPr>
        <p:spPr>
          <a:xfrm>
            <a:off x="1179363" y="4920468"/>
            <a:ext cx="8240682"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6" name="Straight Connector 5">
            <a:extLst>
              <a:ext uri="{FF2B5EF4-FFF2-40B4-BE49-F238E27FC236}">
                <a16:creationId xmlns:a16="http://schemas.microsoft.com/office/drawing/2014/main" id="{691ED84B-5839-6A8A-82AE-F87E7257B59E}"/>
              </a:ext>
            </a:extLst>
          </p:cNvPr>
          <p:cNvCxnSpPr>
            <a:cxnSpLocks/>
          </p:cNvCxnSpPr>
          <p:nvPr/>
        </p:nvCxnSpPr>
        <p:spPr>
          <a:xfrm>
            <a:off x="1239748" y="5637868"/>
            <a:ext cx="8180297" cy="0"/>
          </a:xfrm>
          <a:prstGeom prst="line">
            <a:avLst/>
          </a:prstGeom>
        </p:spPr>
        <p:style>
          <a:lnRef idx="3">
            <a:schemeClr val="accent6"/>
          </a:lnRef>
          <a:fillRef idx="0">
            <a:schemeClr val="accent6"/>
          </a:fillRef>
          <a:effectRef idx="2">
            <a:schemeClr val="accent6"/>
          </a:effectRef>
          <a:fontRef idx="minor">
            <a:schemeClr val="tx1"/>
          </a:fontRef>
        </p:style>
      </p:cxnSp>
      <p:pic>
        <p:nvPicPr>
          <p:cNvPr id="7" name="Picture 6">
            <a:extLst>
              <a:ext uri="{FF2B5EF4-FFF2-40B4-BE49-F238E27FC236}">
                <a16:creationId xmlns:a16="http://schemas.microsoft.com/office/drawing/2014/main" id="{2BB48B7C-2937-7A1B-EE95-3C28822DA167}"/>
              </a:ext>
            </a:extLst>
          </p:cNvPr>
          <p:cNvPicPr>
            <a:picLocks noChangeAspect="1"/>
          </p:cNvPicPr>
          <p:nvPr/>
        </p:nvPicPr>
        <p:blipFill>
          <a:blip r:embed="rId2"/>
          <a:stretch>
            <a:fillRect/>
          </a:stretch>
        </p:blipFill>
        <p:spPr>
          <a:xfrm>
            <a:off x="48699" y="163913"/>
            <a:ext cx="1579001" cy="506012"/>
          </a:xfrm>
          <a:prstGeom prst="rect">
            <a:avLst/>
          </a:prstGeom>
        </p:spPr>
      </p:pic>
      <p:pic>
        <p:nvPicPr>
          <p:cNvPr id="9" name="Picture 8">
            <a:extLst>
              <a:ext uri="{FF2B5EF4-FFF2-40B4-BE49-F238E27FC236}">
                <a16:creationId xmlns:a16="http://schemas.microsoft.com/office/drawing/2014/main" id="{5EC0152B-DB1F-2E4E-3543-DCDD7EEC9958}"/>
              </a:ext>
            </a:extLst>
          </p:cNvPr>
          <p:cNvPicPr>
            <a:picLocks noChangeAspect="1"/>
          </p:cNvPicPr>
          <p:nvPr/>
        </p:nvPicPr>
        <p:blipFill>
          <a:blip r:embed="rId3"/>
          <a:stretch>
            <a:fillRect/>
          </a:stretch>
        </p:blipFill>
        <p:spPr>
          <a:xfrm>
            <a:off x="10582589" y="54189"/>
            <a:ext cx="1542422" cy="420660"/>
          </a:xfrm>
          <a:prstGeom prst="rect">
            <a:avLst/>
          </a:prstGeom>
        </p:spPr>
      </p:pic>
    </p:spTree>
    <p:extLst>
      <p:ext uri="{BB962C8B-B14F-4D97-AF65-F5344CB8AC3E}">
        <p14:creationId xmlns:p14="http://schemas.microsoft.com/office/powerpoint/2010/main" val="467884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D863E-1D3C-9528-B298-C18B9695C871}"/>
            </a:ext>
          </a:extLst>
        </p:cNvPr>
        <p:cNvGrpSpPr/>
        <p:nvPr/>
      </p:nvGrpSpPr>
      <p:grpSpPr>
        <a:xfrm>
          <a:off x="0" y="0"/>
          <a:ext cx="0" cy="0"/>
          <a:chOff x="0" y="0"/>
          <a:chExt cx="0" cy="0"/>
        </a:xfrm>
      </p:grpSpPr>
      <p:sp>
        <p:nvSpPr>
          <p:cNvPr id="10242" name="Title 1">
            <a:extLst>
              <a:ext uri="{FF2B5EF4-FFF2-40B4-BE49-F238E27FC236}">
                <a16:creationId xmlns:a16="http://schemas.microsoft.com/office/drawing/2014/main" id="{4FE6F8D8-9646-AB03-B775-2F7F53E423D4}"/>
              </a:ext>
            </a:extLst>
          </p:cNvPr>
          <p:cNvSpPr>
            <a:spLocks noGrp="1"/>
          </p:cNvSpPr>
          <p:nvPr>
            <p:ph type="title"/>
          </p:nvPr>
        </p:nvSpPr>
        <p:spPr>
          <a:xfrm>
            <a:off x="838200" y="291801"/>
            <a:ext cx="10515600" cy="1325563"/>
          </a:xfrm>
        </p:spPr>
        <p:txBody>
          <a:bodyPr/>
          <a:lstStyle/>
          <a:p>
            <a:r>
              <a:rPr lang="en-IN" sz="3600" dirty="0">
                <a:solidFill>
                  <a:srgbClr val="C00000"/>
                </a:solidFill>
                <a:latin typeface="Times New Roman" panose="02020603050405020304" pitchFamily="18" charset="0"/>
                <a:cs typeface="Times New Roman" panose="02020603050405020304" pitchFamily="18" charset="0"/>
              </a:rPr>
              <a:t>Academic task Framework</a:t>
            </a:r>
            <a:endParaRPr lang="en-IN" altLang="en-US" sz="36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65F1BEE-682C-3858-7690-4F8BFEBFB260}"/>
              </a:ext>
            </a:extLst>
          </p:cNvPr>
          <p:cNvSpPr>
            <a:spLocks noGrp="1"/>
          </p:cNvSpPr>
          <p:nvPr>
            <p:ph idx="1"/>
          </p:nvPr>
        </p:nvSpPr>
        <p:spPr>
          <a:xfrm>
            <a:off x="1436688" y="1492256"/>
            <a:ext cx="8774113" cy="5091106"/>
          </a:xfrm>
          <a:ln>
            <a:miter lim="800000"/>
            <a:headEnd/>
            <a:tailEnd/>
          </a:ln>
        </p:spPr>
        <p:txBody>
          <a:bodyPr rtlCol="0">
            <a:normAutofit/>
          </a:bodyPr>
          <a:lstStyle/>
          <a:p>
            <a:pPr marL="0" indent="0">
              <a:buNone/>
              <a:defRPr/>
            </a:pPr>
            <a:r>
              <a:rPr lang="en-US" sz="4000" b="1" dirty="0">
                <a:solidFill>
                  <a:srgbClr val="002060"/>
                </a:solidFill>
                <a:latin typeface="Times New Roman" pitchFamily="18" charset="0"/>
                <a:cs typeface="Times New Roman" pitchFamily="18" charset="0"/>
              </a:rPr>
              <a:t> </a:t>
            </a:r>
            <a:r>
              <a:rPr lang="en-US" sz="1400" b="1" dirty="0">
                <a:solidFill>
                  <a:srgbClr val="002060"/>
                </a:solidFill>
                <a:latin typeface="Times New Roman" pitchFamily="18" charset="0"/>
                <a:cs typeface="Times New Roman" pitchFamily="18" charset="0"/>
              </a:rPr>
              <a:t>Assessment Plan</a:t>
            </a:r>
          </a:p>
          <a:p>
            <a:pPr marL="0" indent="0">
              <a:buNone/>
              <a:defRPr/>
            </a:pPr>
            <a:endParaRPr lang="en-IN" dirty="0">
              <a:solidFill>
                <a:schemeClr val="accent6">
                  <a:lumMod val="75000"/>
                </a:schemeClr>
              </a:solidFill>
              <a:latin typeface="Times New Roman" pitchFamily="18" charset="0"/>
              <a:cs typeface="Times New Roman" pitchFamily="18" charset="0"/>
            </a:endParaRPr>
          </a:p>
        </p:txBody>
      </p:sp>
      <p:cxnSp>
        <p:nvCxnSpPr>
          <p:cNvPr id="4" name="Straight Connector 3">
            <a:extLst>
              <a:ext uri="{FF2B5EF4-FFF2-40B4-BE49-F238E27FC236}">
                <a16:creationId xmlns:a16="http://schemas.microsoft.com/office/drawing/2014/main" id="{44DEDD21-A9FD-1F47-D23E-2BC32AEFC500}"/>
              </a:ext>
            </a:extLst>
          </p:cNvPr>
          <p:cNvCxnSpPr>
            <a:cxnSpLocks/>
          </p:cNvCxnSpPr>
          <p:nvPr/>
        </p:nvCxnSpPr>
        <p:spPr>
          <a:xfrm>
            <a:off x="644526" y="1377950"/>
            <a:ext cx="11345067" cy="0"/>
          </a:xfrm>
          <a:prstGeom prst="line">
            <a:avLst/>
          </a:prstGeom>
        </p:spPr>
        <p:style>
          <a:lnRef idx="3">
            <a:schemeClr val="accent6"/>
          </a:lnRef>
          <a:fillRef idx="0">
            <a:schemeClr val="accent6"/>
          </a:fillRef>
          <a:effectRef idx="2">
            <a:schemeClr val="accent6"/>
          </a:effectRef>
          <a:fontRef idx="minor">
            <a:schemeClr val="tx1"/>
          </a:fontRef>
        </p:style>
      </p:cxnSp>
      <p:pic>
        <p:nvPicPr>
          <p:cNvPr id="7" name="Picture 6">
            <a:extLst>
              <a:ext uri="{FF2B5EF4-FFF2-40B4-BE49-F238E27FC236}">
                <a16:creationId xmlns:a16="http://schemas.microsoft.com/office/drawing/2014/main" id="{9B68DE55-01F2-7DD0-3C05-BE4332CB255F}"/>
              </a:ext>
            </a:extLst>
          </p:cNvPr>
          <p:cNvPicPr>
            <a:picLocks noChangeAspect="1"/>
          </p:cNvPicPr>
          <p:nvPr/>
        </p:nvPicPr>
        <p:blipFill>
          <a:blip r:embed="rId2"/>
          <a:stretch>
            <a:fillRect/>
          </a:stretch>
        </p:blipFill>
        <p:spPr>
          <a:xfrm>
            <a:off x="48699" y="163913"/>
            <a:ext cx="1579001" cy="506012"/>
          </a:xfrm>
          <a:prstGeom prst="rect">
            <a:avLst/>
          </a:prstGeom>
        </p:spPr>
      </p:pic>
      <p:pic>
        <p:nvPicPr>
          <p:cNvPr id="9" name="Picture 8">
            <a:extLst>
              <a:ext uri="{FF2B5EF4-FFF2-40B4-BE49-F238E27FC236}">
                <a16:creationId xmlns:a16="http://schemas.microsoft.com/office/drawing/2014/main" id="{43D9485B-5088-088E-BEBA-93953401D09F}"/>
              </a:ext>
            </a:extLst>
          </p:cNvPr>
          <p:cNvPicPr>
            <a:picLocks noChangeAspect="1"/>
          </p:cNvPicPr>
          <p:nvPr/>
        </p:nvPicPr>
        <p:blipFill>
          <a:blip r:embed="rId3"/>
          <a:stretch>
            <a:fillRect/>
          </a:stretch>
        </p:blipFill>
        <p:spPr>
          <a:xfrm>
            <a:off x="10582589" y="54189"/>
            <a:ext cx="1542422" cy="420660"/>
          </a:xfrm>
          <a:prstGeom prst="rect">
            <a:avLst/>
          </a:prstGeom>
        </p:spPr>
      </p:pic>
      <p:graphicFrame>
        <p:nvGraphicFramePr>
          <p:cNvPr id="2" name="Table 1">
            <a:extLst>
              <a:ext uri="{FF2B5EF4-FFF2-40B4-BE49-F238E27FC236}">
                <a16:creationId xmlns:a16="http://schemas.microsoft.com/office/drawing/2014/main" id="{6B9BC862-11A2-B5CC-80B3-E5FEA1756704}"/>
              </a:ext>
            </a:extLst>
          </p:cNvPr>
          <p:cNvGraphicFramePr>
            <a:graphicFrameLocks noGrp="1"/>
          </p:cNvGraphicFramePr>
          <p:nvPr>
            <p:extLst>
              <p:ext uri="{D42A27DB-BD31-4B8C-83A1-F6EECF244321}">
                <p14:modId xmlns:p14="http://schemas.microsoft.com/office/powerpoint/2010/main" val="849218746"/>
              </p:ext>
            </p:extLst>
          </p:nvPr>
        </p:nvGraphicFramePr>
        <p:xfrm>
          <a:off x="1722074" y="2085976"/>
          <a:ext cx="8203340" cy="3271028"/>
        </p:xfrm>
        <a:graphic>
          <a:graphicData uri="http://schemas.openxmlformats.org/drawingml/2006/table">
            <a:tbl>
              <a:tblPr/>
              <a:tblGrid>
                <a:gridCol w="1640668">
                  <a:extLst>
                    <a:ext uri="{9D8B030D-6E8A-4147-A177-3AD203B41FA5}">
                      <a16:colId xmlns:a16="http://schemas.microsoft.com/office/drawing/2014/main" val="1978440273"/>
                    </a:ext>
                  </a:extLst>
                </a:gridCol>
                <a:gridCol w="2709738">
                  <a:extLst>
                    <a:ext uri="{9D8B030D-6E8A-4147-A177-3AD203B41FA5}">
                      <a16:colId xmlns:a16="http://schemas.microsoft.com/office/drawing/2014/main" val="258683394"/>
                    </a:ext>
                  </a:extLst>
                </a:gridCol>
                <a:gridCol w="819509">
                  <a:extLst>
                    <a:ext uri="{9D8B030D-6E8A-4147-A177-3AD203B41FA5}">
                      <a16:colId xmlns:a16="http://schemas.microsoft.com/office/drawing/2014/main" val="3343532873"/>
                    </a:ext>
                  </a:extLst>
                </a:gridCol>
                <a:gridCol w="1392757">
                  <a:extLst>
                    <a:ext uri="{9D8B030D-6E8A-4147-A177-3AD203B41FA5}">
                      <a16:colId xmlns:a16="http://schemas.microsoft.com/office/drawing/2014/main" val="1444837533"/>
                    </a:ext>
                  </a:extLst>
                </a:gridCol>
                <a:gridCol w="1640668">
                  <a:extLst>
                    <a:ext uri="{9D8B030D-6E8A-4147-A177-3AD203B41FA5}">
                      <a16:colId xmlns:a16="http://schemas.microsoft.com/office/drawing/2014/main" val="478018238"/>
                    </a:ext>
                  </a:extLst>
                </a:gridCol>
              </a:tblGrid>
              <a:tr h="273103">
                <a:tc>
                  <a:txBody>
                    <a:bodyPr/>
                    <a:lstStyle/>
                    <a:p>
                      <a:pPr algn="ctr">
                        <a:buNone/>
                      </a:pPr>
                      <a:r>
                        <a:rPr lang="en-IN" sz="1400" b="1"/>
                        <a:t>Assessment</a:t>
                      </a:r>
                      <a:endParaRPr lang="en-IN" sz="140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a:t>Objective</a:t>
                      </a:r>
                      <a:endParaRPr lang="en-IN" sz="140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a:t>Mode</a:t>
                      </a:r>
                      <a:endParaRPr lang="en-IN" sz="140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a:t>Marks</a:t>
                      </a:r>
                      <a:endParaRPr lang="en-IN" sz="140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a:t>Week</a:t>
                      </a:r>
                      <a:endParaRPr lang="en-IN" sz="140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4851384"/>
                  </a:ext>
                </a:extLst>
              </a:tr>
              <a:tr h="838356">
                <a:tc>
                  <a:txBody>
                    <a:bodyPr/>
                    <a:lstStyle/>
                    <a:p>
                      <a:pPr algn="ctr">
                        <a:buNone/>
                      </a:pPr>
                      <a:r>
                        <a:rPr lang="en-IN" sz="1400" b="1" dirty="0"/>
                        <a:t>Test 1 (MCQs)</a:t>
                      </a:r>
                      <a:endParaRPr lang="en-IN" sz="1400" dirty="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Evaluate conceptual understanding, analytical thinking, and problem-solving skills.</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Offline</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a:t>30</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a:t>Week 4–5</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3302982"/>
                  </a:ext>
                </a:extLst>
              </a:tr>
              <a:tr h="1078302">
                <a:tc>
                  <a:txBody>
                    <a:bodyPr/>
                    <a:lstStyle/>
                    <a:p>
                      <a:pPr algn="ctr">
                        <a:buNone/>
                      </a:pPr>
                      <a:r>
                        <a:rPr lang="en-IN" sz="1400" b="1" dirty="0"/>
                        <a:t>Test 2 (MCQs)</a:t>
                      </a:r>
                      <a:endParaRPr lang="en-IN" sz="1400" dirty="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Assess students' understanding of algorithmic concepts and programming fundamentals.</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a:t>Offline</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30</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a:t>Week 9–10</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911755"/>
                  </a:ext>
                </a:extLst>
              </a:tr>
              <a:tr h="1069676">
                <a:tc>
                  <a:txBody>
                    <a:bodyPr/>
                    <a:lstStyle/>
                    <a:p>
                      <a:pPr algn="ctr">
                        <a:buNone/>
                      </a:pPr>
                      <a:r>
                        <a:rPr lang="en-IN" sz="1400" b="1" dirty="0"/>
                        <a:t>Code-Based Test</a:t>
                      </a:r>
                      <a:endParaRPr lang="en-IN" sz="1400" dirty="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Evaluate algorithm design, implementation, testing, and optimization through coding problems.</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a:t>Online (BYOD)</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a:t>30</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Week 12–13</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0775173"/>
                  </a:ext>
                </a:extLst>
              </a:tr>
            </a:tbl>
          </a:graphicData>
        </a:graphic>
      </p:graphicFrame>
      <p:sp>
        <p:nvSpPr>
          <p:cNvPr id="8" name="TextBox 7">
            <a:extLst>
              <a:ext uri="{FF2B5EF4-FFF2-40B4-BE49-F238E27FC236}">
                <a16:creationId xmlns:a16="http://schemas.microsoft.com/office/drawing/2014/main" id="{EA6A7D9B-366B-FDA3-84BC-53B261BF8DFD}"/>
              </a:ext>
            </a:extLst>
          </p:cNvPr>
          <p:cNvSpPr txBox="1"/>
          <p:nvPr/>
        </p:nvSpPr>
        <p:spPr>
          <a:xfrm>
            <a:off x="1627700" y="5443268"/>
            <a:ext cx="8232292" cy="923330"/>
          </a:xfrm>
          <a:prstGeom prst="rect">
            <a:avLst/>
          </a:prstGeom>
          <a:noFill/>
        </p:spPr>
        <p:txBody>
          <a:bodyPr wrap="square" rtlCol="0">
            <a:spAutoFit/>
          </a:bodyPr>
          <a:lstStyle/>
          <a:p>
            <a:pPr>
              <a:defRPr/>
            </a:pPr>
            <a:r>
              <a:rPr lang="en-IN" b="1" dirty="0">
                <a:solidFill>
                  <a:srgbClr val="FF0000"/>
                </a:solidFill>
              </a:rPr>
              <a:t>Two Code-Based MCQ Tests</a:t>
            </a:r>
            <a:r>
              <a:rPr lang="en-IN" dirty="0">
                <a:solidFill>
                  <a:srgbClr val="FF0000"/>
                </a:solidFill>
              </a:rPr>
              <a:t> will be conducted during the semester, and the </a:t>
            </a:r>
            <a:r>
              <a:rPr lang="en-IN" b="1" dirty="0">
                <a:solidFill>
                  <a:srgbClr val="FF0000"/>
                </a:solidFill>
              </a:rPr>
              <a:t>best score</a:t>
            </a:r>
            <a:r>
              <a:rPr lang="en-IN" dirty="0">
                <a:solidFill>
                  <a:srgbClr val="FF0000"/>
                </a:solidFill>
              </a:rPr>
              <a:t> will be considered for evaluation. </a:t>
            </a:r>
          </a:p>
          <a:p>
            <a:pPr>
              <a:defRPr/>
            </a:pPr>
            <a:r>
              <a:rPr lang="en-IN" b="1" dirty="0">
                <a:solidFill>
                  <a:srgbClr val="FF0000"/>
                </a:solidFill>
              </a:rPr>
              <a:t>One BYOD Code-Based Practical Test</a:t>
            </a:r>
            <a:r>
              <a:rPr lang="en-IN" dirty="0">
                <a:solidFill>
                  <a:srgbClr val="FF0000"/>
                </a:solidFill>
              </a:rPr>
              <a:t> is </a:t>
            </a:r>
            <a:r>
              <a:rPr lang="en-IN" b="1" dirty="0">
                <a:solidFill>
                  <a:srgbClr val="FF0000"/>
                </a:solidFill>
              </a:rPr>
              <a:t>mandatory</a:t>
            </a:r>
            <a:r>
              <a:rPr lang="en-IN" dirty="0">
                <a:solidFill>
                  <a:srgbClr val="FF0000"/>
                </a:solidFill>
              </a:rPr>
              <a:t> for all students.</a:t>
            </a:r>
          </a:p>
        </p:txBody>
      </p:sp>
    </p:spTree>
    <p:extLst>
      <p:ext uri="{BB962C8B-B14F-4D97-AF65-F5344CB8AC3E}">
        <p14:creationId xmlns:p14="http://schemas.microsoft.com/office/powerpoint/2010/main" val="171993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3D494-C4CA-164B-0E2E-4590BFCA9700}"/>
            </a:ext>
          </a:extLst>
        </p:cNvPr>
        <p:cNvGrpSpPr/>
        <p:nvPr/>
      </p:nvGrpSpPr>
      <p:grpSpPr>
        <a:xfrm>
          <a:off x="0" y="0"/>
          <a:ext cx="0" cy="0"/>
          <a:chOff x="0" y="0"/>
          <a:chExt cx="0" cy="0"/>
        </a:xfrm>
      </p:grpSpPr>
      <p:sp>
        <p:nvSpPr>
          <p:cNvPr id="10242" name="Title 1">
            <a:extLst>
              <a:ext uri="{FF2B5EF4-FFF2-40B4-BE49-F238E27FC236}">
                <a16:creationId xmlns:a16="http://schemas.microsoft.com/office/drawing/2014/main" id="{C1830121-EA7C-2E53-DA7B-189540C12C96}"/>
              </a:ext>
            </a:extLst>
          </p:cNvPr>
          <p:cNvSpPr>
            <a:spLocks noGrp="1"/>
          </p:cNvSpPr>
          <p:nvPr>
            <p:ph type="title"/>
          </p:nvPr>
        </p:nvSpPr>
        <p:spPr>
          <a:xfrm>
            <a:off x="838200" y="291801"/>
            <a:ext cx="10515600" cy="1325563"/>
          </a:xfrm>
        </p:spPr>
        <p:txBody>
          <a:bodyPr/>
          <a:lstStyle/>
          <a:p>
            <a:r>
              <a:rPr lang="en-IN" sz="3600" dirty="0">
                <a:solidFill>
                  <a:srgbClr val="C00000"/>
                </a:solidFill>
                <a:latin typeface="Times New Roman" panose="02020603050405020304" pitchFamily="18" charset="0"/>
                <a:cs typeface="Times New Roman" panose="02020603050405020304" pitchFamily="18" charset="0"/>
              </a:rPr>
              <a:t>Academic Task Framework</a:t>
            </a:r>
            <a:endParaRPr lang="en-IN" altLang="en-US" sz="36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55D16D5-4C10-D4DF-7605-FDFDB31301C9}"/>
              </a:ext>
            </a:extLst>
          </p:cNvPr>
          <p:cNvSpPr>
            <a:spLocks noGrp="1"/>
          </p:cNvSpPr>
          <p:nvPr>
            <p:ph idx="1"/>
          </p:nvPr>
        </p:nvSpPr>
        <p:spPr>
          <a:xfrm>
            <a:off x="1436688" y="1492256"/>
            <a:ext cx="8774113" cy="5091106"/>
          </a:xfrm>
          <a:ln>
            <a:miter lim="800000"/>
            <a:headEnd/>
            <a:tailEnd/>
          </a:ln>
        </p:spPr>
        <p:txBody>
          <a:bodyPr rtlCol="0">
            <a:normAutofit fontScale="77500" lnSpcReduction="20000"/>
          </a:bodyPr>
          <a:lstStyle/>
          <a:p>
            <a:r>
              <a:rPr lang="en-IN" b="1" dirty="0">
                <a:solidFill>
                  <a:srgbClr val="FF0000"/>
                </a:solidFill>
              </a:rPr>
              <a:t>Code-Based MCQ Tests (30 Marks)</a:t>
            </a:r>
          </a:p>
          <a:p>
            <a:pPr marL="0" indent="0">
              <a:buNone/>
            </a:pPr>
            <a:r>
              <a:rPr lang="en-IN" b="1" dirty="0"/>
              <a:t>15 MCQs</a:t>
            </a:r>
            <a:r>
              <a:rPr lang="en-IN" dirty="0"/>
              <a:t> </a:t>
            </a:r>
          </a:p>
          <a:p>
            <a:pPr marL="0" indent="0">
              <a:buNone/>
            </a:pPr>
            <a:r>
              <a:rPr lang="en-IN" b="1" dirty="0"/>
              <a:t>30 Marks</a:t>
            </a:r>
            <a:r>
              <a:rPr lang="en-IN" dirty="0"/>
              <a:t> </a:t>
            </a:r>
          </a:p>
          <a:p>
            <a:pPr marL="0" indent="0">
              <a:buNone/>
            </a:pPr>
            <a:r>
              <a:rPr lang="en-IN" b="1" dirty="0"/>
              <a:t>Two tests</a:t>
            </a:r>
            <a:r>
              <a:rPr lang="en-IN" dirty="0"/>
              <a:t> will be conducted during the semester. </a:t>
            </a:r>
          </a:p>
          <a:p>
            <a:pPr marL="0" indent="0">
              <a:buNone/>
            </a:pPr>
            <a:r>
              <a:rPr lang="en-IN" b="1" dirty="0"/>
              <a:t>Best score</a:t>
            </a:r>
            <a:r>
              <a:rPr lang="en-IN" dirty="0"/>
              <a:t> will be considered for evaluation. </a:t>
            </a:r>
          </a:p>
          <a:p>
            <a:pPr marL="0" indent="0">
              <a:buNone/>
            </a:pPr>
            <a:br>
              <a:rPr lang="en-IN" dirty="0"/>
            </a:br>
            <a:endParaRPr lang="en-IN" dirty="0"/>
          </a:p>
          <a:p>
            <a:r>
              <a:rPr lang="en-IN" b="1" dirty="0">
                <a:solidFill>
                  <a:srgbClr val="FF0000"/>
                </a:solidFill>
              </a:rPr>
              <a:t>BYOD Practical Coding Test (30 Marks)</a:t>
            </a:r>
          </a:p>
          <a:p>
            <a:pPr marL="0" indent="0">
              <a:buNone/>
            </a:pPr>
            <a:r>
              <a:rPr lang="en-IN" b="1" dirty="0"/>
              <a:t>2 Programming Questions</a:t>
            </a:r>
            <a:r>
              <a:rPr lang="en-IN" dirty="0"/>
              <a:t> </a:t>
            </a:r>
          </a:p>
          <a:p>
            <a:pPr marL="0" indent="0">
              <a:buNone/>
            </a:pPr>
            <a:r>
              <a:rPr lang="en-IN" b="1" dirty="0"/>
              <a:t>Question 1:</a:t>
            </a:r>
            <a:r>
              <a:rPr lang="en-IN" dirty="0"/>
              <a:t> 15 Marks </a:t>
            </a:r>
          </a:p>
          <a:p>
            <a:pPr lvl="1"/>
            <a:r>
              <a:rPr lang="en-IN" dirty="0"/>
              <a:t>Code Logic &amp; Implementation – </a:t>
            </a:r>
            <a:r>
              <a:rPr lang="en-IN" b="1" dirty="0"/>
              <a:t>10 Marks</a:t>
            </a:r>
            <a:r>
              <a:rPr lang="en-IN" dirty="0"/>
              <a:t> </a:t>
            </a:r>
          </a:p>
          <a:p>
            <a:pPr lvl="1"/>
            <a:r>
              <a:rPr lang="en-IN" dirty="0"/>
              <a:t>Execution &amp; Output Verification – </a:t>
            </a:r>
            <a:r>
              <a:rPr lang="en-IN" b="1" dirty="0"/>
              <a:t>5 Marks</a:t>
            </a:r>
            <a:r>
              <a:rPr lang="en-IN" dirty="0"/>
              <a:t> </a:t>
            </a:r>
          </a:p>
          <a:p>
            <a:pPr marL="0" indent="0">
              <a:buNone/>
            </a:pPr>
            <a:r>
              <a:rPr lang="en-IN" b="1" dirty="0"/>
              <a:t>Question 2:</a:t>
            </a:r>
            <a:r>
              <a:rPr lang="en-IN" dirty="0"/>
              <a:t> 15 Marks </a:t>
            </a:r>
          </a:p>
          <a:p>
            <a:pPr lvl="1"/>
            <a:r>
              <a:rPr lang="en-IN" dirty="0"/>
              <a:t>Code Logic &amp; Implementation – </a:t>
            </a:r>
            <a:r>
              <a:rPr lang="en-IN" b="1" dirty="0"/>
              <a:t>10 Marks</a:t>
            </a:r>
            <a:r>
              <a:rPr lang="en-IN" dirty="0"/>
              <a:t> </a:t>
            </a:r>
          </a:p>
          <a:p>
            <a:pPr lvl="1"/>
            <a:r>
              <a:rPr lang="en-IN" dirty="0"/>
              <a:t>Execution &amp; Output Verification – </a:t>
            </a:r>
            <a:r>
              <a:rPr lang="en-IN" b="1" dirty="0"/>
              <a:t>5 Marks</a:t>
            </a:r>
            <a:r>
              <a:rPr lang="en-IN" dirty="0"/>
              <a:t> </a:t>
            </a:r>
          </a:p>
          <a:p>
            <a:pPr marL="0" indent="0">
              <a:buNone/>
              <a:defRPr/>
            </a:pPr>
            <a:endParaRPr lang="en-IN" dirty="0">
              <a:solidFill>
                <a:schemeClr val="accent6">
                  <a:lumMod val="75000"/>
                </a:schemeClr>
              </a:solidFill>
              <a:latin typeface="Times New Roman" pitchFamily="18" charset="0"/>
              <a:cs typeface="Times New Roman" pitchFamily="18" charset="0"/>
            </a:endParaRPr>
          </a:p>
        </p:txBody>
      </p:sp>
      <p:cxnSp>
        <p:nvCxnSpPr>
          <p:cNvPr id="4" name="Straight Connector 3">
            <a:extLst>
              <a:ext uri="{FF2B5EF4-FFF2-40B4-BE49-F238E27FC236}">
                <a16:creationId xmlns:a16="http://schemas.microsoft.com/office/drawing/2014/main" id="{EA23F8C4-7B60-15B7-1488-F445F836FD43}"/>
              </a:ext>
            </a:extLst>
          </p:cNvPr>
          <p:cNvCxnSpPr>
            <a:cxnSpLocks/>
          </p:cNvCxnSpPr>
          <p:nvPr/>
        </p:nvCxnSpPr>
        <p:spPr>
          <a:xfrm>
            <a:off x="644526" y="1377950"/>
            <a:ext cx="11345067" cy="0"/>
          </a:xfrm>
          <a:prstGeom prst="line">
            <a:avLst/>
          </a:prstGeom>
        </p:spPr>
        <p:style>
          <a:lnRef idx="3">
            <a:schemeClr val="accent6"/>
          </a:lnRef>
          <a:fillRef idx="0">
            <a:schemeClr val="accent6"/>
          </a:fillRef>
          <a:effectRef idx="2">
            <a:schemeClr val="accent6"/>
          </a:effectRef>
          <a:fontRef idx="minor">
            <a:schemeClr val="tx1"/>
          </a:fontRef>
        </p:style>
      </p:cxnSp>
      <p:pic>
        <p:nvPicPr>
          <p:cNvPr id="7" name="Picture 6">
            <a:extLst>
              <a:ext uri="{FF2B5EF4-FFF2-40B4-BE49-F238E27FC236}">
                <a16:creationId xmlns:a16="http://schemas.microsoft.com/office/drawing/2014/main" id="{1BBAE119-DFC3-2A55-FBFF-79FC2938FCDE}"/>
              </a:ext>
            </a:extLst>
          </p:cNvPr>
          <p:cNvPicPr>
            <a:picLocks noChangeAspect="1"/>
          </p:cNvPicPr>
          <p:nvPr/>
        </p:nvPicPr>
        <p:blipFill>
          <a:blip r:embed="rId2"/>
          <a:stretch>
            <a:fillRect/>
          </a:stretch>
        </p:blipFill>
        <p:spPr>
          <a:xfrm>
            <a:off x="48699" y="163913"/>
            <a:ext cx="1579001" cy="506012"/>
          </a:xfrm>
          <a:prstGeom prst="rect">
            <a:avLst/>
          </a:prstGeom>
        </p:spPr>
      </p:pic>
      <p:pic>
        <p:nvPicPr>
          <p:cNvPr id="9" name="Picture 8">
            <a:extLst>
              <a:ext uri="{FF2B5EF4-FFF2-40B4-BE49-F238E27FC236}">
                <a16:creationId xmlns:a16="http://schemas.microsoft.com/office/drawing/2014/main" id="{8BD9C58A-FF04-F767-1239-583995C3F7EE}"/>
              </a:ext>
            </a:extLst>
          </p:cNvPr>
          <p:cNvPicPr>
            <a:picLocks noChangeAspect="1"/>
          </p:cNvPicPr>
          <p:nvPr/>
        </p:nvPicPr>
        <p:blipFill>
          <a:blip r:embed="rId3"/>
          <a:stretch>
            <a:fillRect/>
          </a:stretch>
        </p:blipFill>
        <p:spPr>
          <a:xfrm>
            <a:off x="10582589" y="54189"/>
            <a:ext cx="1542422" cy="420660"/>
          </a:xfrm>
          <a:prstGeom prst="rect">
            <a:avLst/>
          </a:prstGeom>
        </p:spPr>
      </p:pic>
    </p:spTree>
    <p:extLst>
      <p:ext uri="{BB962C8B-B14F-4D97-AF65-F5344CB8AC3E}">
        <p14:creationId xmlns:p14="http://schemas.microsoft.com/office/powerpoint/2010/main" val="29442853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534811" y="1348646"/>
            <a:ext cx="9734551" cy="5068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algn="just" eaLnBrk="1" hangingPunct="1">
              <a:spcBef>
                <a:spcPts val="700"/>
              </a:spcBef>
              <a:buClr>
                <a:srgbClr val="000000"/>
              </a:buClr>
              <a:buSzPct val="100000"/>
              <a:buFont typeface="Arial" charset="0"/>
              <a:buNone/>
            </a:pPr>
            <a:r>
              <a:rPr lang="en-US" altLang="en-US" sz="2400" b="1" dirty="0">
                <a:latin typeface="Times New Roman" panose="02020603050405020304" pitchFamily="18" charset="0"/>
                <a:cs typeface="Times New Roman" panose="02020603050405020304" pitchFamily="18" charset="0"/>
              </a:rPr>
              <a:t>Text Books:</a:t>
            </a:r>
          </a:p>
          <a:p>
            <a:pPr algn="just"/>
            <a:r>
              <a:rPr lang="en-US" sz="2400" dirty="0">
                <a:latin typeface="Times New Roman" panose="02020603050405020304" pitchFamily="18" charset="0"/>
                <a:cs typeface="Times New Roman" pitchFamily="18" charset="0"/>
              </a:rPr>
              <a:t>	</a:t>
            </a:r>
            <a:r>
              <a:rPr lang="en-IN" sz="2400" dirty="0">
                <a:latin typeface="Times New Roman" panose="02020603050405020304" pitchFamily="18" charset="0"/>
                <a:cs typeface="Times New Roman" panose="02020603050405020304" pitchFamily="18" charset="0"/>
              </a:rPr>
              <a:t> INTRODUCTION TO THE DESIGN AND ANALYSIS OF ALGORITHM by ANANY LEVITIN </a:t>
            </a:r>
            <a:endParaRPr lang="en-IN" altLang="en-US" sz="2400" b="1" dirty="0">
              <a:latin typeface="Times New Roman" panose="02020603050405020304" pitchFamily="18" charset="0"/>
              <a:cs typeface="Times New Roman" panose="02020603050405020304" pitchFamily="18" charset="0"/>
            </a:endParaRPr>
          </a:p>
          <a:p>
            <a:pPr algn="just"/>
            <a:r>
              <a:rPr lang="en-US" altLang="en-US" sz="2400" b="1" dirty="0">
                <a:latin typeface="Times New Roman" panose="02020603050405020304" pitchFamily="18" charset="0"/>
                <a:cs typeface="Times New Roman" panose="02020603050405020304" pitchFamily="18" charset="0"/>
              </a:rPr>
              <a:t>Reference Book:</a:t>
            </a:r>
          </a:p>
          <a:p>
            <a:pPr algn="just"/>
            <a:r>
              <a:rPr lang="en-US"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 INTRODUCTION TO ALGORITHMS by C.E. LEISERSON, R.L. RIVEST AND C. STEIN </a:t>
            </a:r>
            <a:endParaRPr lang="en-US" altLang="en-US" sz="2400" b="1" dirty="0">
              <a:latin typeface="Times New Roman" panose="02020603050405020304" pitchFamily="18" charset="0"/>
              <a:cs typeface="Times New Roman" panose="02020603050405020304" pitchFamily="18" charset="0"/>
            </a:endParaRPr>
          </a:p>
        </p:txBody>
      </p:sp>
      <p:sp>
        <p:nvSpPr>
          <p:cNvPr id="3" name="Text Box 1"/>
          <p:cNvSpPr txBox="1">
            <a:spLocks noChangeArrowheads="1"/>
          </p:cNvSpPr>
          <p:nvPr/>
        </p:nvSpPr>
        <p:spPr bwMode="auto">
          <a:xfrm>
            <a:off x="4864442" y="329214"/>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eaLnBrk="1" hangingPunct="1">
              <a:buSzPct val="100000"/>
            </a:pPr>
            <a:r>
              <a:rPr lang="en-US" altLang="en-US" sz="4800" dirty="0">
                <a:solidFill>
                  <a:srgbClr val="C00000"/>
                </a:solidFill>
                <a:latin typeface="Times New Roman" panose="02020603050405020304" pitchFamily="18" charset="0"/>
                <a:cs typeface="Times New Roman" panose="02020603050405020304" pitchFamily="18" charset="0"/>
              </a:rPr>
              <a:t>Books</a:t>
            </a:r>
          </a:p>
        </p:txBody>
      </p:sp>
    </p:spTree>
    <p:extLst>
      <p:ext uri="{BB962C8B-B14F-4D97-AF65-F5344CB8AC3E}">
        <p14:creationId xmlns:p14="http://schemas.microsoft.com/office/powerpoint/2010/main" val="2601164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0A3B9-61C8-1B89-BB6F-D36CD7A1504F}"/>
            </a:ext>
          </a:extLst>
        </p:cNvPr>
        <p:cNvGrpSpPr/>
        <p:nvPr/>
      </p:nvGrpSpPr>
      <p:grpSpPr>
        <a:xfrm>
          <a:off x="0" y="0"/>
          <a:ext cx="0" cy="0"/>
          <a:chOff x="0" y="0"/>
          <a:chExt cx="0" cy="0"/>
        </a:xfrm>
      </p:grpSpPr>
      <p:sp>
        <p:nvSpPr>
          <p:cNvPr id="2" name="Text Box 2">
            <a:extLst>
              <a:ext uri="{FF2B5EF4-FFF2-40B4-BE49-F238E27FC236}">
                <a16:creationId xmlns:a16="http://schemas.microsoft.com/office/drawing/2014/main" id="{C4E69798-960C-E5AB-E45D-85605210F090}"/>
              </a:ext>
            </a:extLst>
          </p:cNvPr>
          <p:cNvSpPr txBox="1">
            <a:spLocks noChangeArrowheads="1"/>
          </p:cNvSpPr>
          <p:nvPr/>
        </p:nvSpPr>
        <p:spPr bwMode="auto">
          <a:xfrm>
            <a:off x="1534811" y="1348646"/>
            <a:ext cx="9734551" cy="5068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1313" indent="-341313">
              <a:tabLst>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pPr marL="0" indent="0">
              <a:buFont typeface="Arial" panose="020B0604020202020204" pitchFamily="34" charset="0"/>
              <a:buNone/>
            </a:pPr>
            <a:endParaRPr lang="en-US" sz="2800" dirty="0">
              <a:latin typeface="Times New Roman" pitchFamily="18" charset="0"/>
              <a:cs typeface="Times New Roman" pitchFamily="18" charset="0"/>
            </a:endParaRPr>
          </a:p>
          <a:p>
            <a:pPr algn="just"/>
            <a:r>
              <a:rPr lang="en-US" sz="2800" b="1" dirty="0">
                <a:latin typeface="Times New Roman" panose="02020603050405020304" pitchFamily="18" charset="0"/>
                <a:cs typeface="Times New Roman" panose="02020603050405020304" pitchFamily="18" charset="0"/>
              </a:rPr>
              <a:t>	</a:t>
            </a:r>
            <a:endParaRPr lang="en-US" altLang="en-US" sz="2800" b="1" dirty="0">
              <a:latin typeface="Times New Roman" panose="02020603050405020304" pitchFamily="18" charset="0"/>
              <a:cs typeface="Times New Roman" panose="02020603050405020304" pitchFamily="18" charset="0"/>
            </a:endParaRPr>
          </a:p>
        </p:txBody>
      </p:sp>
      <p:sp>
        <p:nvSpPr>
          <p:cNvPr id="3" name="Text Box 1">
            <a:extLst>
              <a:ext uri="{FF2B5EF4-FFF2-40B4-BE49-F238E27FC236}">
                <a16:creationId xmlns:a16="http://schemas.microsoft.com/office/drawing/2014/main" id="{83BD727F-D7CF-49CB-2D53-2FF835822FED}"/>
              </a:ext>
            </a:extLst>
          </p:cNvPr>
          <p:cNvSpPr txBox="1">
            <a:spLocks noChangeArrowheads="1"/>
          </p:cNvSpPr>
          <p:nvPr/>
        </p:nvSpPr>
        <p:spPr bwMode="auto">
          <a:xfrm>
            <a:off x="3039762" y="273231"/>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itchFamily="32" charset="0"/>
                <a:ea typeface="Noto Sans CJK SC" charset="0"/>
                <a:cs typeface="Noto Sans CJK SC"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2" charset="0"/>
                <a:ea typeface="Noto Sans CJK SC" charset="0"/>
                <a:cs typeface="Noto Sans CJK SC"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2" charset="0"/>
                <a:ea typeface="Noto Sans CJK SC" charset="0"/>
                <a:cs typeface="Noto Sans CJK SC"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5pPr>
            <a:lvl6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6pPr>
            <a:lvl7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7pPr>
            <a:lvl8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8pPr>
            <a:lvl9pPr defTabSz="449263" eaLnBrk="0" fontAlgn="base" hangingPunct="0">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2" charset="0"/>
                <a:ea typeface="Noto Sans CJK SC" charset="0"/>
                <a:cs typeface="Noto Sans CJK SC" charset="0"/>
              </a:defRPr>
            </a:lvl9pPr>
          </a:lstStyle>
          <a:p>
            <a:r>
              <a:rPr lang="en-IN" sz="4400" dirty="0">
                <a:solidFill>
                  <a:srgbClr val="C00000"/>
                </a:solidFill>
                <a:latin typeface="Times New Roman" panose="02020603050405020304" pitchFamily="18" charset="0"/>
                <a:cs typeface="Times New Roman" panose="02020603050405020304" pitchFamily="18" charset="0"/>
              </a:rPr>
              <a:t>Learning Resources</a:t>
            </a:r>
            <a:endParaRPr lang="en-US" sz="4400" dirty="0">
              <a:solidFill>
                <a:srgbClr val="C0000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47E7AB8B-3F43-FED4-5C7F-D7C267A559B6}"/>
              </a:ext>
            </a:extLst>
          </p:cNvPr>
          <p:cNvGraphicFramePr>
            <a:graphicFrameLocks noGrp="1"/>
          </p:cNvGraphicFramePr>
          <p:nvPr>
            <p:extLst>
              <p:ext uri="{D42A27DB-BD31-4B8C-83A1-F6EECF244321}">
                <p14:modId xmlns:p14="http://schemas.microsoft.com/office/powerpoint/2010/main" val="2606255109"/>
              </p:ext>
            </p:extLst>
          </p:nvPr>
        </p:nvGraphicFramePr>
        <p:xfrm>
          <a:off x="838200" y="1898174"/>
          <a:ext cx="10515600" cy="4206240"/>
        </p:xfrm>
        <a:graphic>
          <a:graphicData uri="http://schemas.openxmlformats.org/drawingml/2006/table">
            <a:tbl>
              <a:tblPr/>
              <a:tblGrid>
                <a:gridCol w="5257800">
                  <a:extLst>
                    <a:ext uri="{9D8B030D-6E8A-4147-A177-3AD203B41FA5}">
                      <a16:colId xmlns:a16="http://schemas.microsoft.com/office/drawing/2014/main" val="2148036874"/>
                    </a:ext>
                  </a:extLst>
                </a:gridCol>
                <a:gridCol w="5257800">
                  <a:extLst>
                    <a:ext uri="{9D8B030D-6E8A-4147-A177-3AD203B41FA5}">
                      <a16:colId xmlns:a16="http://schemas.microsoft.com/office/drawing/2014/main" val="2484064310"/>
                    </a:ext>
                  </a:extLst>
                </a:gridCol>
              </a:tblGrid>
              <a:tr h="0">
                <a:tc>
                  <a:txBody>
                    <a:bodyPr/>
                    <a:lstStyle/>
                    <a:p>
                      <a:pPr algn="ctr">
                        <a:buNone/>
                      </a:pPr>
                      <a:r>
                        <a:rPr lang="en-IN">
                          <a:latin typeface="Times New Roman" panose="02020603050405020304" pitchFamily="18" charset="0"/>
                          <a:cs typeface="Times New Roman" panose="02020603050405020304" pitchFamily="18" charset="0"/>
                        </a:rPr>
                        <a:t>Website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latin typeface="Times New Roman" panose="02020603050405020304" pitchFamily="18" charset="0"/>
                          <a:cs typeface="Times New Roman" panose="02020603050405020304" pitchFamily="18" charset="0"/>
                        </a:rPr>
                        <a:t>Salient 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435971"/>
                  </a:ext>
                </a:extLst>
              </a:tr>
              <a:tr h="0">
                <a:tc>
                  <a:txBody>
                    <a:bodyPr/>
                    <a:lstStyle/>
                    <a:p>
                      <a:pPr algn="ctr">
                        <a:buNone/>
                      </a:pPr>
                      <a:r>
                        <a:rPr lang="en-IN">
                          <a:latin typeface="Times New Roman" panose="02020603050405020304" pitchFamily="18" charset="0"/>
                          <a:cs typeface="Times New Roman" panose="02020603050405020304" pitchFamily="18" charset="0"/>
                        </a:rPr>
                        <a:t>GeeksforGeeks (</a:t>
                      </a:r>
                      <a:r>
                        <a:rPr lang="en-IN">
                          <a:latin typeface="Times New Roman" panose="02020603050405020304" pitchFamily="18" charset="0"/>
                          <a:cs typeface="Times New Roman" panose="02020603050405020304" pitchFamily="18" charset="0"/>
                          <a:hlinkClick r:id="rId2"/>
                        </a:rPr>
                        <a:t>https://www.geeksforgeeks.org/dsa/</a:t>
                      </a:r>
                      <a:r>
                        <a:rPr lang="en-IN">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latin typeface="Times New Roman" panose="02020603050405020304" pitchFamily="18" charset="0"/>
                          <a:cs typeface="Times New Roman" panose="02020603050405020304" pitchFamily="18" charset="0"/>
                        </a:rPr>
                        <a:t>Comprehensive DSA tutorials, coding examples, and interview-oriented problems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1323848"/>
                  </a:ext>
                </a:extLst>
              </a:tr>
              <a:tr h="0">
                <a:tc>
                  <a:txBody>
                    <a:bodyPr/>
                    <a:lstStyle/>
                    <a:p>
                      <a:pPr algn="ctr">
                        <a:buNone/>
                      </a:pPr>
                      <a:r>
                        <a:rPr lang="en-IN">
                          <a:latin typeface="Times New Roman" panose="02020603050405020304" pitchFamily="18" charset="0"/>
                          <a:cs typeface="Times New Roman" panose="02020603050405020304" pitchFamily="18" charset="0"/>
                        </a:rPr>
                        <a:t>CP-Algorithms (</a:t>
                      </a:r>
                      <a:r>
                        <a:rPr lang="en-IN">
                          <a:latin typeface="Times New Roman" panose="02020603050405020304" pitchFamily="18" charset="0"/>
                          <a:cs typeface="Times New Roman" panose="02020603050405020304" pitchFamily="18" charset="0"/>
                          <a:hlinkClick r:id="rId3"/>
                        </a:rPr>
                        <a:t>https://cp-algorithms.com/</a:t>
                      </a:r>
                      <a:r>
                        <a:rPr lang="en-IN">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latin typeface="Times New Roman" panose="02020603050405020304" pitchFamily="18" charset="0"/>
                          <a:cs typeface="Times New Roman" panose="02020603050405020304" pitchFamily="18" charset="0"/>
                        </a:rPr>
                        <a:t>Advanced algorithms with mathematical proofs and implementations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1944358"/>
                  </a:ext>
                </a:extLst>
              </a:tr>
              <a:tr h="0">
                <a:tc>
                  <a:txBody>
                    <a:bodyPr/>
                    <a:lstStyle/>
                    <a:p>
                      <a:pPr algn="ctr">
                        <a:buNone/>
                      </a:pPr>
                      <a:r>
                        <a:rPr lang="en-IN" dirty="0" err="1">
                          <a:latin typeface="Times New Roman" panose="02020603050405020304" pitchFamily="18" charset="0"/>
                          <a:cs typeface="Times New Roman" panose="02020603050405020304" pitchFamily="18" charset="0"/>
                        </a:rPr>
                        <a:t>Programiz</a:t>
                      </a:r>
                      <a:r>
                        <a:rPr 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hlinkClick r:id="rId4"/>
                        </a:rPr>
                        <a:t>https://www.programiz.com/dsa</a:t>
                      </a:r>
                      <a:r>
                        <a:rPr lang="en-IN"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latin typeface="Times New Roman" panose="02020603050405020304" pitchFamily="18" charset="0"/>
                          <a:cs typeface="Times New Roman" panose="02020603050405020304" pitchFamily="18" charset="0"/>
                        </a:rPr>
                        <a:t>Beginner-friendly explanations and implementations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8333081"/>
                  </a:ext>
                </a:extLst>
              </a:tr>
              <a:tr h="0">
                <a:tc>
                  <a:txBody>
                    <a:bodyPr/>
                    <a:lstStyle/>
                    <a:p>
                      <a:pPr algn="ctr">
                        <a:buNone/>
                      </a:pPr>
                      <a:r>
                        <a:rPr lang="en-IN">
                          <a:latin typeface="Times New Roman" panose="02020603050405020304" pitchFamily="18" charset="0"/>
                          <a:cs typeface="Times New Roman" panose="02020603050405020304" pitchFamily="18" charset="0"/>
                        </a:rPr>
                        <a:t>LeetCode (</a:t>
                      </a:r>
                      <a:r>
                        <a:rPr lang="en-IN">
                          <a:latin typeface="Times New Roman" panose="02020603050405020304" pitchFamily="18" charset="0"/>
                          <a:cs typeface="Times New Roman" panose="02020603050405020304" pitchFamily="18" charset="0"/>
                          <a:hlinkClick r:id="rId5"/>
                        </a:rPr>
                        <a:t>https://leetcode.com/problemset/algorithms/</a:t>
                      </a:r>
                      <a:r>
                        <a:rPr lang="en-IN">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latin typeface="Times New Roman" panose="02020603050405020304" pitchFamily="18" charset="0"/>
                          <a:cs typeface="Times New Roman" panose="02020603050405020304" pitchFamily="18" charset="0"/>
                        </a:rPr>
                        <a:t>Algorithmic coding practice and interview preparation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4415861"/>
                  </a:ext>
                </a:extLst>
              </a:tr>
              <a:tr h="0">
                <a:tc>
                  <a:txBody>
                    <a:bodyPr/>
                    <a:lstStyle/>
                    <a:p>
                      <a:pPr algn="ctr">
                        <a:buNone/>
                      </a:pPr>
                      <a:r>
                        <a:rPr lang="en-IN">
                          <a:latin typeface="Times New Roman" panose="02020603050405020304" pitchFamily="18" charset="0"/>
                          <a:cs typeface="Times New Roman" panose="02020603050405020304" pitchFamily="18" charset="0"/>
                        </a:rPr>
                        <a:t>HackerRank (https://www.hackerrank.com/domains/tutorials/10-days-of-algorithms)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latin typeface="Times New Roman" panose="02020603050405020304" pitchFamily="18" charset="0"/>
                          <a:cs typeface="Times New Roman" panose="02020603050405020304" pitchFamily="18" charset="0"/>
                        </a:rPr>
                        <a:t>Hands-on algorithm challenges and coding assessments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1348566"/>
                  </a:ext>
                </a:extLst>
              </a:tr>
              <a:tr h="0">
                <a:tc>
                  <a:txBody>
                    <a:bodyPr/>
                    <a:lstStyle/>
                    <a:p>
                      <a:pPr algn="ctr">
                        <a:buNone/>
                      </a:pPr>
                      <a:r>
                        <a:rPr lang="en-IN">
                          <a:latin typeface="Times New Roman" panose="02020603050405020304" pitchFamily="18" charset="0"/>
                          <a:cs typeface="Times New Roman" panose="02020603050405020304" pitchFamily="18" charset="0"/>
                        </a:rPr>
                        <a:t>USACO Guide (</a:t>
                      </a:r>
                      <a:r>
                        <a:rPr lang="en-IN">
                          <a:latin typeface="Times New Roman" panose="02020603050405020304" pitchFamily="18" charset="0"/>
                          <a:cs typeface="Times New Roman" panose="02020603050405020304" pitchFamily="18" charset="0"/>
                          <a:hlinkClick r:id="rId6"/>
                        </a:rPr>
                        <a:t>https://usaco.guide/</a:t>
                      </a:r>
                      <a:r>
                        <a:rPr lang="en-IN">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latin typeface="Times New Roman" panose="02020603050405020304" pitchFamily="18" charset="0"/>
                          <a:cs typeface="Times New Roman" panose="02020603050405020304" pitchFamily="18" charset="0"/>
                        </a:rPr>
                        <a:t>Structured learning path for algorithms and competitive programming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139829"/>
                  </a:ext>
                </a:extLst>
              </a:tr>
            </a:tbl>
          </a:graphicData>
        </a:graphic>
      </p:graphicFrame>
      <p:sp>
        <p:nvSpPr>
          <p:cNvPr id="6" name="TextBox 5">
            <a:extLst>
              <a:ext uri="{FF2B5EF4-FFF2-40B4-BE49-F238E27FC236}">
                <a16:creationId xmlns:a16="http://schemas.microsoft.com/office/drawing/2014/main" id="{D5D12457-CEA9-C89A-188C-D3D7CCDC217F}"/>
              </a:ext>
            </a:extLst>
          </p:cNvPr>
          <p:cNvSpPr txBox="1"/>
          <p:nvPr/>
        </p:nvSpPr>
        <p:spPr>
          <a:xfrm>
            <a:off x="838200" y="1416231"/>
            <a:ext cx="6094562" cy="523220"/>
          </a:xfrm>
          <a:prstGeom prst="rect">
            <a:avLst/>
          </a:prstGeom>
          <a:noFill/>
        </p:spPr>
        <p:txBody>
          <a:bodyPr wrap="square">
            <a:spAutoFit/>
          </a:bodyPr>
          <a:lstStyle/>
          <a:p>
            <a:pPr>
              <a:buNone/>
            </a:pPr>
            <a:r>
              <a:rPr lang="en-IN" sz="2800" b="1" dirty="0"/>
              <a:t>Relevant Websites (RW)</a:t>
            </a:r>
          </a:p>
        </p:txBody>
      </p:sp>
    </p:spTree>
    <p:extLst>
      <p:ext uri="{BB962C8B-B14F-4D97-AF65-F5344CB8AC3E}">
        <p14:creationId xmlns:p14="http://schemas.microsoft.com/office/powerpoint/2010/main" val="1099571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1CE83A-686B-3ED9-0F7A-9E31CB0EED9D}"/>
              </a:ext>
            </a:extLst>
          </p:cNvPr>
          <p:cNvSpPr txBox="1"/>
          <p:nvPr/>
        </p:nvSpPr>
        <p:spPr>
          <a:xfrm>
            <a:off x="1276709" y="1406106"/>
            <a:ext cx="9566695" cy="4554747"/>
          </a:xfrm>
          <a:prstGeom prst="rect">
            <a:avLst/>
          </a:prstGeom>
          <a:noFill/>
        </p:spPr>
        <p:txBody>
          <a:bodyPr wrap="square" rtlCol="0">
            <a:spAutoFit/>
          </a:bodyPr>
          <a:lstStyle/>
          <a:p>
            <a:endParaRPr lang="en-IN" dirty="0"/>
          </a:p>
        </p:txBody>
      </p:sp>
      <p:graphicFrame>
        <p:nvGraphicFramePr>
          <p:cNvPr id="4" name="Table 3">
            <a:extLst>
              <a:ext uri="{FF2B5EF4-FFF2-40B4-BE49-F238E27FC236}">
                <a16:creationId xmlns:a16="http://schemas.microsoft.com/office/drawing/2014/main" id="{037D9D95-0123-0346-319F-CE81E19B00A1}"/>
              </a:ext>
            </a:extLst>
          </p:cNvPr>
          <p:cNvGraphicFramePr>
            <a:graphicFrameLocks noGrp="1"/>
          </p:cNvGraphicFramePr>
          <p:nvPr>
            <p:extLst>
              <p:ext uri="{D42A27DB-BD31-4B8C-83A1-F6EECF244321}">
                <p14:modId xmlns:p14="http://schemas.microsoft.com/office/powerpoint/2010/main" val="590763693"/>
              </p:ext>
            </p:extLst>
          </p:nvPr>
        </p:nvGraphicFramePr>
        <p:xfrm>
          <a:off x="838200" y="2858294"/>
          <a:ext cx="10515600" cy="2286000"/>
        </p:xfrm>
        <a:graphic>
          <a:graphicData uri="http://schemas.openxmlformats.org/drawingml/2006/table">
            <a:tbl>
              <a:tblPr/>
              <a:tblGrid>
                <a:gridCol w="5257800">
                  <a:extLst>
                    <a:ext uri="{9D8B030D-6E8A-4147-A177-3AD203B41FA5}">
                      <a16:colId xmlns:a16="http://schemas.microsoft.com/office/drawing/2014/main" val="3663847071"/>
                    </a:ext>
                  </a:extLst>
                </a:gridCol>
                <a:gridCol w="5257800">
                  <a:extLst>
                    <a:ext uri="{9D8B030D-6E8A-4147-A177-3AD203B41FA5}">
                      <a16:colId xmlns:a16="http://schemas.microsoft.com/office/drawing/2014/main" val="2303920787"/>
                    </a:ext>
                  </a:extLst>
                </a:gridCol>
              </a:tblGrid>
              <a:tr h="0">
                <a:tc>
                  <a:txBody>
                    <a:bodyPr/>
                    <a:lstStyle/>
                    <a:p>
                      <a:pPr algn="ctr">
                        <a:buNone/>
                      </a:pPr>
                      <a:r>
                        <a:rPr lang="en-IN">
                          <a:latin typeface="Times New Roman" panose="02020603050405020304" pitchFamily="18" charset="0"/>
                          <a:cs typeface="Times New Roman" panose="02020603050405020304" pitchFamily="18" charset="0"/>
                        </a:rPr>
                        <a:t>Website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latin typeface="Times New Roman" panose="02020603050405020304" pitchFamily="18" charset="0"/>
                          <a:cs typeface="Times New Roman" panose="02020603050405020304" pitchFamily="18" charset="0"/>
                        </a:rPr>
                        <a:t>Salient 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5845897"/>
                  </a:ext>
                </a:extLst>
              </a:tr>
              <a:tr h="0">
                <a:tc>
                  <a:txBody>
                    <a:bodyPr/>
                    <a:lstStyle/>
                    <a:p>
                      <a:pPr algn="ctr">
                        <a:buNone/>
                      </a:pPr>
                      <a:r>
                        <a:rPr lang="en-IN" dirty="0" err="1">
                          <a:latin typeface="Times New Roman" panose="02020603050405020304" pitchFamily="18" charset="0"/>
                          <a:cs typeface="Times New Roman" panose="02020603050405020304" pitchFamily="18" charset="0"/>
                        </a:rPr>
                        <a:t>VisuAlgo</a:t>
                      </a:r>
                      <a:r>
                        <a:rPr 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hlinkClick r:id="rId2"/>
                        </a:rPr>
                        <a:t>https://visualgo.net/en</a:t>
                      </a:r>
                      <a:r>
                        <a:rPr lang="en-IN"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latin typeface="Times New Roman" panose="02020603050405020304" pitchFamily="18" charset="0"/>
                          <a:cs typeface="Times New Roman" panose="02020603050405020304" pitchFamily="18" charset="0"/>
                        </a:rPr>
                        <a:t>Interactive visualization of algorithms and data structures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034483"/>
                  </a:ext>
                </a:extLst>
              </a:tr>
              <a:tr h="0">
                <a:tc>
                  <a:txBody>
                    <a:bodyPr/>
                    <a:lstStyle/>
                    <a:p>
                      <a:pPr algn="ctr">
                        <a:buNone/>
                      </a:pPr>
                      <a:r>
                        <a:rPr lang="en-IN">
                          <a:latin typeface="Times New Roman" panose="02020603050405020304" pitchFamily="18" charset="0"/>
                          <a:cs typeface="Times New Roman" panose="02020603050405020304" pitchFamily="18" charset="0"/>
                        </a:rPr>
                        <a:t>Algorithm Visualizer (</a:t>
                      </a:r>
                      <a:r>
                        <a:rPr lang="en-IN">
                          <a:latin typeface="Times New Roman" panose="02020603050405020304" pitchFamily="18" charset="0"/>
                          <a:cs typeface="Times New Roman" panose="02020603050405020304" pitchFamily="18" charset="0"/>
                          <a:hlinkClick r:id="rId3"/>
                        </a:rPr>
                        <a:t>https://algorithm-visualizer.org/</a:t>
                      </a:r>
                      <a:r>
                        <a:rPr lang="en-IN">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latin typeface="Times New Roman" panose="02020603050405020304" pitchFamily="18" charset="0"/>
                          <a:cs typeface="Times New Roman" panose="02020603050405020304" pitchFamily="18" charset="0"/>
                        </a:rPr>
                        <a:t>Step-by-step execution and visualization of algorithms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946600"/>
                  </a:ext>
                </a:extLst>
              </a:tr>
              <a:tr h="0">
                <a:tc>
                  <a:txBody>
                    <a:bodyPr/>
                    <a:lstStyle/>
                    <a:p>
                      <a:pPr algn="ctr">
                        <a:buNone/>
                      </a:pPr>
                      <a:r>
                        <a:rPr lang="en-IN">
                          <a:latin typeface="Times New Roman" panose="02020603050405020304" pitchFamily="18" charset="0"/>
                          <a:cs typeface="Times New Roman" panose="02020603050405020304" pitchFamily="18" charset="0"/>
                        </a:rPr>
                        <a:t>Data Structure Visualizations (</a:t>
                      </a:r>
                      <a:r>
                        <a:rPr lang="en-IN">
                          <a:latin typeface="Times New Roman" panose="02020603050405020304" pitchFamily="18" charset="0"/>
                          <a:cs typeface="Times New Roman" panose="02020603050405020304" pitchFamily="18" charset="0"/>
                          <a:hlinkClick r:id="rId4"/>
                        </a:rPr>
                        <a:t>https://www.cs.usfca.edu/~galles/visualization/Algorithms.html</a:t>
                      </a:r>
                      <a:r>
                        <a:rPr lang="en-IN">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latin typeface="Times New Roman" panose="02020603050405020304" pitchFamily="18" charset="0"/>
                          <a:cs typeface="Times New Roman" panose="02020603050405020304" pitchFamily="18" charset="0"/>
                        </a:rPr>
                        <a:t>Interactive visualization of trees, graphs, sorting, heaps, and graph algorithms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172963"/>
                  </a:ext>
                </a:extLst>
              </a:tr>
            </a:tbl>
          </a:graphicData>
        </a:graphic>
      </p:graphicFrame>
      <p:sp>
        <p:nvSpPr>
          <p:cNvPr id="6" name="TextBox 5">
            <a:extLst>
              <a:ext uri="{FF2B5EF4-FFF2-40B4-BE49-F238E27FC236}">
                <a16:creationId xmlns:a16="http://schemas.microsoft.com/office/drawing/2014/main" id="{9C87538C-9820-1BE0-19BF-F4DF6A0D65AC}"/>
              </a:ext>
            </a:extLst>
          </p:cNvPr>
          <p:cNvSpPr txBox="1"/>
          <p:nvPr/>
        </p:nvSpPr>
        <p:spPr>
          <a:xfrm>
            <a:off x="838200" y="1529040"/>
            <a:ext cx="6094562" cy="523220"/>
          </a:xfrm>
          <a:prstGeom prst="rect">
            <a:avLst/>
          </a:prstGeom>
          <a:noFill/>
        </p:spPr>
        <p:txBody>
          <a:bodyPr wrap="square">
            <a:spAutoFit/>
          </a:bodyPr>
          <a:lstStyle/>
          <a:p>
            <a:pPr>
              <a:buNone/>
            </a:pPr>
            <a:r>
              <a:rPr lang="en-IN" sz="2800" b="1" dirty="0"/>
              <a:t>Virtual Labs (VL)</a:t>
            </a:r>
          </a:p>
        </p:txBody>
      </p:sp>
    </p:spTree>
    <p:extLst>
      <p:ext uri="{BB962C8B-B14F-4D97-AF65-F5344CB8AC3E}">
        <p14:creationId xmlns:p14="http://schemas.microsoft.com/office/powerpoint/2010/main" val="261479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FAE1781-62F0-74DA-8FB3-A1E9A77D4A16}"/>
              </a:ext>
            </a:extLst>
          </p:cNvPr>
          <p:cNvSpPr txBox="1"/>
          <p:nvPr/>
        </p:nvSpPr>
        <p:spPr>
          <a:xfrm>
            <a:off x="2358312" y="659755"/>
            <a:ext cx="6097554" cy="646331"/>
          </a:xfrm>
          <a:prstGeom prst="rect">
            <a:avLst/>
          </a:prstGeom>
          <a:noFill/>
        </p:spPr>
        <p:txBody>
          <a:bodyPr wrap="square">
            <a:spAutoFit/>
          </a:bodyPr>
          <a:lstStyle/>
          <a:p>
            <a:r>
              <a:rPr lang="en-IN" sz="3600" dirty="0">
                <a:solidFill>
                  <a:srgbClr val="C00000"/>
                </a:solidFill>
                <a:latin typeface="Times New Roman" panose="02020603050405020304" pitchFamily="18" charset="0"/>
                <a:cs typeface="Times New Roman" panose="02020603050405020304" pitchFamily="18" charset="0"/>
              </a:rPr>
              <a:t>Placement &amp; Career Relevance</a:t>
            </a:r>
            <a:endParaRPr lang="en-US" sz="3600" dirty="0">
              <a:solidFill>
                <a:srgbClr val="C00000"/>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F01B75D4-BAC8-F30B-AE71-A79DE012C8C7}"/>
              </a:ext>
            </a:extLst>
          </p:cNvPr>
          <p:cNvGraphicFramePr>
            <a:graphicFrameLocks noGrp="1"/>
          </p:cNvGraphicFramePr>
          <p:nvPr>
            <p:extLst>
              <p:ext uri="{D42A27DB-BD31-4B8C-83A1-F6EECF244321}">
                <p14:modId xmlns:p14="http://schemas.microsoft.com/office/powerpoint/2010/main" val="3273013063"/>
              </p:ext>
            </p:extLst>
          </p:nvPr>
        </p:nvGraphicFramePr>
        <p:xfrm>
          <a:off x="760563" y="1722195"/>
          <a:ext cx="10515600" cy="1280160"/>
        </p:xfrm>
        <a:graphic>
          <a:graphicData uri="http://schemas.openxmlformats.org/drawingml/2006/table">
            <a:tbl>
              <a:tblPr/>
              <a:tblGrid>
                <a:gridCol w="5257800">
                  <a:extLst>
                    <a:ext uri="{9D8B030D-6E8A-4147-A177-3AD203B41FA5}">
                      <a16:colId xmlns:a16="http://schemas.microsoft.com/office/drawing/2014/main" val="1805350956"/>
                    </a:ext>
                  </a:extLst>
                </a:gridCol>
                <a:gridCol w="5257800">
                  <a:extLst>
                    <a:ext uri="{9D8B030D-6E8A-4147-A177-3AD203B41FA5}">
                      <a16:colId xmlns:a16="http://schemas.microsoft.com/office/drawing/2014/main" val="1868948363"/>
                    </a:ext>
                  </a:extLst>
                </a:gridCol>
              </a:tblGrid>
              <a:tr h="0">
                <a:tc>
                  <a:txBody>
                    <a:bodyPr/>
                    <a:lstStyle/>
                    <a:p>
                      <a:pPr>
                        <a:buNone/>
                      </a:pPr>
                      <a:r>
                        <a:rPr lang="en-IN" b="1"/>
                        <a:t>💼 Employability Skills</a:t>
                      </a:r>
                      <a:endParaRPr lang="en-IN"/>
                    </a:p>
                  </a:txBody>
                  <a:tcPr anchor="ctr">
                    <a:lnL>
                      <a:noFill/>
                    </a:lnL>
                    <a:lnR>
                      <a:noFill/>
                    </a:lnR>
                    <a:lnT>
                      <a:noFill/>
                    </a:lnT>
                    <a:lnB>
                      <a:noFill/>
                    </a:lnB>
                    <a:noFill/>
                  </a:tcPr>
                </a:tc>
                <a:tc>
                  <a:txBody>
                    <a:bodyPr/>
                    <a:lstStyle/>
                    <a:p>
                      <a:pPr>
                        <a:buNone/>
                      </a:pPr>
                      <a:r>
                        <a:rPr lang="en-IN" b="1"/>
                        <a:t>🏭 Industry Applications</a:t>
                      </a:r>
                      <a:endParaRPr lang="en-IN"/>
                    </a:p>
                  </a:txBody>
                  <a:tcPr anchor="ctr">
                    <a:lnL>
                      <a:noFill/>
                    </a:lnL>
                    <a:lnR>
                      <a:noFill/>
                    </a:lnR>
                    <a:lnT>
                      <a:noFill/>
                    </a:lnT>
                    <a:lnB>
                      <a:noFill/>
                    </a:lnB>
                    <a:noFill/>
                  </a:tcPr>
                </a:tc>
                <a:extLst>
                  <a:ext uri="{0D108BD9-81ED-4DB2-BD59-A6C34878D82A}">
                    <a16:rowId xmlns:a16="http://schemas.microsoft.com/office/drawing/2014/main" val="2012317479"/>
                  </a:ext>
                </a:extLst>
              </a:tr>
              <a:tr h="0">
                <a:tc>
                  <a:txBody>
                    <a:bodyPr/>
                    <a:lstStyle/>
                    <a:p>
                      <a:pPr>
                        <a:buNone/>
                      </a:pPr>
                      <a:r>
                        <a:rPr lang="en-IN" dirty="0"/>
                        <a:t>• Algorithmic Thinking• Problem Solving• Complexity Analysis• Optimization Techniques• Coding &amp; Debugging</a:t>
                      </a:r>
                    </a:p>
                  </a:txBody>
                  <a:tcPr anchor="ctr">
                    <a:lnL>
                      <a:noFill/>
                    </a:lnL>
                    <a:lnR>
                      <a:noFill/>
                    </a:lnR>
                    <a:lnT>
                      <a:noFill/>
                    </a:lnT>
                    <a:lnB>
                      <a:noFill/>
                    </a:lnB>
                    <a:noFill/>
                  </a:tcPr>
                </a:tc>
                <a:tc>
                  <a:txBody>
                    <a:bodyPr/>
                    <a:lstStyle/>
                    <a:p>
                      <a:pPr>
                        <a:buNone/>
                      </a:pPr>
                      <a:r>
                        <a:rPr lang="en-IN" dirty="0"/>
                        <a:t>• Software Development• Artificial Intelligence &amp; ML• Data Science &amp; Analytics• Cloud Computing• Network Optimization</a:t>
                      </a:r>
                    </a:p>
                  </a:txBody>
                  <a:tcPr anchor="ctr">
                    <a:lnL>
                      <a:noFill/>
                    </a:lnL>
                    <a:lnR>
                      <a:noFill/>
                    </a:lnR>
                    <a:lnT>
                      <a:noFill/>
                    </a:lnT>
                    <a:lnB>
                      <a:noFill/>
                    </a:lnB>
                    <a:noFill/>
                  </a:tcPr>
                </a:tc>
                <a:extLst>
                  <a:ext uri="{0D108BD9-81ED-4DB2-BD59-A6C34878D82A}">
                    <a16:rowId xmlns:a16="http://schemas.microsoft.com/office/drawing/2014/main" val="2914913538"/>
                  </a:ext>
                </a:extLst>
              </a:tr>
            </a:tbl>
          </a:graphicData>
        </a:graphic>
      </p:graphicFrame>
      <p:graphicFrame>
        <p:nvGraphicFramePr>
          <p:cNvPr id="3" name="Table 2">
            <a:extLst>
              <a:ext uri="{FF2B5EF4-FFF2-40B4-BE49-F238E27FC236}">
                <a16:creationId xmlns:a16="http://schemas.microsoft.com/office/drawing/2014/main" id="{67456F2D-1EE9-8706-1740-8136FE4DCFF4}"/>
              </a:ext>
            </a:extLst>
          </p:cNvPr>
          <p:cNvGraphicFramePr>
            <a:graphicFrameLocks noGrp="1"/>
          </p:cNvGraphicFramePr>
          <p:nvPr/>
        </p:nvGraphicFramePr>
        <p:xfrm>
          <a:off x="838200" y="3498374"/>
          <a:ext cx="10515600" cy="1005840"/>
        </p:xfrm>
        <a:graphic>
          <a:graphicData uri="http://schemas.openxmlformats.org/drawingml/2006/table">
            <a:tbl>
              <a:tblPr/>
              <a:tblGrid>
                <a:gridCol w="5257800">
                  <a:extLst>
                    <a:ext uri="{9D8B030D-6E8A-4147-A177-3AD203B41FA5}">
                      <a16:colId xmlns:a16="http://schemas.microsoft.com/office/drawing/2014/main" val="4170875082"/>
                    </a:ext>
                  </a:extLst>
                </a:gridCol>
                <a:gridCol w="5257800">
                  <a:extLst>
                    <a:ext uri="{9D8B030D-6E8A-4147-A177-3AD203B41FA5}">
                      <a16:colId xmlns:a16="http://schemas.microsoft.com/office/drawing/2014/main" val="3149014028"/>
                    </a:ext>
                  </a:extLst>
                </a:gridCol>
              </a:tblGrid>
              <a:tr h="0">
                <a:tc>
                  <a:txBody>
                    <a:bodyPr/>
                    <a:lstStyle/>
                    <a:p>
                      <a:pPr>
                        <a:buNone/>
                      </a:pPr>
                      <a:r>
                        <a:rPr lang="en-IN" b="1"/>
                        <a:t>👨‍💻 Career Opportunities</a:t>
                      </a:r>
                      <a:endParaRPr lang="en-IN"/>
                    </a:p>
                  </a:txBody>
                  <a:tcPr anchor="ctr">
                    <a:lnL>
                      <a:noFill/>
                    </a:lnL>
                    <a:lnR>
                      <a:noFill/>
                    </a:lnR>
                    <a:lnT>
                      <a:noFill/>
                    </a:lnT>
                    <a:lnB>
                      <a:noFill/>
                    </a:lnB>
                    <a:noFill/>
                  </a:tcPr>
                </a:tc>
                <a:tc>
                  <a:txBody>
                    <a:bodyPr/>
                    <a:lstStyle/>
                    <a:p>
                      <a:pPr>
                        <a:buNone/>
                      </a:pPr>
                      <a:r>
                        <a:rPr lang="en-IN" b="1"/>
                        <a:t>🎓 Higher Studies &amp; Competitive Exams</a:t>
                      </a:r>
                      <a:endParaRPr lang="en-IN"/>
                    </a:p>
                  </a:txBody>
                  <a:tcPr anchor="ctr">
                    <a:lnL>
                      <a:noFill/>
                    </a:lnL>
                    <a:lnR>
                      <a:noFill/>
                    </a:lnR>
                    <a:lnT>
                      <a:noFill/>
                    </a:lnT>
                    <a:lnB>
                      <a:noFill/>
                    </a:lnB>
                    <a:noFill/>
                  </a:tcPr>
                </a:tc>
                <a:extLst>
                  <a:ext uri="{0D108BD9-81ED-4DB2-BD59-A6C34878D82A}">
                    <a16:rowId xmlns:a16="http://schemas.microsoft.com/office/drawing/2014/main" val="1539375728"/>
                  </a:ext>
                </a:extLst>
              </a:tr>
              <a:tr h="0">
                <a:tc>
                  <a:txBody>
                    <a:bodyPr/>
                    <a:lstStyle/>
                    <a:p>
                      <a:pPr>
                        <a:buNone/>
                      </a:pPr>
                      <a:r>
                        <a:rPr lang="en-IN"/>
                        <a:t>• Software Engineer• Backend Developer• Algorithm Engineer• AI/ML Engineer• Research Engineer</a:t>
                      </a:r>
                    </a:p>
                  </a:txBody>
                  <a:tcPr anchor="ctr">
                    <a:lnL>
                      <a:noFill/>
                    </a:lnL>
                    <a:lnR>
                      <a:noFill/>
                    </a:lnR>
                    <a:lnT>
                      <a:noFill/>
                    </a:lnT>
                    <a:lnB>
                      <a:noFill/>
                    </a:lnB>
                    <a:noFill/>
                  </a:tcPr>
                </a:tc>
                <a:tc>
                  <a:txBody>
                    <a:bodyPr/>
                    <a:lstStyle/>
                    <a:p>
                      <a:pPr>
                        <a:buNone/>
                      </a:pPr>
                      <a:r>
                        <a:rPr lang="en-IN" dirty="0"/>
                        <a:t>• GATE (CS)• UGC-NET (CS)• </a:t>
                      </a:r>
                      <a:r>
                        <a:rPr lang="en-IN" dirty="0" err="1"/>
                        <a:t>M.Tech</a:t>
                      </a:r>
                      <a:r>
                        <a:rPr lang="en-IN" dirty="0"/>
                        <a:t>./MS/Ph.D.• Coding Interviews• Competitive Programming</a:t>
                      </a:r>
                    </a:p>
                  </a:txBody>
                  <a:tcPr anchor="ctr">
                    <a:lnL>
                      <a:noFill/>
                    </a:lnL>
                    <a:lnR>
                      <a:noFill/>
                    </a:lnR>
                    <a:lnT>
                      <a:noFill/>
                    </a:lnT>
                    <a:lnB>
                      <a:noFill/>
                    </a:lnB>
                    <a:noFill/>
                  </a:tcPr>
                </a:tc>
                <a:extLst>
                  <a:ext uri="{0D108BD9-81ED-4DB2-BD59-A6C34878D82A}">
                    <a16:rowId xmlns:a16="http://schemas.microsoft.com/office/drawing/2014/main" val="670066702"/>
                  </a:ext>
                </a:extLst>
              </a:tr>
            </a:tbl>
          </a:graphicData>
        </a:graphic>
      </p:graphicFrame>
    </p:spTree>
    <p:extLst>
      <p:ext uri="{BB962C8B-B14F-4D97-AF65-F5344CB8AC3E}">
        <p14:creationId xmlns:p14="http://schemas.microsoft.com/office/powerpoint/2010/main" val="26419070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object 5">
            <a:extLst>
              <a:ext uri="{FF2B5EF4-FFF2-40B4-BE49-F238E27FC236}">
                <a16:creationId xmlns:a16="http://schemas.microsoft.com/office/drawing/2014/main" id="{AEB9499D-9E52-43D8-BE8E-1C60C29A1A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816601"/>
            <a:ext cx="3491881" cy="5836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object 2">
            <a:extLst>
              <a:ext uri="{FF2B5EF4-FFF2-40B4-BE49-F238E27FC236}">
                <a16:creationId xmlns:a16="http://schemas.microsoft.com/office/drawing/2014/main" id="{098FB05E-15F5-A9C4-DBF6-E21FBD5209C5}"/>
              </a:ext>
            </a:extLst>
          </p:cNvPr>
          <p:cNvSpPr txBox="1">
            <a:spLocks/>
          </p:cNvSpPr>
          <p:nvPr/>
        </p:nvSpPr>
        <p:spPr>
          <a:xfrm>
            <a:off x="5375920" y="816601"/>
            <a:ext cx="5184576" cy="5259773"/>
          </a:xfrm>
          <a:prstGeom prst="rect">
            <a:avLst/>
          </a:prstGeom>
        </p:spPr>
        <p:txBody>
          <a:bodyPr vert="horz" wrap="square" lIns="0" tIns="9525"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9525" defTabSz="761970">
              <a:lnSpc>
                <a:spcPct val="100000"/>
              </a:lnSpc>
              <a:spcBef>
                <a:spcPts val="75"/>
              </a:spcBef>
            </a:pPr>
            <a:r>
              <a:rPr lang="en-US" sz="3200" b="1" dirty="0">
                <a:solidFill>
                  <a:srgbClr val="E97132"/>
                </a:solidFill>
                <a:latin typeface="Times New Roman" panose="02020603050405020304" pitchFamily="18" charset="0"/>
                <a:cs typeface="Times New Roman" panose="02020603050405020304" pitchFamily="18" charset="0"/>
              </a:rPr>
              <a:t>WHAT IS EDUCATION REVOLUTION?</a:t>
            </a:r>
          </a:p>
          <a:p>
            <a:pPr marL="9525" defTabSz="761970">
              <a:lnSpc>
                <a:spcPct val="100000"/>
              </a:lnSpc>
              <a:spcBef>
                <a:spcPts val="75"/>
              </a:spcBef>
            </a:pPr>
            <a:endParaRPr lang="en-US" sz="2100" b="1" dirty="0">
              <a:solidFill>
                <a:prstClr val="black"/>
              </a:solidFill>
              <a:latin typeface="Times New Roman" panose="02020603050405020304" pitchFamily="18" charset="0"/>
              <a:cs typeface="Times New Roman" panose="02020603050405020304" pitchFamily="18" charset="0"/>
            </a:endParaRPr>
          </a:p>
          <a:p>
            <a:pPr marL="9525" defTabSz="761970">
              <a:lnSpc>
                <a:spcPct val="100000"/>
              </a:lnSpc>
              <a:spcBef>
                <a:spcPts val="75"/>
              </a:spcBef>
            </a:pPr>
            <a:r>
              <a:rPr lang="en-US" sz="2100" b="1" dirty="0">
                <a:solidFill>
                  <a:prstClr val="black"/>
                </a:solidFill>
                <a:latin typeface="Times New Roman" panose="02020603050405020304" pitchFamily="18" charset="0"/>
                <a:cs typeface="Times New Roman" panose="02020603050405020304" pitchFamily="18" charset="0"/>
              </a:rPr>
              <a:t>Edu-Revolution</a:t>
            </a:r>
            <a:r>
              <a:rPr lang="en-US" sz="2100" dirty="0">
                <a:solidFill>
                  <a:prstClr val="black"/>
                </a:solidFill>
                <a:latin typeface="Times New Roman" panose="02020603050405020304" pitchFamily="18" charset="0"/>
                <a:cs typeface="Times New Roman" panose="02020603050405020304" pitchFamily="18" charset="0"/>
              </a:rPr>
              <a:t> at LPU is a transformative academic initiative aimed at creating a </a:t>
            </a:r>
            <a:r>
              <a:rPr lang="en-US" sz="2100" b="1" dirty="0">
                <a:solidFill>
                  <a:srgbClr val="E97132"/>
                </a:solidFill>
                <a:latin typeface="Times New Roman" panose="02020603050405020304" pitchFamily="18" charset="0"/>
                <a:cs typeface="Times New Roman" panose="02020603050405020304" pitchFamily="18" charset="0"/>
              </a:rPr>
              <a:t>flexible, inclusive, and experiential learning environment. </a:t>
            </a:r>
          </a:p>
          <a:p>
            <a:pPr marL="9525" defTabSz="761970">
              <a:lnSpc>
                <a:spcPct val="100000"/>
              </a:lnSpc>
              <a:spcBef>
                <a:spcPts val="75"/>
              </a:spcBef>
            </a:pPr>
            <a:endParaRPr lang="en-US" sz="2100" dirty="0">
              <a:solidFill>
                <a:prstClr val="black"/>
              </a:solidFill>
              <a:latin typeface="Times New Roman" panose="02020603050405020304" pitchFamily="18" charset="0"/>
              <a:cs typeface="Times New Roman" panose="02020603050405020304" pitchFamily="18" charset="0"/>
            </a:endParaRPr>
          </a:p>
          <a:p>
            <a:pPr marL="9525" defTabSz="761970">
              <a:lnSpc>
                <a:spcPct val="100000"/>
              </a:lnSpc>
              <a:spcBef>
                <a:spcPts val="75"/>
              </a:spcBef>
            </a:pPr>
            <a:endParaRPr lang="en-US" sz="2100" b="1" dirty="0">
              <a:solidFill>
                <a:prstClr val="black"/>
              </a:solidFill>
              <a:latin typeface="Times New Roman" panose="02020603050405020304" pitchFamily="18" charset="0"/>
              <a:cs typeface="Times New Roman" panose="02020603050405020304" pitchFamily="18" charset="0"/>
            </a:endParaRPr>
          </a:p>
          <a:p>
            <a:pPr marL="9525" defTabSz="761970">
              <a:lnSpc>
                <a:spcPct val="100000"/>
              </a:lnSpc>
              <a:spcBef>
                <a:spcPts val="75"/>
              </a:spcBef>
            </a:pPr>
            <a:r>
              <a:rPr lang="en-US" sz="2100" b="1" dirty="0">
                <a:solidFill>
                  <a:prstClr val="black"/>
                </a:solidFill>
                <a:latin typeface="Times New Roman" panose="02020603050405020304" pitchFamily="18" charset="0"/>
                <a:cs typeface="Times New Roman" panose="02020603050405020304" pitchFamily="18" charset="0"/>
              </a:rPr>
              <a:t>Promotes student-centric learning </a:t>
            </a:r>
            <a:r>
              <a:rPr lang="en-US" sz="2100" dirty="0">
                <a:solidFill>
                  <a:prstClr val="black"/>
                </a:solidFill>
                <a:latin typeface="Times New Roman" panose="02020603050405020304" pitchFamily="18" charset="0"/>
                <a:cs typeface="Times New Roman" panose="02020603050405020304" pitchFamily="18" charset="0"/>
              </a:rPr>
              <a:t>by integrating </a:t>
            </a:r>
            <a:r>
              <a:rPr lang="en-US" sz="2100" b="1" dirty="0">
                <a:solidFill>
                  <a:srgbClr val="E97132"/>
                </a:solidFill>
                <a:latin typeface="Times New Roman" panose="02020603050405020304" pitchFamily="18" charset="0"/>
                <a:cs typeface="Times New Roman" panose="02020603050405020304" pitchFamily="18" charset="0"/>
              </a:rPr>
              <a:t>real-world experiences, industry engagement, gamified learning practices, entrepreneurial activities, and extracurricular contributions </a:t>
            </a:r>
            <a:r>
              <a:rPr lang="en-US" sz="2100" dirty="0">
                <a:solidFill>
                  <a:prstClr val="black"/>
                </a:solidFill>
                <a:latin typeface="Times New Roman" panose="02020603050405020304" pitchFamily="18" charset="0"/>
                <a:cs typeface="Times New Roman" panose="02020603050405020304" pitchFamily="18" charset="0"/>
              </a:rPr>
              <a:t>into the formal academic framework.</a:t>
            </a:r>
          </a:p>
        </p:txBody>
      </p:sp>
    </p:spTree>
    <p:extLst>
      <p:ext uri="{BB962C8B-B14F-4D97-AF65-F5344CB8AC3E}">
        <p14:creationId xmlns:p14="http://schemas.microsoft.com/office/powerpoint/2010/main" val="21368424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6350" y="746125"/>
            <a:ext cx="7322185" cy="944880"/>
          </a:xfrm>
        </p:spPr>
        <p:txBody>
          <a:bodyPr/>
          <a:lstStyle/>
          <a:p>
            <a:r>
              <a:rPr lang="en-US" sz="3600" dirty="0">
                <a:latin typeface="Times New Roman" panose="02020603050405020304" pitchFamily="18" charset="0"/>
                <a:cs typeface="Times New Roman" panose="02020603050405020304" pitchFamily="18" charset="0"/>
              </a:rPr>
              <a:t>Why EDU-Revolution!!!</a:t>
            </a:r>
          </a:p>
        </p:txBody>
      </p:sp>
      <p:sp>
        <p:nvSpPr>
          <p:cNvPr id="3" name="Content Placeholder 2"/>
          <p:cNvSpPr>
            <a:spLocks noGrp="1"/>
          </p:cNvSpPr>
          <p:nvPr>
            <p:ph idx="1"/>
          </p:nvPr>
        </p:nvSpPr>
        <p:spPr>
          <a:xfrm>
            <a:off x="1276350" y="1537970"/>
            <a:ext cx="9639300" cy="4351655"/>
          </a:xfrm>
        </p:spPr>
        <p:txBody>
          <a:bodyPr>
            <a:normAutofit lnSpcReduction="10000"/>
          </a:bodyPr>
          <a:lstStyle/>
          <a:p>
            <a:pPr marL="489585" lvl="1" indent="-336550">
              <a:lnSpc>
                <a:spcPct val="150000"/>
              </a:lnSpc>
              <a:spcBef>
                <a:spcPts val="0"/>
              </a:spcBef>
            </a:pPr>
            <a:r>
              <a:rPr lang="en-US" altLang="en-US" sz="2800" dirty="0">
                <a:latin typeface="Times New Roman" panose="02020603050405020304" pitchFamily="18" charset="0"/>
                <a:cs typeface="Times New Roman" panose="02020603050405020304" pitchFamily="18" charset="0"/>
              </a:rPr>
              <a:t>Career Readiness</a:t>
            </a:r>
          </a:p>
          <a:p>
            <a:pPr marL="489585" lvl="1" indent="-336550">
              <a:lnSpc>
                <a:spcPct val="150000"/>
              </a:lnSpc>
              <a:spcBef>
                <a:spcPts val="0"/>
              </a:spcBef>
            </a:pPr>
            <a:r>
              <a:rPr lang="en-US" altLang="en-US" sz="2800" dirty="0">
                <a:latin typeface="Times New Roman" panose="02020603050405020304" pitchFamily="18" charset="0"/>
                <a:cs typeface="Times New Roman" panose="02020603050405020304" pitchFamily="18" charset="0"/>
              </a:rPr>
              <a:t>Enhance Real World Skills</a:t>
            </a:r>
          </a:p>
          <a:p>
            <a:pPr marL="489585" lvl="1" indent="-336550">
              <a:lnSpc>
                <a:spcPct val="150000"/>
              </a:lnSpc>
              <a:spcBef>
                <a:spcPts val="0"/>
              </a:spcBef>
            </a:pPr>
            <a:r>
              <a:rPr lang="en-US" altLang="en-US" sz="2800" dirty="0">
                <a:latin typeface="Times New Roman" panose="02020603050405020304" pitchFamily="18" charset="0"/>
                <a:cs typeface="Times New Roman" panose="02020603050405020304" pitchFamily="18" charset="0"/>
              </a:rPr>
              <a:t>Promote Innovation and Creativity</a:t>
            </a:r>
          </a:p>
          <a:p>
            <a:pPr marL="489585" lvl="1" indent="-336550">
              <a:lnSpc>
                <a:spcPct val="150000"/>
              </a:lnSpc>
              <a:spcBef>
                <a:spcPts val="0"/>
              </a:spcBef>
            </a:pPr>
            <a:r>
              <a:rPr lang="en-US" altLang="en-US" sz="2800" dirty="0">
                <a:latin typeface="Times New Roman" panose="02020603050405020304" pitchFamily="18" charset="0"/>
                <a:cs typeface="Times New Roman" panose="02020603050405020304" pitchFamily="18" charset="0"/>
              </a:rPr>
              <a:t>Foster Industry Relations</a:t>
            </a:r>
          </a:p>
          <a:p>
            <a:pPr marL="489585" lvl="1" indent="-336550">
              <a:lnSpc>
                <a:spcPct val="150000"/>
              </a:lnSpc>
              <a:spcBef>
                <a:spcPts val="0"/>
              </a:spcBef>
            </a:pPr>
            <a:r>
              <a:rPr lang="en-US" altLang="en-US" sz="2800" dirty="0">
                <a:latin typeface="Times New Roman" panose="02020603050405020304" pitchFamily="18" charset="0"/>
                <a:cs typeface="Times New Roman" panose="02020603050405020304" pitchFamily="18" charset="0"/>
              </a:rPr>
              <a:t>Develop Entrepreneurial Mindset</a:t>
            </a:r>
          </a:p>
          <a:p>
            <a:pPr marL="489585" lvl="1" indent="-336550">
              <a:lnSpc>
                <a:spcPct val="150000"/>
              </a:lnSpc>
              <a:spcBef>
                <a:spcPts val="0"/>
              </a:spcBef>
            </a:pPr>
            <a:r>
              <a:rPr lang="en-US" altLang="en-US" sz="2800" dirty="0">
                <a:latin typeface="Times New Roman" panose="02020603050405020304" pitchFamily="18" charset="0"/>
                <a:cs typeface="Times New Roman" panose="02020603050405020304" pitchFamily="18" charset="0"/>
              </a:rPr>
              <a:t>Increase Student Engagement and Motivation</a:t>
            </a:r>
          </a:p>
          <a:p>
            <a:pPr marL="489585" lvl="1" indent="-336550">
              <a:lnSpc>
                <a:spcPct val="150000"/>
              </a:lnSpc>
              <a:spcBef>
                <a:spcPts val="0"/>
              </a:spcBef>
            </a:pPr>
            <a:r>
              <a:rPr lang="en-US" altLang="en-US" sz="2800" dirty="0">
                <a:latin typeface="Times New Roman" panose="02020603050405020304" pitchFamily="18" charset="0"/>
                <a:cs typeface="Times New Roman" panose="02020603050405020304" pitchFamily="18" charset="0"/>
              </a:rPr>
              <a:t>Promote Lifelong Learning</a:t>
            </a:r>
          </a:p>
        </p:txBody>
      </p:sp>
      <p:sp>
        <p:nvSpPr>
          <p:cNvPr id="4" name="Rectangle 3">
            <a:extLst>
              <a:ext uri="{FF2B5EF4-FFF2-40B4-BE49-F238E27FC236}">
                <a16:creationId xmlns:a16="http://schemas.microsoft.com/office/drawing/2014/main" id="{D70383CE-66B3-49D6-A737-C885797C4908}"/>
              </a:ext>
            </a:extLst>
          </p:cNvPr>
          <p:cNvSpPr/>
          <p:nvPr/>
        </p:nvSpPr>
        <p:spPr>
          <a:xfrm>
            <a:off x="2078568" y="431800"/>
            <a:ext cx="8106833" cy="46038"/>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p>
        </p:txBody>
      </p:sp>
      <p:pic>
        <p:nvPicPr>
          <p:cNvPr id="5" name="Picture 4">
            <a:extLst>
              <a:ext uri="{FF2B5EF4-FFF2-40B4-BE49-F238E27FC236}">
                <a16:creationId xmlns:a16="http://schemas.microsoft.com/office/drawing/2014/main" id="{A75A6FD3-E9D7-4EFF-9DEA-D1DDC04046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54734" y="177800"/>
            <a:ext cx="1547284"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A9486E07-92DC-42F1-A094-76E347B1D69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8084" y="177801"/>
            <a:ext cx="1581149"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3596"/>
            <a:ext cx="10515600" cy="650240"/>
          </a:xfrm>
        </p:spPr>
        <p:txBody>
          <a:bodyPr>
            <a:normAutofit fontScale="90000"/>
          </a:bodyPr>
          <a:lstStyle/>
          <a:p>
            <a:pPr marL="0" marR="0" lvl="0" indent="0" defTabSz="914400" rtl="0" eaLnBrk="0" fontAlgn="base" latinLnBrk="0" hangingPunct="0">
              <a:lnSpc>
                <a:spcPct val="150000"/>
              </a:lnSpc>
              <a:spcBef>
                <a:spcPct val="0"/>
              </a:spcBef>
              <a:spcAft>
                <a:spcPts val="800"/>
              </a:spcAft>
              <a:defRPr/>
            </a:pPr>
            <a:r>
              <a:rPr kumimoji="0" lang="en-IN" sz="3600" b="1" i="0" u="none" strike="noStrike" kern="1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Education Revolution: </a:t>
            </a:r>
            <a:r>
              <a:rPr kumimoji="0" lang="en-IN" sz="3600" b="0" i="0" u="none" strike="noStrike" kern="1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an approach that encourages… </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97025"/>
            <a:ext cx="10781665" cy="4351655"/>
          </a:xfrm>
        </p:spPr>
        <p:txBody>
          <a:bodyPr/>
          <a:lstStyle/>
          <a:p>
            <a:pPr lvl="0">
              <a:lnSpc>
                <a:spcPct val="150000"/>
              </a:lnSpc>
              <a:spcBef>
                <a:spcPts val="0"/>
              </a:spcBef>
              <a:spcAft>
                <a:spcPts val="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Gamified Learning with AI focus - </a:t>
            </a:r>
            <a:r>
              <a:rPr lang="en-IN"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Learning Outside Classroom</a:t>
            </a:r>
          </a:p>
          <a:p>
            <a:pPr>
              <a:lnSpc>
                <a:spcPct val="150000"/>
              </a:lnSpc>
              <a:spcBef>
                <a:spcPts val="0"/>
              </a:spcBef>
              <a:spcAft>
                <a:spcPts val="0"/>
              </a:spcAft>
            </a:pPr>
            <a:r>
              <a:rPr lang="en-IN" dirty="0">
                <a:latin typeface="Times New Roman" panose="02020603050405020304" pitchFamily="18" charset="0"/>
                <a:ea typeface="Times New Roman" panose="02020603050405020304" pitchFamily="18" charset="0"/>
                <a:cs typeface="Times New Roman" panose="02020603050405020304" pitchFamily="18" charset="0"/>
              </a:rPr>
              <a:t>Revenue Generation by Students</a:t>
            </a:r>
          </a:p>
          <a:p>
            <a:pPr>
              <a:lnSpc>
                <a:spcPct val="150000"/>
              </a:lnSpc>
              <a:spcBef>
                <a:spcPts val="0"/>
              </a:spcBef>
              <a:spcAft>
                <a:spcPts val="0"/>
              </a:spcAft>
            </a:pPr>
            <a:r>
              <a:rPr lang="en-IN" dirty="0">
                <a:latin typeface="Times New Roman" panose="02020603050405020304" pitchFamily="18" charset="0"/>
                <a:ea typeface="Times New Roman" panose="02020603050405020304" pitchFamily="18" charset="0"/>
                <a:cs typeface="Times New Roman" panose="02020603050405020304" pitchFamily="18" charset="0"/>
              </a:rPr>
              <a:t>Career </a:t>
            </a:r>
            <a:r>
              <a:rPr lang="en-IN"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(not just degree)</a:t>
            </a:r>
            <a:endParaRPr lang="en-IN"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Bef>
                <a:spcPts val="0"/>
              </a:spcBef>
              <a:spcAft>
                <a:spcPts val="0"/>
              </a:spcAft>
            </a:pPr>
            <a:r>
              <a:rPr lang="en-IN" dirty="0">
                <a:latin typeface="Times New Roman" panose="02020603050405020304" pitchFamily="18" charset="0"/>
                <a:ea typeface="Times New Roman" panose="02020603050405020304" pitchFamily="18" charset="0"/>
                <a:cs typeface="Times New Roman" panose="02020603050405020304" pitchFamily="18" charset="0"/>
              </a:rPr>
              <a:t>Students in Decision Making</a:t>
            </a:r>
          </a:p>
          <a:p>
            <a:endParaRPr lang="en-IN" dirty="0">
              <a:latin typeface="Bahnschrift SemiCondensed" panose="020B0502040204020203" charset="0"/>
              <a:cs typeface="Bahnschrift SemiCondensed" panose="020B0502040204020203" charset="0"/>
            </a:endParaRPr>
          </a:p>
        </p:txBody>
      </p:sp>
      <p:sp>
        <p:nvSpPr>
          <p:cNvPr id="4" name="Rectangle 3">
            <a:extLst>
              <a:ext uri="{FF2B5EF4-FFF2-40B4-BE49-F238E27FC236}">
                <a16:creationId xmlns:a16="http://schemas.microsoft.com/office/drawing/2014/main" id="{D70383CE-66B3-49D6-A737-C885797C4908}"/>
              </a:ext>
            </a:extLst>
          </p:cNvPr>
          <p:cNvSpPr/>
          <p:nvPr/>
        </p:nvSpPr>
        <p:spPr>
          <a:xfrm>
            <a:off x="2078568" y="431800"/>
            <a:ext cx="8106833" cy="46038"/>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p>
        </p:txBody>
      </p:sp>
      <p:pic>
        <p:nvPicPr>
          <p:cNvPr id="5" name="Picture 4">
            <a:extLst>
              <a:ext uri="{FF2B5EF4-FFF2-40B4-BE49-F238E27FC236}">
                <a16:creationId xmlns:a16="http://schemas.microsoft.com/office/drawing/2014/main" id="{A75A6FD3-E9D7-4EFF-9DEA-D1DDC04046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54734" y="177800"/>
            <a:ext cx="1547284"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A9486E07-92DC-42F1-A094-76E347B1D69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8084" y="177801"/>
            <a:ext cx="1581149"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398095" y="1474486"/>
            <a:ext cx="2855079" cy="1609074"/>
            <a:chOff x="4206240" y="252837"/>
            <a:chExt cx="2366010" cy="1502416"/>
          </a:xfrm>
        </p:grpSpPr>
        <p:sp>
          <p:nvSpPr>
            <p:cNvPr id="4" name="Rounded Rectangle 3"/>
            <p:cNvSpPr/>
            <p:nvPr/>
          </p:nvSpPr>
          <p:spPr>
            <a:xfrm>
              <a:off x="4206240" y="252837"/>
              <a:ext cx="2366010" cy="1502416"/>
            </a:xfrm>
            <a:prstGeom prst="roundRect">
              <a:avLst>
                <a:gd name="adj" fmla="val 10000"/>
              </a:avLst>
            </a:pr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black">
                    <a:hueOff val="0"/>
                    <a:satOff val="0"/>
                    <a:lumOff val="0"/>
                    <a:alphaOff val="0"/>
                  </a:prstClr>
                </a:solidFill>
                <a:effectLst/>
                <a:uLnTx/>
                <a:uFillTx/>
                <a:latin typeface="Aptos" panose="02110004020202020204"/>
                <a:ea typeface="+mn-ea"/>
                <a:cs typeface="+mn-cs"/>
              </a:endParaRPr>
            </a:p>
          </p:txBody>
        </p:sp>
        <p:sp>
          <p:nvSpPr>
            <p:cNvPr id="5" name="Rounded Rectangle 4"/>
            <p:cNvSpPr txBox="1"/>
            <p:nvPr/>
          </p:nvSpPr>
          <p:spPr>
            <a:xfrm>
              <a:off x="4250244" y="296841"/>
              <a:ext cx="2278002" cy="141440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defRPr/>
              </a:pPr>
              <a:r>
                <a:rPr kumimoji="0" lang="en-US" sz="2400" b="1" i="0" u="none" strike="noStrike" kern="1200" cap="none" spc="0" normalizeH="0" baseline="0" noProof="0" dirty="0">
                  <a:ln>
                    <a:noFill/>
                  </a:ln>
                  <a:solidFill>
                    <a:prstClr val="black">
                      <a:hueOff val="0"/>
                      <a:satOff val="0"/>
                      <a:lumOff val="0"/>
                      <a:alphaOff val="0"/>
                    </a:prstClr>
                  </a:solidFill>
                  <a:effectLst/>
                  <a:uLnTx/>
                  <a:uFillTx/>
                  <a:latin typeface="Times New Roman" panose="02020603050405020304" pitchFamily="18" charset="0"/>
                  <a:cs typeface="Times New Roman" panose="02020603050405020304" pitchFamily="18" charset="0"/>
                </a:rPr>
                <a:t>50% Learning outside the classroom        </a:t>
              </a:r>
            </a:p>
          </p:txBody>
        </p:sp>
      </p:grpSp>
      <p:grpSp>
        <p:nvGrpSpPr>
          <p:cNvPr id="6" name="Group 5"/>
          <p:cNvGrpSpPr/>
          <p:nvPr/>
        </p:nvGrpSpPr>
        <p:grpSpPr>
          <a:xfrm>
            <a:off x="1686560" y="1686560"/>
            <a:ext cx="1991219" cy="1112727"/>
            <a:chOff x="2760345" y="2443368"/>
            <a:chExt cx="2366010" cy="1502416"/>
          </a:xfrm>
        </p:grpSpPr>
        <p:sp>
          <p:nvSpPr>
            <p:cNvPr id="10" name="Rounded Rectangle 9"/>
            <p:cNvSpPr/>
            <p:nvPr/>
          </p:nvSpPr>
          <p:spPr>
            <a:xfrm>
              <a:off x="2760345" y="2443368"/>
              <a:ext cx="2366010" cy="1502416"/>
            </a:xfrm>
            <a:prstGeom prst="roundRect">
              <a:avLst>
                <a:gd name="adj" fmla="val 10000"/>
              </a:avLst>
            </a:pr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black">
                    <a:hueOff val="0"/>
                    <a:satOff val="0"/>
                    <a:lumOff val="0"/>
                    <a:alphaOff val="0"/>
                  </a:prstClr>
                </a:solidFill>
                <a:effectLst/>
                <a:uLnTx/>
                <a:uFillTx/>
                <a:latin typeface="Aptos" panose="02110004020202020204"/>
                <a:ea typeface="+mn-ea"/>
                <a:cs typeface="+mn-cs"/>
              </a:endParaRPr>
            </a:p>
          </p:txBody>
        </p:sp>
        <p:sp>
          <p:nvSpPr>
            <p:cNvPr id="11" name="Rounded Rectangle 4"/>
            <p:cNvSpPr txBox="1"/>
            <p:nvPr/>
          </p:nvSpPr>
          <p:spPr>
            <a:xfrm>
              <a:off x="2804347" y="2487370"/>
              <a:ext cx="2278002" cy="141440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defRPr/>
              </a:pPr>
              <a:r>
                <a:rPr kumimoji="0" lang="en-IN" sz="2000" b="1" i="0" u="none" strike="noStrike" kern="1200" cap="none" spc="0" normalizeH="0" baseline="0" noProof="0" dirty="0">
                  <a:ln>
                    <a:noFill/>
                  </a:ln>
                  <a:solidFill>
                    <a:prstClr val="black">
                      <a:hueOff val="0"/>
                      <a:satOff val="0"/>
                      <a:lumOff val="0"/>
                      <a:alphaOff val="0"/>
                    </a:prstClr>
                  </a:solidFill>
                  <a:effectLst/>
                  <a:uLnTx/>
                  <a:uFillTx/>
                  <a:latin typeface="Times New Roman" panose="02020603050405020304" pitchFamily="18" charset="0"/>
                  <a:cs typeface="Times New Roman" panose="02020603050405020304" pitchFamily="18" charset="0"/>
                </a:rPr>
                <a:t>50% grades outside the classroom</a:t>
              </a:r>
              <a:endParaRPr kumimoji="0" lang="en-US" sz="2000" b="1" i="0" u="none" strike="noStrike" kern="1200" cap="none" spc="0" normalizeH="0" baseline="0" noProof="0" dirty="0">
                <a:ln>
                  <a:noFill/>
                </a:ln>
                <a:solidFill>
                  <a:prstClr val="black">
                    <a:hueOff val="0"/>
                    <a:satOff val="0"/>
                    <a:lumOff val="0"/>
                    <a:alphaOff val="0"/>
                  </a:prstClr>
                </a:solidFill>
                <a:effectLst/>
                <a:uLnTx/>
                <a:uFillTx/>
                <a:latin typeface="Times New Roman" panose="02020603050405020304" pitchFamily="18" charset="0"/>
                <a:cs typeface="Times New Roman" panose="02020603050405020304" pitchFamily="18" charset="0"/>
              </a:endParaRPr>
            </a:p>
          </p:txBody>
        </p:sp>
      </p:grpSp>
      <p:grpSp>
        <p:nvGrpSpPr>
          <p:cNvPr id="7" name="Group 6"/>
          <p:cNvGrpSpPr/>
          <p:nvPr/>
        </p:nvGrpSpPr>
        <p:grpSpPr>
          <a:xfrm>
            <a:off x="7967857" y="1660952"/>
            <a:ext cx="2031126" cy="1112727"/>
            <a:chOff x="5652135" y="2443368"/>
            <a:chExt cx="2322006" cy="1502416"/>
          </a:xfrm>
        </p:grpSpPr>
        <p:sp>
          <p:nvSpPr>
            <p:cNvPr id="8" name="Rounded Rectangle 7"/>
            <p:cNvSpPr/>
            <p:nvPr/>
          </p:nvSpPr>
          <p:spPr>
            <a:xfrm>
              <a:off x="5652135" y="2443368"/>
              <a:ext cx="2322005" cy="1502416"/>
            </a:xfrm>
            <a:prstGeom prst="roundRect">
              <a:avLst>
                <a:gd name="adj" fmla="val 10000"/>
              </a:avLst>
            </a:pr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black">
                    <a:hueOff val="0"/>
                    <a:satOff val="0"/>
                    <a:lumOff val="0"/>
                    <a:alphaOff val="0"/>
                  </a:prstClr>
                </a:solidFill>
                <a:effectLst/>
                <a:uLnTx/>
                <a:uFillTx/>
                <a:latin typeface="Aptos" panose="02110004020202020204"/>
                <a:ea typeface="+mn-ea"/>
                <a:cs typeface="+mn-cs"/>
              </a:endParaRPr>
            </a:p>
          </p:txBody>
        </p:sp>
        <p:sp>
          <p:nvSpPr>
            <p:cNvPr id="9" name="Rounded Rectangle 6"/>
            <p:cNvSpPr txBox="1"/>
            <p:nvPr/>
          </p:nvSpPr>
          <p:spPr>
            <a:xfrm>
              <a:off x="5696139" y="2487371"/>
              <a:ext cx="2278002" cy="141440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defRPr/>
              </a:pPr>
              <a:r>
                <a:rPr kumimoji="0" lang="en-US" sz="2000" b="1" i="0" u="none" strike="noStrike" kern="1200" cap="none" spc="0" normalizeH="0" baseline="0" noProof="0" dirty="0">
                  <a:ln>
                    <a:noFill/>
                  </a:ln>
                  <a:solidFill>
                    <a:prstClr val="black">
                      <a:hueOff val="0"/>
                      <a:satOff val="0"/>
                      <a:lumOff val="0"/>
                      <a:alphaOff val="0"/>
                    </a:prstClr>
                  </a:solidFill>
                  <a:effectLst/>
                  <a:uLnTx/>
                  <a:uFillTx/>
                  <a:latin typeface="Times New Roman" panose="02020603050405020304" pitchFamily="18" charset="0"/>
                  <a:cs typeface="Times New Roman" panose="02020603050405020304" pitchFamily="18" charset="0"/>
                </a:rPr>
                <a:t>50% attendance outside the classroom</a:t>
              </a:r>
            </a:p>
          </p:txBody>
        </p:sp>
      </p:grpSp>
      <p:sp>
        <p:nvSpPr>
          <p:cNvPr id="12" name="Left Arrow 11"/>
          <p:cNvSpPr/>
          <p:nvPr/>
        </p:nvSpPr>
        <p:spPr>
          <a:xfrm>
            <a:off x="3708868" y="2042784"/>
            <a:ext cx="621855" cy="41335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Left Arrow 13"/>
          <p:cNvSpPr/>
          <p:nvPr/>
        </p:nvSpPr>
        <p:spPr>
          <a:xfrm rot="10800000">
            <a:off x="7324988" y="2055670"/>
            <a:ext cx="621855" cy="41335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5" name="TextBox 54"/>
          <p:cNvSpPr txBox="1"/>
          <p:nvPr/>
        </p:nvSpPr>
        <p:spPr>
          <a:xfrm>
            <a:off x="2808565" y="3772177"/>
            <a:ext cx="6100762" cy="501997"/>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Techniques of Learning Outside the Classroom</a:t>
            </a:r>
          </a:p>
        </p:txBody>
      </p:sp>
      <p:sp>
        <p:nvSpPr>
          <p:cNvPr id="56" name="Title 1"/>
          <p:cNvSpPr txBox="1"/>
          <p:nvPr/>
        </p:nvSpPr>
        <p:spPr>
          <a:xfrm>
            <a:off x="1444588" y="679833"/>
            <a:ext cx="8828715" cy="708689"/>
          </a:xfrm>
          <a:prstGeom prst="rect">
            <a:avLst/>
          </a:prstGeom>
          <a:ln>
            <a:solidFill>
              <a:schemeClr val="tx1"/>
            </a:solidFill>
          </a:ln>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600" b="1" i="0" u="sng"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Pillar I: Gamified Learning with AI focus</a:t>
            </a:r>
            <a:endParaRPr kumimoji="0" lang="en-IN" sz="3600" b="1" i="0" u="sng"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8" name="Rectangle 17"/>
          <p:cNvSpPr/>
          <p:nvPr/>
        </p:nvSpPr>
        <p:spPr>
          <a:xfrm>
            <a:off x="3281680" y="3225800"/>
            <a:ext cx="4952799" cy="4854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i="1" dirty="0">
                <a:solidFill>
                  <a:schemeClr val="tx1"/>
                </a:solidFill>
                <a:latin typeface="Times New Roman" panose="02020603050405020304" pitchFamily="18" charset="0"/>
                <a:cs typeface="Times New Roman" panose="02020603050405020304" pitchFamily="18" charset="0"/>
              </a:rPr>
              <a:t>Formula: 50-50-50</a:t>
            </a:r>
            <a:endParaRPr lang="en-IN" sz="2400" b="1" i="1" dirty="0">
              <a:solidFill>
                <a:schemeClr val="tx1"/>
              </a:solidFill>
              <a:latin typeface="Times New Roman" panose="02020603050405020304" pitchFamily="18" charset="0"/>
              <a:cs typeface="Times New Roman" panose="02020603050405020304" pitchFamily="18" charset="0"/>
            </a:endParaRPr>
          </a:p>
        </p:txBody>
      </p:sp>
      <p:sp>
        <p:nvSpPr>
          <p:cNvPr id="2" name="Rectangle: Rounded Corners 13"/>
          <p:cNvSpPr/>
          <p:nvPr/>
        </p:nvSpPr>
        <p:spPr>
          <a:xfrm>
            <a:off x="200135" y="4254220"/>
            <a:ext cx="11470639" cy="230632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13" name="Google Shape;122;p14"/>
          <p:cNvSpPr/>
          <p:nvPr/>
        </p:nvSpPr>
        <p:spPr>
          <a:xfrm>
            <a:off x="2663825" y="5627989"/>
            <a:ext cx="1976755" cy="919480"/>
          </a:xfrm>
          <a:prstGeom prst="roundRect">
            <a:avLst>
              <a:gd name="adj"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algn="ctr">
              <a:spcBef>
                <a:spcPts val="0"/>
              </a:spcBef>
              <a:spcAft>
                <a:spcPts val="0"/>
              </a:spcAft>
            </a:pPr>
            <a:endParaRPr lang="en-IN" sz="1600" b="1" kern="100" dirty="0">
              <a:solidFill>
                <a:srgbClr val="000000"/>
              </a:solidFill>
              <a:latin typeface="Times New Roman" panose="02020603050405020304" pitchFamily="18" charset="0"/>
              <a:ea typeface="Aptos" panose="020B0004020202020204" pitchFamily="34" charset="0"/>
              <a:cs typeface="Times New Roman" panose="02020603050405020304" pitchFamily="18" charset="0"/>
            </a:endParaRPr>
          </a:p>
          <a:p>
            <a:pPr algn="ctr">
              <a:spcBef>
                <a:spcPts val="0"/>
              </a:spcBef>
              <a:spcAft>
                <a:spcPts val="0"/>
              </a:spcAft>
            </a:pPr>
            <a:r>
              <a:rPr lang="en-IN" sz="1600" b="1" kern="100"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Recruitment</a:t>
            </a:r>
            <a:r>
              <a:rPr lang="en-IN" sz="1600" b="1" kern="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/Competitive/</a:t>
            </a:r>
            <a:r>
              <a:rPr lang="en-IN" sz="1600" b="1" kern="100"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 Eligibility</a:t>
            </a:r>
            <a:r>
              <a:rPr lang="en-IN" sz="1600" b="1" kern="0"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IN" sz="1600" b="1" kern="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Examination</a:t>
            </a:r>
            <a:endParaRPr lang="en-IN" sz="1400" b="1"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marL="0" lvl="0" indent="0" algn="ctr" rtl="0">
              <a:spcBef>
                <a:spcPts val="0"/>
              </a:spcBef>
              <a:spcAft>
                <a:spcPts val="0"/>
              </a:spcAft>
              <a:buNone/>
            </a:pPr>
            <a:endParaRPr lang="en-IN" sz="1600" b="1" dirty="0"/>
          </a:p>
        </p:txBody>
      </p:sp>
      <p:sp>
        <p:nvSpPr>
          <p:cNvPr id="15" name="Google Shape;123;p14"/>
          <p:cNvSpPr/>
          <p:nvPr/>
        </p:nvSpPr>
        <p:spPr>
          <a:xfrm>
            <a:off x="5001260" y="5628005"/>
            <a:ext cx="2198370" cy="919480"/>
          </a:xfrm>
          <a:prstGeom prst="roundRect">
            <a:avLst>
              <a:gd name="adj"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ctr" rtl="0">
              <a:spcBef>
                <a:spcPts val="0"/>
              </a:spcBef>
              <a:spcAft>
                <a:spcPts val="0"/>
              </a:spcAft>
              <a:buNone/>
            </a:pPr>
            <a:r>
              <a:rPr lang="en-IN" sz="2000" b="1" dirty="0"/>
              <a:t>NPTEL/MOOCs</a:t>
            </a:r>
          </a:p>
        </p:txBody>
      </p:sp>
      <p:sp>
        <p:nvSpPr>
          <p:cNvPr id="16" name="Google Shape;124;p14"/>
          <p:cNvSpPr/>
          <p:nvPr/>
        </p:nvSpPr>
        <p:spPr>
          <a:xfrm>
            <a:off x="757555" y="4599924"/>
            <a:ext cx="2806700" cy="919480"/>
          </a:xfrm>
          <a:prstGeom prst="roundRect">
            <a:avLst>
              <a:gd name="adj"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ctr" rtl="0">
              <a:spcBef>
                <a:spcPts val="0"/>
              </a:spcBef>
              <a:spcAft>
                <a:spcPts val="0"/>
              </a:spcAft>
              <a:buNone/>
            </a:pPr>
            <a:r>
              <a:rPr lang="en-IN" sz="2000" b="1" dirty="0"/>
              <a:t>Projects</a:t>
            </a:r>
          </a:p>
        </p:txBody>
      </p:sp>
      <p:sp>
        <p:nvSpPr>
          <p:cNvPr id="17" name="Google Shape;125;p14"/>
          <p:cNvSpPr/>
          <p:nvPr/>
        </p:nvSpPr>
        <p:spPr>
          <a:xfrm>
            <a:off x="7302000" y="5628029"/>
            <a:ext cx="1869000" cy="919500"/>
          </a:xfrm>
          <a:prstGeom prst="roundRect">
            <a:avLst>
              <a:gd name="adj"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ctr" rtl="0">
              <a:spcBef>
                <a:spcPts val="0"/>
              </a:spcBef>
              <a:spcAft>
                <a:spcPts val="0"/>
              </a:spcAft>
              <a:buNone/>
            </a:pPr>
            <a:r>
              <a:rPr lang="en-IN" sz="1600" b="1" dirty="0"/>
              <a:t>Community Service</a:t>
            </a:r>
          </a:p>
        </p:txBody>
      </p:sp>
      <p:sp>
        <p:nvSpPr>
          <p:cNvPr id="19" name="Google Shape;127;p14"/>
          <p:cNvSpPr/>
          <p:nvPr/>
        </p:nvSpPr>
        <p:spPr>
          <a:xfrm>
            <a:off x="3957955" y="4599924"/>
            <a:ext cx="2547620" cy="919480"/>
          </a:xfrm>
          <a:prstGeom prst="roundRect">
            <a:avLst>
              <a:gd name="adj"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algn="ctr">
              <a:spcBef>
                <a:spcPts val="0"/>
              </a:spcBef>
              <a:spcAft>
                <a:spcPts val="0"/>
              </a:spcAft>
            </a:pPr>
            <a:r>
              <a:rPr lang="en-US" sz="1600" b="1" dirty="0">
                <a:latin typeface="Times New Roman" panose="02020603050405020304" pitchFamily="18" charset="0"/>
                <a:cs typeface="Times New Roman" panose="02020603050405020304" pitchFamily="18" charset="0"/>
              </a:rPr>
              <a:t>Technical Competitions &amp; Hackathons</a:t>
            </a:r>
          </a:p>
        </p:txBody>
      </p:sp>
      <p:sp>
        <p:nvSpPr>
          <p:cNvPr id="20" name="Google Shape;128;p14"/>
          <p:cNvSpPr/>
          <p:nvPr/>
        </p:nvSpPr>
        <p:spPr>
          <a:xfrm>
            <a:off x="6760210" y="4599924"/>
            <a:ext cx="2410460" cy="919480"/>
          </a:xfrm>
          <a:prstGeom prst="roundRect">
            <a:avLst>
              <a:gd name="adj"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ctr" rtl="0">
              <a:spcBef>
                <a:spcPts val="0"/>
              </a:spcBef>
              <a:spcAft>
                <a:spcPts val="0"/>
              </a:spcAft>
              <a:buNone/>
            </a:pPr>
            <a:r>
              <a:rPr lang="en-IN" sz="1600" b="1" dirty="0"/>
              <a:t>Social Media Presence</a:t>
            </a:r>
          </a:p>
        </p:txBody>
      </p:sp>
      <p:sp>
        <p:nvSpPr>
          <p:cNvPr id="21" name="Google Shape;129;p14"/>
          <p:cNvSpPr/>
          <p:nvPr/>
        </p:nvSpPr>
        <p:spPr>
          <a:xfrm>
            <a:off x="434449" y="5624914"/>
            <a:ext cx="2049695" cy="919500"/>
          </a:xfrm>
          <a:prstGeom prst="roundRect">
            <a:avLst>
              <a:gd name="adj"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ctr" rtl="0">
              <a:spcBef>
                <a:spcPts val="0"/>
              </a:spcBef>
              <a:spcAft>
                <a:spcPts val="0"/>
              </a:spcAft>
              <a:buNone/>
            </a:pPr>
            <a:r>
              <a:rPr lang="en-IN" sz="2000" b="1" dirty="0"/>
              <a:t>Paid Internship</a:t>
            </a:r>
          </a:p>
        </p:txBody>
      </p:sp>
      <p:sp>
        <p:nvSpPr>
          <p:cNvPr id="22" name="Google Shape;130;p14"/>
          <p:cNvSpPr/>
          <p:nvPr/>
        </p:nvSpPr>
        <p:spPr>
          <a:xfrm>
            <a:off x="9424670" y="5624814"/>
            <a:ext cx="2000885" cy="919480"/>
          </a:xfrm>
          <a:prstGeom prst="roundRect">
            <a:avLst>
              <a:gd name="adj"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ctr" rtl="0">
              <a:spcBef>
                <a:spcPts val="0"/>
              </a:spcBef>
              <a:spcAft>
                <a:spcPts val="0"/>
              </a:spcAft>
              <a:buNone/>
            </a:pPr>
            <a:r>
              <a:rPr lang="en-IN" sz="1600" b="1"/>
              <a:t>Publications/Patents/ Copyrights</a:t>
            </a:r>
          </a:p>
        </p:txBody>
      </p:sp>
      <p:sp>
        <p:nvSpPr>
          <p:cNvPr id="23" name="Google Shape;131;p14"/>
          <p:cNvSpPr/>
          <p:nvPr/>
        </p:nvSpPr>
        <p:spPr>
          <a:xfrm>
            <a:off x="9396730" y="4599924"/>
            <a:ext cx="2030095" cy="919480"/>
          </a:xfrm>
          <a:prstGeom prst="roundRect">
            <a:avLst>
              <a:gd name="adj"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ctr" rtl="0">
              <a:spcBef>
                <a:spcPts val="0"/>
              </a:spcBef>
              <a:spcAft>
                <a:spcPts val="0"/>
              </a:spcAft>
              <a:buNone/>
            </a:pPr>
            <a:r>
              <a:rPr lang="en-IN" sz="1600" b="1"/>
              <a:t>Recognition of Prior Learning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4" grpId="0" bldLvl="0" animBg="1"/>
      <p:bldP spid="55" grpId="0"/>
      <p:bldP spid="18" grpId="0" animBg="1"/>
      <p:bldP spid="2" grpId="0" animBg="1"/>
      <p:bldP spid="13" grpId="0" animBg="1"/>
      <p:bldP spid="15" grpId="0" bldLvl="0" animBg="1"/>
      <p:bldP spid="16" grpId="0" bldLvl="0" animBg="1"/>
      <p:bldP spid="17" grpId="0" animBg="1"/>
      <p:bldP spid="19" grpId="0" animBg="1"/>
      <p:bldP spid="20" grpId="0" animBg="1"/>
      <p:bldP spid="21" grpId="0" animBg="1"/>
      <p:bldP spid="22" grpId="0" animBg="1"/>
      <p:bldP spid="2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5350" y="599440"/>
            <a:ext cx="8094980" cy="862965"/>
          </a:xfrm>
        </p:spPr>
        <p:txBody>
          <a:bodyPr>
            <a:normAutofit fontScale="90000"/>
          </a:bodyPr>
          <a:lstStyle/>
          <a:p>
            <a:pPr algn="ct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Gamified Learning: Benefits</a:t>
            </a:r>
            <a:br>
              <a:rPr lang="en-IN" sz="3200" b="1" dirty="0">
                <a:solidFill>
                  <a:prstClr val="black"/>
                </a:solidFill>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66240"/>
            <a:ext cx="10515600" cy="4510723"/>
          </a:xfrm>
        </p:spPr>
        <p:txBody>
          <a:bodyPr/>
          <a:lstStyle/>
          <a:p>
            <a:endParaRPr lang="en-US" sz="2400" dirty="0">
              <a:latin typeface="Bahnschrift SemiBold" panose="020B0502040204020203" pitchFamily="34" charset="0"/>
            </a:endParaRPr>
          </a:p>
          <a:p>
            <a:endParaRPr lang="en-US" sz="2400" dirty="0">
              <a:latin typeface="Bahnschrift SemiBold" panose="020B0502040204020203" pitchFamily="34" charset="0"/>
            </a:endParaRPr>
          </a:p>
          <a:p>
            <a:endParaRPr lang="en-US" sz="2400" dirty="0">
              <a:latin typeface="Bahnschrift SemiBold" panose="020B0502040204020203" pitchFamily="34" charset="0"/>
            </a:endParaRPr>
          </a:p>
          <a:p>
            <a:endParaRPr lang="en-US" sz="2400" dirty="0">
              <a:latin typeface="Bahnschrift SemiBold" panose="020B0502040204020203" pitchFamily="34" charset="0"/>
            </a:endParaRPr>
          </a:p>
        </p:txBody>
      </p:sp>
      <p:graphicFrame>
        <p:nvGraphicFramePr>
          <p:cNvPr id="5" name="Content Placeholder 2"/>
          <p:cNvGraphicFramePr>
            <a:graphicFrameLocks noGrp="1"/>
          </p:cNvGraphicFramePr>
          <p:nvPr>
            <p:extLst>
              <p:ext uri="{D42A27DB-BD31-4B8C-83A1-F6EECF244321}">
                <p14:modId xmlns:p14="http://schemas.microsoft.com/office/powerpoint/2010/main" val="2887437530"/>
              </p:ext>
            </p:extLst>
          </p:nvPr>
        </p:nvGraphicFramePr>
        <p:xfrm>
          <a:off x="845824" y="1825817"/>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a:extLst>
              <a:ext uri="{FF2B5EF4-FFF2-40B4-BE49-F238E27FC236}">
                <a16:creationId xmlns:a16="http://schemas.microsoft.com/office/drawing/2014/main" id="{D70383CE-66B3-49D6-A737-C885797C4908}"/>
              </a:ext>
            </a:extLst>
          </p:cNvPr>
          <p:cNvSpPr/>
          <p:nvPr/>
        </p:nvSpPr>
        <p:spPr>
          <a:xfrm>
            <a:off x="2078568" y="431800"/>
            <a:ext cx="8106833" cy="46038"/>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p>
        </p:txBody>
      </p:sp>
      <p:pic>
        <p:nvPicPr>
          <p:cNvPr id="7" name="Picture 4">
            <a:extLst>
              <a:ext uri="{FF2B5EF4-FFF2-40B4-BE49-F238E27FC236}">
                <a16:creationId xmlns:a16="http://schemas.microsoft.com/office/drawing/2014/main" id="{A75A6FD3-E9D7-4EFF-9DEA-D1DDC040468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354734" y="177800"/>
            <a:ext cx="1547284"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a:extLst>
              <a:ext uri="{FF2B5EF4-FFF2-40B4-BE49-F238E27FC236}">
                <a16:creationId xmlns:a16="http://schemas.microsoft.com/office/drawing/2014/main" id="{A9486E07-92DC-42F1-A094-76E347B1D69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28084" y="177801"/>
            <a:ext cx="1581149"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35001"/>
            <a:ext cx="10515600" cy="548092"/>
          </a:xfrm>
        </p:spPr>
        <p:txBody>
          <a:bodyPr>
            <a:normAutofit fontScale="90000"/>
          </a:bodyPr>
          <a:lstStyle/>
          <a:p>
            <a:pPr algn="ctr"/>
            <a:r>
              <a:rPr lang="en-US" sz="4000" b="1" u="sng" dirty="0">
                <a:latin typeface="Times New Roman" panose="02020603050405020304" pitchFamily="18" charset="0"/>
                <a:cs typeface="Times New Roman" panose="02020603050405020304" pitchFamily="18" charset="0"/>
              </a:rPr>
              <a:t>Pillar II: Revenue Generation</a:t>
            </a:r>
            <a:endParaRPr lang="en-IN" sz="4000"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lgn="just">
              <a:buNone/>
            </a:pPr>
            <a:endParaRPr lang="en-US" dirty="0"/>
          </a:p>
          <a:p>
            <a:pPr marL="0" indent="0" algn="just">
              <a:buNone/>
            </a:pPr>
            <a:r>
              <a:rPr lang="en-US" dirty="0"/>
              <a:t> </a:t>
            </a:r>
            <a:endParaRPr lang="en-IN" dirty="0"/>
          </a:p>
        </p:txBody>
      </p:sp>
      <p:sp>
        <p:nvSpPr>
          <p:cNvPr id="5" name="TextBox 4"/>
          <p:cNvSpPr txBox="1"/>
          <p:nvPr/>
        </p:nvSpPr>
        <p:spPr>
          <a:xfrm>
            <a:off x="426721" y="1181735"/>
            <a:ext cx="6781800" cy="4494530"/>
          </a:xfrm>
          <a:prstGeom prst="rect">
            <a:avLst/>
          </a:prstGeom>
          <a:noFill/>
        </p:spPr>
        <p:txBody>
          <a:bodyPr wrap="square" rtlCol="0">
            <a:noAutofit/>
          </a:bodyPr>
          <a:lstStyle/>
          <a:p>
            <a:pPr defTabSz="800100">
              <a:lnSpc>
                <a:spcPct val="150000"/>
              </a:lnSpc>
              <a:spcAft>
                <a:spcPts val="0"/>
              </a:spcAft>
              <a:defRPr/>
            </a:pPr>
            <a:r>
              <a:rPr lang="en-IN"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Where would Revenue Generation come from?</a:t>
            </a:r>
            <a:endParaRPr lang="en-IN" sz="24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a:p>
            <a:pPr marL="285750" indent="-285750" defTabSz="800100">
              <a:lnSpc>
                <a:spcPct val="150000"/>
              </a:lnSpc>
              <a:spcAft>
                <a:spcPts val="0"/>
              </a:spcAft>
              <a:buFont typeface="Wingdings" panose="05000000000000000000" pitchFamily="2" charset="2"/>
              <a:buChar char="ü"/>
              <a:defRPr/>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Industry/field consultancy projects</a:t>
            </a:r>
          </a:p>
          <a:p>
            <a:pPr marL="285750" indent="-285750" defTabSz="800100">
              <a:lnSpc>
                <a:spcPct val="150000"/>
              </a:lnSpc>
              <a:spcAft>
                <a:spcPts val="0"/>
              </a:spcAft>
              <a:buFont typeface="Wingdings" panose="05000000000000000000" pitchFamily="2" charset="2"/>
              <a:buChar char="ü"/>
              <a:defRPr/>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Freelancing activities</a:t>
            </a:r>
          </a:p>
          <a:p>
            <a:pPr marL="285750" indent="-285750" defTabSz="800100">
              <a:lnSpc>
                <a:spcPct val="150000"/>
              </a:lnSpc>
              <a:spcAft>
                <a:spcPts val="0"/>
              </a:spcAft>
              <a:buFont typeface="Wingdings" panose="05000000000000000000" pitchFamily="2" charset="2"/>
              <a:buChar char="ü"/>
              <a:defRPr/>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Paid internships</a:t>
            </a:r>
          </a:p>
          <a:p>
            <a:pPr marL="285750" indent="-285750" defTabSz="800100">
              <a:lnSpc>
                <a:spcPct val="150000"/>
              </a:lnSpc>
              <a:spcAft>
                <a:spcPts val="0"/>
              </a:spcAft>
              <a:buFont typeface="Wingdings" panose="05000000000000000000" pitchFamily="2" charset="2"/>
              <a:buChar char="ü"/>
              <a:defRPr/>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Establishing start- ups and entrepreneurial venture</a:t>
            </a:r>
            <a:endParaRPr lang="en-IN" sz="2400" b="1" kern="100" dirty="0">
              <a:latin typeface="Times New Roman" panose="02020603050405020304" pitchFamily="18" charset="0"/>
              <a:ea typeface="Calibri" panose="020F0502020204030204" pitchFamily="34" charset="0"/>
              <a:cs typeface="Times New Roman" panose="02020603050405020304" pitchFamily="18" charset="0"/>
            </a:endParaRPr>
          </a:p>
          <a:p>
            <a:pPr defTabSz="800100">
              <a:lnSpc>
                <a:spcPct val="150000"/>
              </a:lnSpc>
              <a:spcAft>
                <a:spcPts val="0"/>
              </a:spcAft>
              <a:defRPr/>
            </a:pPr>
            <a:r>
              <a:rPr lang="en-IN" sz="24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Through University support:</a:t>
            </a:r>
          </a:p>
          <a:p>
            <a:pPr marL="615315" lvl="1" indent="-513715" defTabSz="800100">
              <a:lnSpc>
                <a:spcPct val="150000"/>
              </a:lnSpc>
              <a:spcAft>
                <a:spcPts val="0"/>
              </a:spcAft>
              <a:buFont typeface="+mj-lt"/>
              <a:buAutoNum type="romanLcPeriod"/>
              <a:defRPr/>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Earn while Learn opportunities </a:t>
            </a:r>
          </a:p>
          <a:p>
            <a:pPr marL="647065" lvl="1" indent="-513715" defTabSz="800100">
              <a:lnSpc>
                <a:spcPct val="150000"/>
              </a:lnSpc>
              <a:spcAft>
                <a:spcPts val="0"/>
              </a:spcAft>
              <a:buFont typeface="+mj-lt"/>
              <a:buAutoNum type="romanLcPeriod"/>
              <a:defRPr/>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Incentives for</a:t>
            </a:r>
            <a:r>
              <a:rPr lang="en-US" altLang="en-IN" sz="2400" kern="100" dirty="0">
                <a:latin typeface="Times New Roman" panose="02020603050405020304" pitchFamily="18" charset="0"/>
                <a:ea typeface="Calibri" panose="020F0502020204030204" pitchFamily="34" charset="0"/>
                <a:cs typeface="Times New Roman" panose="02020603050405020304" pitchFamily="18" charset="0"/>
              </a:rPr>
              <a:t> </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Publication/Patent/Copyrigh</a:t>
            </a:r>
            <a:r>
              <a:rPr lang="en-US" altLang="en-IN" sz="2400" kern="100" dirty="0">
                <a:latin typeface="Bahnschrift" panose="020B0502040204020203" pitchFamily="34" charset="0"/>
                <a:ea typeface="Calibri" panose="020F0502020204030204" pitchFamily="34" charset="0"/>
                <a:cs typeface="Bahnschrift SemiCondensed" panose="020B0502040204020203" charset="0"/>
              </a:rPr>
              <a:t>t</a:t>
            </a:r>
            <a:endParaRPr lang="en-IN" sz="2400" kern="100" dirty="0">
              <a:latin typeface="Bahnschrift" panose="020B0502040204020203" pitchFamily="34" charset="0"/>
              <a:ea typeface="Calibri" panose="020F0502020204030204" pitchFamily="34" charset="0"/>
              <a:cs typeface="Times New Roman" panose="02020603050405020304" pitchFamily="18" charset="0"/>
            </a:endParaRPr>
          </a:p>
          <a:p>
            <a:pPr marL="285750" indent="-285750" defTabSz="800100">
              <a:lnSpc>
                <a:spcPct val="150000"/>
              </a:lnSpc>
              <a:spcAft>
                <a:spcPts val="0"/>
              </a:spcAft>
              <a:buFont typeface="Wingdings" panose="05000000000000000000" pitchFamily="2" charset="2"/>
              <a:buChar char="ü"/>
              <a:defRPr/>
            </a:pPr>
            <a:endParaRPr lang="en-IN" sz="2400" kern="100" dirty="0">
              <a:latin typeface="Bahnschrift" panose="020B0502040204020203" pitchFamily="34" charset="0"/>
              <a:ea typeface="Calibri" panose="020F0502020204030204" pitchFamily="34" charset="0"/>
              <a:cs typeface="Times New Roman" panose="02020603050405020304" pitchFamily="18" charset="0"/>
            </a:endParaRPr>
          </a:p>
          <a:p>
            <a:pPr marL="285750" indent="-285750" defTabSz="800100">
              <a:lnSpc>
                <a:spcPct val="90000"/>
              </a:lnSpc>
              <a:spcAft>
                <a:spcPct val="35000"/>
              </a:spcAft>
              <a:buFont typeface="Arial" panose="020B0604020202020204" pitchFamily="34" charset="0"/>
              <a:buChar char="•"/>
              <a:defRPr/>
            </a:pPr>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Rectangle: Rounded Corners 7"/>
          <p:cNvSpPr/>
          <p:nvPr/>
        </p:nvSpPr>
        <p:spPr>
          <a:xfrm>
            <a:off x="7620000" y="1568450"/>
            <a:ext cx="3779520" cy="3721100"/>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2400" dirty="0">
                <a:solidFill>
                  <a:schemeClr val="tx1"/>
                </a:solidFill>
                <a:latin typeface="Times New Roman" panose="02020603050405020304" pitchFamily="18" charset="0"/>
                <a:cs typeface="Times New Roman" panose="02020603050405020304" pitchFamily="18" charset="0"/>
              </a:rPr>
              <a:t>You should be able to generate </a:t>
            </a:r>
            <a:r>
              <a:rPr lang="en-US" sz="2400" b="1" dirty="0">
                <a:solidFill>
                  <a:schemeClr val="tx1"/>
                </a:solidFill>
                <a:latin typeface="Times New Roman" panose="02020603050405020304" pitchFamily="18" charset="0"/>
                <a:cs typeface="Times New Roman" panose="02020603050405020304" pitchFamily="18" charset="0"/>
              </a:rPr>
              <a:t>at least 50 % age </a:t>
            </a:r>
            <a:r>
              <a:rPr lang="en-US" sz="2400" dirty="0">
                <a:solidFill>
                  <a:schemeClr val="tx1"/>
                </a:solidFill>
                <a:latin typeface="Times New Roman" panose="02020603050405020304" pitchFamily="18" charset="0"/>
                <a:cs typeface="Times New Roman" panose="02020603050405020304" pitchFamily="18" charset="0"/>
              </a:rPr>
              <a:t>of your semester fee every semester</a:t>
            </a:r>
          </a:p>
        </p:txBody>
      </p:sp>
      <p:sp>
        <p:nvSpPr>
          <p:cNvPr id="6" name="Rectangle 5">
            <a:extLst>
              <a:ext uri="{FF2B5EF4-FFF2-40B4-BE49-F238E27FC236}">
                <a16:creationId xmlns:a16="http://schemas.microsoft.com/office/drawing/2014/main" id="{D70383CE-66B3-49D6-A737-C885797C4908}"/>
              </a:ext>
            </a:extLst>
          </p:cNvPr>
          <p:cNvSpPr/>
          <p:nvPr/>
        </p:nvSpPr>
        <p:spPr>
          <a:xfrm>
            <a:off x="2078568" y="431800"/>
            <a:ext cx="8106833" cy="46038"/>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p>
        </p:txBody>
      </p:sp>
      <p:pic>
        <p:nvPicPr>
          <p:cNvPr id="7" name="Picture 4">
            <a:extLst>
              <a:ext uri="{FF2B5EF4-FFF2-40B4-BE49-F238E27FC236}">
                <a16:creationId xmlns:a16="http://schemas.microsoft.com/office/drawing/2014/main" id="{A75A6FD3-E9D7-4EFF-9DEA-D1DDC04046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54734" y="177800"/>
            <a:ext cx="1547284"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a:extLst>
              <a:ext uri="{FF2B5EF4-FFF2-40B4-BE49-F238E27FC236}">
                <a16:creationId xmlns:a16="http://schemas.microsoft.com/office/drawing/2014/main" id="{A9486E07-92DC-42F1-A094-76E347B1D69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8084" y="177801"/>
            <a:ext cx="1581149"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534398" y="1425812"/>
            <a:ext cx="2813948" cy="1370548"/>
            <a:chOff x="4206240" y="252837"/>
            <a:chExt cx="2366010" cy="1535445"/>
          </a:xfrm>
        </p:grpSpPr>
        <p:sp>
          <p:nvSpPr>
            <p:cNvPr id="4" name="Rounded Rectangle 3"/>
            <p:cNvSpPr/>
            <p:nvPr/>
          </p:nvSpPr>
          <p:spPr>
            <a:xfrm>
              <a:off x="4206240" y="252837"/>
              <a:ext cx="2366010" cy="1502416"/>
            </a:xfrm>
            <a:prstGeom prst="roundRect">
              <a:avLst>
                <a:gd name="adj" fmla="val 10000"/>
              </a:avLst>
            </a:pr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b="0" i="0" u="none" strike="noStrike" kern="1200" cap="none" spc="0" normalizeH="0" baseline="0" noProof="0">
                <a:ln>
                  <a:noFill/>
                </a:ln>
                <a:solidFill>
                  <a:prstClr val="black">
                    <a:hueOff val="0"/>
                    <a:satOff val="0"/>
                    <a:lumOff val="0"/>
                    <a:alphaOff val="0"/>
                  </a:prstClr>
                </a:solidFill>
                <a:effectLst/>
                <a:uLnTx/>
                <a:uFillTx/>
                <a:latin typeface="Bahnschrift" panose="020B0502040204020203" pitchFamily="34" charset="0"/>
              </a:endParaRPr>
            </a:p>
          </p:txBody>
        </p:sp>
        <p:sp>
          <p:nvSpPr>
            <p:cNvPr id="5" name="Rounded Rectangle 4"/>
            <p:cNvSpPr txBox="1"/>
            <p:nvPr/>
          </p:nvSpPr>
          <p:spPr>
            <a:xfrm>
              <a:off x="4250244" y="405762"/>
              <a:ext cx="2278002" cy="138252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0" indent="0" algn="ctr">
                <a:buFont typeface="Arial" panose="020B0604020202020204" pitchFamily="34" charset="0"/>
                <a:buNone/>
              </a:pPr>
              <a:r>
                <a:rPr lang="en-IN" b="1" dirty="0">
                  <a:latin typeface="Times New Roman" panose="02020603050405020304" pitchFamily="18" charset="0"/>
                  <a:cs typeface="Times New Roman" panose="02020603050405020304" pitchFamily="18" charset="0"/>
                </a:rPr>
                <a:t>Student Centric Revenue Generation</a:t>
              </a:r>
            </a:p>
          </p:txBody>
        </p:sp>
      </p:grpSp>
      <p:grpSp>
        <p:nvGrpSpPr>
          <p:cNvPr id="6" name="Group 5"/>
          <p:cNvGrpSpPr/>
          <p:nvPr/>
        </p:nvGrpSpPr>
        <p:grpSpPr>
          <a:xfrm>
            <a:off x="1631419" y="1506568"/>
            <a:ext cx="2021699" cy="1209040"/>
            <a:chOff x="2760345" y="2443368"/>
            <a:chExt cx="2366010" cy="1502416"/>
          </a:xfrm>
        </p:grpSpPr>
        <p:sp>
          <p:nvSpPr>
            <p:cNvPr id="10" name="Rounded Rectangle 9"/>
            <p:cNvSpPr/>
            <p:nvPr/>
          </p:nvSpPr>
          <p:spPr>
            <a:xfrm>
              <a:off x="2760345" y="2443368"/>
              <a:ext cx="2366010" cy="1502416"/>
            </a:xfrm>
            <a:prstGeom prst="roundRect">
              <a:avLst>
                <a:gd name="adj" fmla="val 10000"/>
              </a:avLst>
            </a:pr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b="0" i="0" u="none" strike="noStrike" kern="1200" cap="none" spc="0" normalizeH="0" baseline="0" noProof="0">
                <a:ln>
                  <a:noFill/>
                </a:ln>
                <a:solidFill>
                  <a:prstClr val="black">
                    <a:hueOff val="0"/>
                    <a:satOff val="0"/>
                    <a:lumOff val="0"/>
                    <a:alphaOff val="0"/>
                  </a:prstClr>
                </a:solidFill>
                <a:effectLst/>
                <a:uLnTx/>
                <a:uFillTx/>
                <a:latin typeface="Bahnschrift" panose="020B0502040204020203" pitchFamily="34" charset="0"/>
              </a:endParaRPr>
            </a:p>
          </p:txBody>
        </p:sp>
        <p:sp>
          <p:nvSpPr>
            <p:cNvPr id="11" name="Rounded Rectangle 4"/>
            <p:cNvSpPr txBox="1"/>
            <p:nvPr/>
          </p:nvSpPr>
          <p:spPr>
            <a:xfrm>
              <a:off x="2804347" y="2487370"/>
              <a:ext cx="2278002" cy="141440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defRPr/>
              </a:pPr>
              <a:r>
                <a:rPr kumimoji="0" lang="en-US" b="1" i="0" u="none" strike="noStrike" kern="1200" cap="none" spc="0" normalizeH="0" baseline="0" noProof="0" dirty="0">
                  <a:ln>
                    <a:noFill/>
                  </a:ln>
                  <a:solidFill>
                    <a:prstClr val="black">
                      <a:hueOff val="0"/>
                      <a:satOff val="0"/>
                      <a:lumOff val="0"/>
                      <a:alphaOff val="0"/>
                    </a:prstClr>
                  </a:solidFill>
                  <a:effectLst/>
                  <a:uLnTx/>
                  <a:uFillTx/>
                  <a:latin typeface="Times New Roman" panose="02020603050405020304" pitchFamily="18" charset="0"/>
                  <a:cs typeface="Times New Roman" panose="02020603050405020304" pitchFamily="18" charset="0"/>
                </a:rPr>
                <a:t>Course Exemption/</a:t>
              </a:r>
              <a:r>
                <a:rPr lang="en-US" b="1" dirty="0">
                  <a:solidFill>
                    <a:prstClr val="black">
                      <a:hueOff val="0"/>
                      <a:satOff val="0"/>
                      <a:lumOff val="0"/>
                      <a:alphaOff val="0"/>
                    </a:prstClr>
                  </a:solidFill>
                  <a:latin typeface="Times New Roman" panose="02020603050405020304" pitchFamily="18" charset="0"/>
                  <a:cs typeface="Times New Roman" panose="02020603050405020304" pitchFamily="18" charset="0"/>
                </a:rPr>
                <a:t>G</a:t>
              </a:r>
              <a:r>
                <a:rPr kumimoji="0" lang="en-US" b="1" i="0" u="none" strike="noStrike" kern="1200" cap="none" spc="0" normalizeH="0" baseline="0" noProof="0" dirty="0" err="1">
                  <a:ln>
                    <a:noFill/>
                  </a:ln>
                  <a:solidFill>
                    <a:prstClr val="black">
                      <a:hueOff val="0"/>
                      <a:satOff val="0"/>
                      <a:lumOff val="0"/>
                      <a:alphaOff val="0"/>
                    </a:prstClr>
                  </a:solidFill>
                  <a:effectLst/>
                  <a:uLnTx/>
                  <a:uFillTx/>
                  <a:latin typeface="Times New Roman" panose="02020603050405020304" pitchFamily="18" charset="0"/>
                  <a:cs typeface="Times New Roman" panose="02020603050405020304" pitchFamily="18" charset="0"/>
                </a:rPr>
                <a:t>rade</a:t>
              </a:r>
              <a:r>
                <a:rPr kumimoji="0" lang="en-US" b="1" i="0" u="none" strike="noStrike" kern="1200" cap="none" spc="0" normalizeH="0" baseline="0" noProof="0" dirty="0">
                  <a:ln>
                    <a:noFill/>
                  </a:ln>
                  <a:solidFill>
                    <a:prstClr val="black">
                      <a:hueOff val="0"/>
                      <a:satOff val="0"/>
                      <a:lumOff val="0"/>
                      <a:alphaOff val="0"/>
                    </a:prstClr>
                  </a:solidFill>
                  <a:effectLst/>
                  <a:uLnTx/>
                  <a:uFillTx/>
                  <a:latin typeface="Times New Roman" panose="02020603050405020304" pitchFamily="18" charset="0"/>
                  <a:cs typeface="Times New Roman" panose="02020603050405020304" pitchFamily="18" charset="0"/>
                </a:rPr>
                <a:t> upgradation</a:t>
              </a:r>
            </a:p>
          </p:txBody>
        </p:sp>
      </p:grpSp>
      <p:grpSp>
        <p:nvGrpSpPr>
          <p:cNvPr id="7" name="Group 6"/>
          <p:cNvGrpSpPr/>
          <p:nvPr/>
        </p:nvGrpSpPr>
        <p:grpSpPr>
          <a:xfrm>
            <a:off x="8124513" y="1499589"/>
            <a:ext cx="2209750" cy="1167030"/>
            <a:chOff x="5652135" y="2443368"/>
            <a:chExt cx="2500342" cy="1502416"/>
          </a:xfrm>
        </p:grpSpPr>
        <p:sp>
          <p:nvSpPr>
            <p:cNvPr id="8" name="Rounded Rectangle 7"/>
            <p:cNvSpPr/>
            <p:nvPr/>
          </p:nvSpPr>
          <p:spPr>
            <a:xfrm>
              <a:off x="5652135" y="2443368"/>
              <a:ext cx="2322005" cy="1502416"/>
            </a:xfrm>
            <a:prstGeom prst="roundRect">
              <a:avLst>
                <a:gd name="adj" fmla="val 10000"/>
              </a:avLst>
            </a:pr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b="0" i="0" u="none" strike="noStrike" kern="1200" cap="none" spc="0" normalizeH="0" baseline="0" noProof="0">
                <a:ln>
                  <a:noFill/>
                </a:ln>
                <a:solidFill>
                  <a:prstClr val="black">
                    <a:hueOff val="0"/>
                    <a:satOff val="0"/>
                    <a:lumOff val="0"/>
                    <a:alphaOff val="0"/>
                  </a:prstClr>
                </a:solidFill>
                <a:effectLst/>
                <a:uLnTx/>
                <a:uFillTx/>
                <a:latin typeface="Bahnschrift" panose="020B0502040204020203" pitchFamily="34" charset="0"/>
              </a:endParaRPr>
            </a:p>
          </p:txBody>
        </p:sp>
        <p:sp>
          <p:nvSpPr>
            <p:cNvPr id="9" name="Rounded Rectangle 6"/>
            <p:cNvSpPr txBox="1"/>
            <p:nvPr/>
          </p:nvSpPr>
          <p:spPr>
            <a:xfrm>
              <a:off x="5874475" y="2476335"/>
              <a:ext cx="2278002" cy="141440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defRPr/>
              </a:pPr>
              <a:r>
                <a:rPr kumimoji="0" lang="en-US" b="1" i="0" u="none" strike="noStrike" kern="1200" cap="none" spc="0" normalizeH="0" baseline="0" noProof="0" dirty="0">
                  <a:ln>
                    <a:noFill/>
                  </a:ln>
                  <a:solidFill>
                    <a:prstClr val="black">
                      <a:hueOff val="0"/>
                      <a:satOff val="0"/>
                      <a:lumOff val="0"/>
                      <a:alphaOff val="0"/>
                    </a:prstClr>
                  </a:solidFill>
                  <a:effectLst/>
                  <a:uLnTx/>
                  <a:uFillTx/>
                  <a:latin typeface="Times New Roman" panose="02020603050405020304" pitchFamily="18" charset="0"/>
                  <a:cs typeface="Times New Roman" panose="02020603050405020304" pitchFamily="18" charset="0"/>
                </a:rPr>
                <a:t>Duty Leave</a:t>
              </a:r>
            </a:p>
          </p:txBody>
        </p:sp>
      </p:grpSp>
      <p:sp>
        <p:nvSpPr>
          <p:cNvPr id="12" name="Left Arrow 11"/>
          <p:cNvSpPr/>
          <p:nvPr/>
        </p:nvSpPr>
        <p:spPr>
          <a:xfrm>
            <a:off x="3769828" y="1891523"/>
            <a:ext cx="621855" cy="41335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b="0" i="0" u="none" strike="noStrike" kern="1200" cap="none" spc="0" normalizeH="0" baseline="0" noProof="0">
              <a:ln>
                <a:noFill/>
              </a:ln>
              <a:solidFill>
                <a:prstClr val="white"/>
              </a:solidFill>
              <a:effectLst/>
              <a:uLnTx/>
              <a:uFillTx/>
              <a:latin typeface="Bahnschrift" panose="020B0502040204020203" pitchFamily="34" charset="0"/>
            </a:endParaRPr>
          </a:p>
        </p:txBody>
      </p:sp>
      <p:sp>
        <p:nvSpPr>
          <p:cNvPr id="14" name="Left Arrow 13"/>
          <p:cNvSpPr/>
          <p:nvPr/>
        </p:nvSpPr>
        <p:spPr>
          <a:xfrm rot="10800000">
            <a:off x="7468763" y="1891523"/>
            <a:ext cx="621855" cy="41335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b="0" i="0" u="none" strike="noStrike" kern="1200" cap="none" spc="0" normalizeH="0" baseline="0" noProof="0">
              <a:ln>
                <a:noFill/>
              </a:ln>
              <a:solidFill>
                <a:prstClr val="white"/>
              </a:solidFill>
              <a:effectLst/>
              <a:uLnTx/>
              <a:uFillTx/>
              <a:latin typeface="Bahnschrift" panose="020B0502040204020203" pitchFamily="34" charset="0"/>
            </a:endParaRPr>
          </a:p>
        </p:txBody>
      </p:sp>
      <p:sp>
        <p:nvSpPr>
          <p:cNvPr id="2" name="Content Placeholder 2"/>
          <p:cNvSpPr txBox="1"/>
          <p:nvPr/>
        </p:nvSpPr>
        <p:spPr bwMode="auto">
          <a:xfrm>
            <a:off x="741680" y="3718357"/>
            <a:ext cx="4958080" cy="2270530"/>
          </a:xfrm>
          <a:prstGeom prst="rect">
            <a:avLst/>
          </a:prstGeom>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t" anchorCtr="0" compatLnSpc="1"/>
          <a:lst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pPr>
            <a:r>
              <a:rPr lang="en-US" sz="2400" dirty="0">
                <a:latin typeface="Times New Roman" panose="02020603050405020304" pitchFamily="18" charset="0"/>
                <a:cs typeface="Times New Roman" panose="02020603050405020304" pitchFamily="18" charset="0"/>
              </a:rPr>
              <a:t>Earn exemptions from your revenue generation endeavors </a:t>
            </a:r>
          </a:p>
          <a:p>
            <a:pPr algn="just">
              <a:lnSpc>
                <a:spcPct val="150000"/>
              </a:lnSpc>
              <a:spcBef>
                <a:spcPts val="0"/>
              </a:spcBef>
            </a:pPr>
            <a:r>
              <a:rPr lang="en-US" sz="2400" dirty="0">
                <a:latin typeface="Times New Roman" panose="02020603050405020304" pitchFamily="18" charset="0"/>
                <a:cs typeface="Times New Roman" panose="02020603050405020304" pitchFamily="18" charset="0"/>
              </a:rPr>
              <a:t>Earn Academic benefits on revenues above 50,000 (in 6 months)</a:t>
            </a:r>
          </a:p>
          <a:p>
            <a:pPr lvl="2" algn="just">
              <a:buFont typeface="Wingdings" panose="05000000000000000000" pitchFamily="2" charset="2"/>
              <a:buChar char="ü"/>
            </a:pPr>
            <a:endParaRPr lang="en-US" sz="2400" b="1" dirty="0">
              <a:latin typeface="Bahnschrift SemiCondensed" panose="020B0502040204020203" charset="0"/>
              <a:cs typeface="Bahnschrift SemiCondensed" panose="020B0502040204020203" charset="0"/>
            </a:endParaRPr>
          </a:p>
        </p:txBody>
      </p:sp>
      <p:sp>
        <p:nvSpPr>
          <p:cNvPr id="13" name="Content Placeholder 2"/>
          <p:cNvSpPr txBox="1"/>
          <p:nvPr/>
        </p:nvSpPr>
        <p:spPr>
          <a:xfrm>
            <a:off x="6263640" y="2932862"/>
            <a:ext cx="5425440" cy="3696538"/>
          </a:xfrm>
          <a:prstGeom prst="rect">
            <a:avLst/>
          </a:prstGeom>
        </p:spPr>
        <p:style>
          <a:lnRef idx="2">
            <a:schemeClr val="accent2"/>
          </a:lnRef>
          <a:fillRef idx="1">
            <a:schemeClr val="lt1"/>
          </a:fillRef>
          <a:effectRef idx="0">
            <a:schemeClr val="accent2"/>
          </a:effectRef>
          <a:fontRef idx="minor">
            <a:schemeClr val="dk1"/>
          </a:fontRef>
        </p:style>
        <p:txBody>
          <a:bodyPr/>
          <a:lst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dk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dk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dk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lnSpc>
                <a:spcPct val="150000"/>
              </a:lnSpc>
              <a:spcBef>
                <a:spcPts val="0"/>
              </a:spcBef>
              <a:buNone/>
            </a:pPr>
            <a:r>
              <a:rPr lang="en-US" sz="2000" b="1" u="sng" dirty="0">
                <a:solidFill>
                  <a:srgbClr val="FF0000"/>
                </a:solidFill>
                <a:latin typeface="Times New Roman" panose="02020603050405020304" pitchFamily="18" charset="0"/>
                <a:cs typeface="Times New Roman" panose="02020603050405020304" pitchFamily="18" charset="0"/>
              </a:rPr>
              <a:t>Important Points</a:t>
            </a:r>
            <a:r>
              <a:rPr lang="en-US" sz="2000" u="sng" dirty="0">
                <a:solidFill>
                  <a:srgbClr val="FF0000"/>
                </a:solidFill>
                <a:latin typeface="Times New Roman" panose="02020603050405020304" pitchFamily="18" charset="0"/>
                <a:cs typeface="Times New Roman" panose="02020603050405020304" pitchFamily="18" charset="0"/>
              </a:rPr>
              <a:t>:</a:t>
            </a:r>
          </a:p>
          <a:p>
            <a:pPr algn="just">
              <a:lnSpc>
                <a:spcPct val="150000"/>
              </a:lnSpc>
              <a:spcBef>
                <a:spcPts val="0"/>
              </a:spcBef>
            </a:pPr>
            <a:r>
              <a:rPr lang="en-US" sz="2000" dirty="0">
                <a:latin typeface="Times New Roman" panose="02020603050405020304" pitchFamily="18" charset="0"/>
                <a:cs typeface="Times New Roman" panose="02020603050405020304" pitchFamily="18" charset="0"/>
              </a:rPr>
              <a:t>Submit authentic information only</a:t>
            </a:r>
          </a:p>
          <a:p>
            <a:pPr algn="just">
              <a:lnSpc>
                <a:spcPct val="150000"/>
              </a:lnSpc>
              <a:spcBef>
                <a:spcPts val="0"/>
              </a:spcBef>
            </a:pPr>
            <a:r>
              <a:rPr lang="en-US" sz="2000" dirty="0">
                <a:latin typeface="Times New Roman" panose="02020603050405020304" pitchFamily="18" charset="0"/>
                <a:cs typeface="Times New Roman" panose="02020603050405020304" pitchFamily="18" charset="0"/>
              </a:rPr>
              <a:t>Student must submit a detailed proposal outlining:</a:t>
            </a:r>
          </a:p>
          <a:p>
            <a:pPr marL="400050" indent="-400050" algn="just">
              <a:lnSpc>
                <a:spcPct val="150000"/>
              </a:lnSpc>
              <a:spcBef>
                <a:spcPts val="0"/>
              </a:spcBef>
              <a:buFont typeface="+mj-lt"/>
              <a:buAutoNum type="romanLcPeriod"/>
            </a:pPr>
            <a:r>
              <a:rPr lang="en-US" sz="2000" dirty="0">
                <a:latin typeface="Times New Roman" panose="02020603050405020304" pitchFamily="18" charset="0"/>
                <a:cs typeface="Times New Roman" panose="02020603050405020304" pitchFamily="18" charset="0"/>
              </a:rPr>
              <a:t>Revenue Model</a:t>
            </a:r>
          </a:p>
          <a:p>
            <a:pPr marL="400050" indent="-400050" algn="just">
              <a:lnSpc>
                <a:spcPct val="150000"/>
              </a:lnSpc>
              <a:spcBef>
                <a:spcPts val="0"/>
              </a:spcBef>
              <a:buFont typeface="+mj-lt"/>
              <a:buAutoNum type="romanLcPeriod"/>
            </a:pPr>
            <a:r>
              <a:rPr lang="en-US" sz="2000" dirty="0">
                <a:latin typeface="Times New Roman" panose="02020603050405020304" pitchFamily="18" charset="0"/>
                <a:cs typeface="Times New Roman" panose="02020603050405020304" pitchFamily="18" charset="0"/>
              </a:rPr>
              <a:t>Market Feasibility</a:t>
            </a:r>
          </a:p>
          <a:p>
            <a:pPr marL="400050" indent="-400050" algn="just">
              <a:lnSpc>
                <a:spcPct val="150000"/>
              </a:lnSpc>
              <a:spcBef>
                <a:spcPts val="0"/>
              </a:spcBef>
              <a:buFont typeface="+mj-lt"/>
              <a:buAutoNum type="romanLcPeriod"/>
            </a:pPr>
            <a:r>
              <a:rPr lang="en-US" sz="2000" dirty="0">
                <a:latin typeface="Times New Roman" panose="02020603050405020304" pitchFamily="18" charset="0"/>
                <a:cs typeface="Times New Roman" panose="02020603050405020304" pitchFamily="18" charset="0"/>
              </a:rPr>
              <a:t>Execution Strategy</a:t>
            </a:r>
          </a:p>
          <a:p>
            <a:pPr marL="400050" indent="-400050" algn="just">
              <a:lnSpc>
                <a:spcPct val="150000"/>
              </a:lnSpc>
              <a:spcBef>
                <a:spcPts val="0"/>
              </a:spcBef>
              <a:buFont typeface="+mj-lt"/>
              <a:buAutoNum type="romanLcPeriod"/>
            </a:pPr>
            <a:r>
              <a:rPr lang="en-US" sz="2000" dirty="0">
                <a:latin typeface="Times New Roman" panose="02020603050405020304" pitchFamily="18" charset="0"/>
                <a:cs typeface="Times New Roman" panose="02020603050405020304" pitchFamily="18" charset="0"/>
              </a:rPr>
              <a:t>Financial Projections</a:t>
            </a:r>
          </a:p>
          <a:p>
            <a:pPr marL="0" indent="0" algn="just">
              <a:buNone/>
            </a:pPr>
            <a:endParaRPr lang="en-US" sz="2400" dirty="0">
              <a:latin typeface="Bahnschrift SemiCondensed" panose="020B0502040204020203" charset="0"/>
              <a:cs typeface="Bahnschrift SemiCondensed" panose="020B0502040204020203" charset="0"/>
            </a:endParaRPr>
          </a:p>
        </p:txBody>
      </p:sp>
      <p:sp>
        <p:nvSpPr>
          <p:cNvPr id="16" name="Title 1"/>
          <p:cNvSpPr txBox="1"/>
          <p:nvPr/>
        </p:nvSpPr>
        <p:spPr>
          <a:xfrm>
            <a:off x="838200" y="635001"/>
            <a:ext cx="10515600" cy="548092"/>
          </a:xfrm>
          <a:prstGeom prst="rect">
            <a:avLst/>
          </a:prstGeom>
        </p:spPr>
        <p:txBody>
          <a:bodyPr/>
          <a:lst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US" sz="4000" b="1" u="sng" dirty="0">
                <a:latin typeface="Times New Roman" panose="02020603050405020304" pitchFamily="18" charset="0"/>
                <a:cs typeface="Times New Roman" panose="02020603050405020304" pitchFamily="18" charset="0"/>
              </a:rPr>
              <a:t>Pillar II: Revenue Generation</a:t>
            </a:r>
            <a:endParaRPr lang="en-IN" sz="4000" b="1" u="sng"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7870" y="404665"/>
            <a:ext cx="7886700" cy="1152128"/>
          </a:xfrm>
        </p:spPr>
        <p:txBody>
          <a:bodyPr/>
          <a:lstStyle/>
          <a:p>
            <a:pPr algn="ctr"/>
            <a:r>
              <a:rPr lang="en-US" sz="2400" b="1" u="sng" dirty="0">
                <a:latin typeface="Times New Roman" panose="02020603050405020304" pitchFamily="18" charset="0"/>
                <a:cs typeface="Times New Roman" panose="02020603050405020304" pitchFamily="18" charset="0"/>
              </a:rPr>
              <a:t>Where to View &amp; Select Nomination Choices</a:t>
            </a:r>
            <a:br>
              <a:rPr lang="en-US" sz="2400" b="1" u="sng" dirty="0">
                <a:latin typeface="Times New Roman" panose="02020603050405020304" pitchFamily="18" charset="0"/>
                <a:cs typeface="Times New Roman" panose="02020603050405020304" pitchFamily="18" charset="0"/>
              </a:rPr>
            </a:br>
            <a:r>
              <a:rPr lang="en-US" sz="2400" b="1" u="sng" dirty="0">
                <a:latin typeface="Times New Roman" panose="02020603050405020304" pitchFamily="18" charset="0"/>
                <a:cs typeface="Times New Roman" panose="02020603050405020304" pitchFamily="18" charset="0"/>
              </a:rPr>
              <a:t>for Courses that </a:t>
            </a:r>
            <a:r>
              <a:rPr lang="en-US" sz="2400" b="1" u="sng" dirty="0">
                <a:solidFill>
                  <a:srgbClr val="00B050"/>
                </a:solidFill>
                <a:latin typeface="Times New Roman" panose="02020603050405020304" pitchFamily="18" charset="0"/>
                <a:cs typeface="Times New Roman" panose="02020603050405020304" pitchFamily="18" charset="0"/>
              </a:rPr>
              <a:t>students</a:t>
            </a:r>
            <a:r>
              <a:rPr lang="en-US" sz="2400" b="1" u="sng" dirty="0">
                <a:latin typeface="Times New Roman" panose="02020603050405020304" pitchFamily="18" charset="0"/>
                <a:cs typeface="Times New Roman" panose="02020603050405020304" pitchFamily="18" charset="0"/>
              </a:rPr>
              <a:t> are studying</a:t>
            </a:r>
            <a:endParaRPr lang="en-IN" sz="2400" b="1" u="sng"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7872" y="2045349"/>
            <a:ext cx="8197603" cy="4263973"/>
          </a:xfrm>
        </p:spPr>
      </p:pic>
      <p:sp>
        <p:nvSpPr>
          <p:cNvPr id="7" name="TextBox 6"/>
          <p:cNvSpPr txBox="1"/>
          <p:nvPr/>
        </p:nvSpPr>
        <p:spPr>
          <a:xfrm>
            <a:off x="1631505" y="1556793"/>
            <a:ext cx="8979346" cy="369332"/>
          </a:xfrm>
          <a:prstGeom prst="rect">
            <a:avLst/>
          </a:prstGeom>
          <a:noFill/>
        </p:spPr>
        <p:txBody>
          <a:bodyPr wrap="square">
            <a:spAutoFit/>
          </a:bodyPr>
          <a:lstStyle/>
          <a:p>
            <a:pPr algn="ctr" defTabSz="761970"/>
            <a:r>
              <a:rPr lang="en-US" dirty="0">
                <a:solidFill>
                  <a:srgbClr val="FF0000"/>
                </a:solidFill>
                <a:latin typeface="Times New Roman" panose="02020603050405020304" pitchFamily="18" charset="0"/>
                <a:cs typeface="Times New Roman" panose="02020603050405020304" pitchFamily="18" charset="0"/>
              </a:rPr>
              <a:t>Step 1: </a:t>
            </a:r>
            <a:r>
              <a:rPr lang="en-US" dirty="0">
                <a:solidFill>
                  <a:prstClr val="black"/>
                </a:solidFill>
                <a:latin typeface="Times New Roman" panose="02020603050405020304" pitchFamily="18" charset="0"/>
                <a:cs typeface="Times New Roman" panose="02020603050405020304" pitchFamily="18" charset="0"/>
              </a:rPr>
              <a:t>Login to UMS -- Navigate to LMS -- EDREV: Be the Part of Change -- Options. </a:t>
            </a:r>
            <a:endParaRPr lang="en-IN"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48053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6920" y="1028700"/>
            <a:ext cx="8012430" cy="822960"/>
          </a:xfrm>
        </p:spPr>
        <p:txBody>
          <a:bodyPr>
            <a:normAutofit fontScale="90000"/>
          </a:bodyPr>
          <a:lstStyle/>
          <a:p>
            <a:pPr algn="ctr">
              <a:defRPr sz="3200" b="1">
                <a:solidFill>
                  <a:srgbClr val="00467A"/>
                </a:solidFill>
              </a:defRPr>
            </a:pPr>
            <a:br>
              <a:rPr lang="en-US"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Applying for EDU-Revolution Initiatives</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832611" y="1851660"/>
            <a:ext cx="9004355" cy="3977640"/>
          </a:xfrm>
        </p:spPr>
        <p:txBody>
          <a:bodyPr/>
          <a:lstStyle/>
          <a:p>
            <a:pPr>
              <a:lnSpc>
                <a:spcPct val="150000"/>
              </a:lnSpc>
              <a:spcBef>
                <a:spcPts val="0"/>
              </a:spcBef>
              <a:defRPr sz="2000"/>
            </a:pPr>
            <a:r>
              <a:rPr lang="en-US" sz="2000" b="1" dirty="0">
                <a:solidFill>
                  <a:srgbClr val="FF0000"/>
                </a:solidFill>
                <a:latin typeface="Times New Roman" panose="02020603050405020304" pitchFamily="18" charset="0"/>
                <a:cs typeface="Times New Roman" panose="02020603050405020304" pitchFamily="18" charset="0"/>
              </a:rPr>
              <a:t>How can students apply:</a:t>
            </a:r>
          </a:p>
          <a:p>
            <a:pPr marL="0" indent="0">
              <a:lnSpc>
                <a:spcPct val="150000"/>
              </a:lnSpc>
              <a:spcBef>
                <a:spcPts val="0"/>
              </a:spcBef>
              <a:buNone/>
              <a:defRPr sz="2000"/>
            </a:pPr>
            <a:r>
              <a:rPr lang="en-US" sz="2000" b="1" dirty="0">
                <a:latin typeface="Times New Roman" panose="02020603050405020304" pitchFamily="18" charset="0"/>
                <a:cs typeface="Times New Roman" panose="02020603050405020304" pitchFamily="18" charset="0"/>
              </a:rPr>
              <a:t>Login UMS → LMS → EDU-Revolution: Be the Change → Apply for EDU- Revolution</a:t>
            </a:r>
          </a:p>
          <a:p>
            <a:pPr>
              <a:lnSpc>
                <a:spcPct val="150000"/>
              </a:lnSpc>
              <a:spcBef>
                <a:spcPts val="0"/>
              </a:spcBef>
              <a:defRPr sz="2000"/>
            </a:pPr>
            <a:endParaRPr lang="en-US" sz="2000" b="1" dirty="0">
              <a:solidFill>
                <a:srgbClr val="FF0000"/>
              </a:solidFill>
              <a:latin typeface="Times New Roman" panose="02020603050405020304" pitchFamily="18" charset="0"/>
              <a:cs typeface="Times New Roman" panose="02020603050405020304" pitchFamily="18" charset="0"/>
            </a:endParaRPr>
          </a:p>
          <a:p>
            <a:pPr>
              <a:lnSpc>
                <a:spcPct val="150000"/>
              </a:lnSpc>
              <a:spcBef>
                <a:spcPts val="0"/>
              </a:spcBef>
              <a:defRPr sz="2000"/>
            </a:pPr>
            <a:r>
              <a:rPr lang="en-US" sz="2000" b="1" dirty="0">
                <a:solidFill>
                  <a:srgbClr val="FF0000"/>
                </a:solidFill>
                <a:latin typeface="Times New Roman" panose="02020603050405020304" pitchFamily="18" charset="0"/>
                <a:cs typeface="Times New Roman" panose="02020603050405020304" pitchFamily="18" charset="0"/>
              </a:rPr>
              <a:t>Need Help:</a:t>
            </a:r>
          </a:p>
          <a:p>
            <a:pPr marL="0" indent="0" algn="ctr">
              <a:lnSpc>
                <a:spcPct val="150000"/>
              </a:lnSpc>
              <a:spcBef>
                <a:spcPts val="0"/>
              </a:spcBef>
              <a:buNone/>
              <a:defRPr sz="2000"/>
            </a:pPr>
            <a:r>
              <a:rPr lang="en-US" sz="2000" b="1" dirty="0">
                <a:latin typeface="Times New Roman" panose="02020603050405020304" pitchFamily="18" charset="0"/>
                <a:cs typeface="Times New Roman" panose="02020603050405020304" pitchFamily="18" charset="0"/>
              </a:rPr>
              <a:t>Students can visit the EDU-Revolution Query &amp; Assistance Zone at Block 27–102</a:t>
            </a:r>
          </a:p>
        </p:txBody>
      </p:sp>
    </p:spTree>
    <p:extLst>
      <p:ext uri="{BB962C8B-B14F-4D97-AF65-F5344CB8AC3E}">
        <p14:creationId xmlns:p14="http://schemas.microsoft.com/office/powerpoint/2010/main" val="27285731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2630" y="692696"/>
            <a:ext cx="8046720" cy="1158964"/>
          </a:xfrm>
        </p:spPr>
        <p:txBody>
          <a:bodyPr>
            <a:normAutofit fontScale="90000"/>
          </a:bodyPr>
          <a:lstStyle/>
          <a:p>
            <a:pPr algn="ctr">
              <a:defRPr sz="3200" b="1">
                <a:solidFill>
                  <a:srgbClr val="00467A"/>
                </a:solidFill>
              </a:defRPr>
            </a:pPr>
            <a:br>
              <a:rPr lang="en-US"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Applying for EDU-Revolution Initiatives</a:t>
            </a:r>
            <a:br>
              <a:rPr lang="en-US"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992630" y="1628800"/>
            <a:ext cx="8183880" cy="4131920"/>
          </a:xfrm>
        </p:spPr>
        <p:txBody>
          <a:bodyPr/>
          <a:lstStyle/>
          <a:p>
            <a:pPr marL="0" indent="0">
              <a:lnSpc>
                <a:spcPct val="150000"/>
              </a:lnSpc>
              <a:spcBef>
                <a:spcPts val="0"/>
              </a:spcBef>
              <a:buNone/>
              <a:defRPr sz="2400" b="1"/>
            </a:pPr>
            <a:r>
              <a:rPr lang="en-US" sz="2000" dirty="0">
                <a:solidFill>
                  <a:srgbClr val="FF0000"/>
                </a:solidFill>
                <a:latin typeface="Times New Roman" panose="02020603050405020304" pitchFamily="18" charset="0"/>
                <a:cs typeface="Times New Roman" panose="02020603050405020304" pitchFamily="18" charset="0"/>
              </a:rPr>
              <a:t>Important Points</a:t>
            </a:r>
          </a:p>
          <a:p>
            <a:pPr marL="0" indent="0">
              <a:lnSpc>
                <a:spcPct val="150000"/>
              </a:lnSpc>
              <a:spcBef>
                <a:spcPts val="0"/>
              </a:spcBef>
              <a:buNone/>
              <a:defRPr sz="1800"/>
            </a:pPr>
            <a:r>
              <a:rPr lang="en-US" sz="2000" dirty="0">
                <a:latin typeface="Times New Roman" panose="02020603050405020304" pitchFamily="18" charset="0"/>
                <a:cs typeface="Times New Roman" panose="02020603050405020304" pitchFamily="18" charset="0"/>
              </a:rPr>
              <a:t>All student applications will be verified by the </a:t>
            </a:r>
            <a:r>
              <a:rPr lang="en-US" sz="2000" b="1" dirty="0">
                <a:latin typeface="Times New Roman" panose="02020603050405020304" pitchFamily="18" charset="0"/>
                <a:cs typeface="Times New Roman" panose="02020603050405020304" pitchFamily="18" charset="0"/>
              </a:rPr>
              <a:t>EDU-Revolution Standing Committee </a:t>
            </a:r>
            <a:r>
              <a:rPr lang="en-US" sz="2000" dirty="0">
                <a:latin typeface="Times New Roman" panose="02020603050405020304" pitchFamily="18" charset="0"/>
                <a:cs typeface="Times New Roman" panose="02020603050405020304" pitchFamily="18" charset="0"/>
              </a:rPr>
              <a:t>and the Committee may:</a:t>
            </a:r>
          </a:p>
          <a:p>
            <a:pPr marL="263355" lvl="1">
              <a:lnSpc>
                <a:spcPct val="150000"/>
              </a:lnSpc>
              <a:spcBef>
                <a:spcPts val="0"/>
              </a:spcBef>
              <a:buFont typeface="Wingdings" panose="05000000000000000000" pitchFamily="2" charset="2"/>
              <a:buChar char="ü"/>
              <a:defRPr sz="1800"/>
            </a:pPr>
            <a:r>
              <a:rPr lang="en-US" sz="2000" dirty="0">
                <a:latin typeface="Times New Roman" panose="02020603050405020304" pitchFamily="18" charset="0"/>
                <a:cs typeface="Times New Roman" panose="02020603050405020304" pitchFamily="18" charset="0"/>
              </a:rPr>
              <a:t>Contact you directly</a:t>
            </a:r>
          </a:p>
          <a:p>
            <a:pPr marL="263355" lvl="1">
              <a:lnSpc>
                <a:spcPct val="150000"/>
              </a:lnSpc>
              <a:spcBef>
                <a:spcPts val="0"/>
              </a:spcBef>
              <a:buFont typeface="Wingdings" panose="05000000000000000000" pitchFamily="2" charset="2"/>
              <a:buChar char="ü"/>
              <a:defRPr sz="1800"/>
            </a:pPr>
            <a:r>
              <a:rPr lang="en-US" sz="2000" dirty="0">
                <a:latin typeface="Times New Roman" panose="02020603050405020304" pitchFamily="18" charset="0"/>
                <a:cs typeface="Times New Roman" panose="02020603050405020304" pitchFamily="18" charset="0"/>
              </a:rPr>
              <a:t>Ask for supporting documents</a:t>
            </a:r>
          </a:p>
          <a:p>
            <a:pPr marL="263355" lvl="1">
              <a:lnSpc>
                <a:spcPct val="150000"/>
              </a:lnSpc>
              <a:spcBef>
                <a:spcPts val="0"/>
              </a:spcBef>
              <a:buFont typeface="Wingdings" panose="05000000000000000000" pitchFamily="2" charset="2"/>
              <a:buChar char="ü"/>
              <a:defRPr sz="1800"/>
            </a:pPr>
            <a:r>
              <a:rPr lang="en-US" sz="2000" dirty="0">
                <a:latin typeface="Times New Roman" panose="02020603050405020304" pitchFamily="18" charset="0"/>
                <a:cs typeface="Times New Roman" panose="02020603050405020304" pitchFamily="18" charset="0"/>
              </a:rPr>
              <a:t>Call for in-person interaction</a:t>
            </a:r>
          </a:p>
          <a:p>
            <a:pPr marL="263355" lvl="1">
              <a:lnSpc>
                <a:spcPct val="150000"/>
              </a:lnSpc>
              <a:spcBef>
                <a:spcPts val="0"/>
              </a:spcBef>
              <a:buFont typeface="Wingdings" panose="05000000000000000000" pitchFamily="2" charset="2"/>
              <a:buChar char="ü"/>
              <a:defRPr sz="1800"/>
            </a:pPr>
            <a:r>
              <a:rPr lang="en-US" sz="2000" dirty="0">
                <a:latin typeface="Times New Roman" panose="02020603050405020304" pitchFamily="18" charset="0"/>
                <a:cs typeface="Times New Roman" panose="02020603050405020304" pitchFamily="18" charset="0"/>
              </a:rPr>
              <a:t>Can approve/reject/change proposed benefits</a:t>
            </a:r>
          </a:p>
          <a:p>
            <a:pPr marL="263355" lvl="1">
              <a:lnSpc>
                <a:spcPct val="150000"/>
              </a:lnSpc>
              <a:spcBef>
                <a:spcPts val="0"/>
              </a:spcBef>
              <a:buFont typeface="Wingdings" panose="05000000000000000000" pitchFamily="2" charset="2"/>
              <a:buChar char="ü"/>
              <a:defRPr sz="1800"/>
            </a:pPr>
            <a:r>
              <a:rPr lang="en-US" sz="2000" dirty="0">
                <a:latin typeface="Times New Roman" panose="02020603050405020304" pitchFamily="18" charset="0"/>
                <a:cs typeface="Times New Roman" panose="02020603050405020304" pitchFamily="18" charset="0"/>
              </a:rPr>
              <a:t>Final decisions are based on merit, relevance &amp; evidence</a:t>
            </a:r>
          </a:p>
        </p:txBody>
      </p:sp>
    </p:spTree>
    <p:extLst>
      <p:ext uri="{BB962C8B-B14F-4D97-AF65-F5344CB8AC3E}">
        <p14:creationId xmlns:p14="http://schemas.microsoft.com/office/powerpoint/2010/main" val="2902789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p:cNvGraphicFramePr>
            <a:graphicFrameLocks noGrp="1"/>
          </p:cNvGraphicFramePr>
          <p:nvPr>
            <p:ph idx="1"/>
            <p:extLst>
              <p:ext uri="{D42A27DB-BD31-4B8C-83A1-F6EECF244321}">
                <p14:modId xmlns:p14="http://schemas.microsoft.com/office/powerpoint/2010/main" val="664505046"/>
              </p:ext>
            </p:extLst>
          </p:nvPr>
        </p:nvGraphicFramePr>
        <p:xfrm>
          <a:off x="1123315" y="1924685"/>
          <a:ext cx="10230485" cy="3914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 Box 2"/>
          <p:cNvSpPr txBox="1"/>
          <p:nvPr/>
        </p:nvSpPr>
        <p:spPr>
          <a:xfrm>
            <a:off x="1619885" y="1222374"/>
            <a:ext cx="9733915" cy="460375"/>
          </a:xfrm>
          <a:prstGeom prst="rect">
            <a:avLst/>
          </a:prstGeom>
        </p:spPr>
        <p:txBody>
          <a:bodyPr wrap="square">
            <a:spAutoFit/>
          </a:bodyPr>
          <a:lstStyle/>
          <a:p>
            <a:pPr marL="0" indent="0" algn="ctr">
              <a:spcBef>
                <a:spcPct val="0"/>
              </a:spcBef>
              <a:spcAft>
                <a:spcPct val="0"/>
              </a:spcAft>
              <a:buFont typeface="Arial" panose="020B0604020202020204"/>
              <a:buNone/>
            </a:pPr>
            <a:r>
              <a:rPr lang="en-US" altLang="zh-CN" sz="2400" b="1" i="0" dirty="0">
                <a:latin typeface="Times New Roman" panose="02020603050405020304" pitchFamily="18" charset="0"/>
                <a:ea typeface="fkGroteskNeue"/>
                <a:cs typeface="Times New Roman" panose="02020603050405020304" pitchFamily="18" charset="0"/>
              </a:rPr>
              <a:t>"Your Journey, Your Choice: Build, Serve, or Study for Tomorrow!"</a:t>
            </a:r>
          </a:p>
        </p:txBody>
      </p:sp>
      <p:sp>
        <p:nvSpPr>
          <p:cNvPr id="4" name="Title 14"/>
          <p:cNvSpPr txBox="1"/>
          <p:nvPr/>
        </p:nvSpPr>
        <p:spPr>
          <a:xfrm>
            <a:off x="838200" y="654526"/>
            <a:ext cx="10515600" cy="1110615"/>
          </a:xfrm>
        </p:spPr>
        <p:txBody>
          <a:bodyPr/>
          <a:lst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US" sz="3600" b="1" u="sng" dirty="0">
                <a:latin typeface="Times New Roman" panose="02020603050405020304" pitchFamily="18" charset="0"/>
                <a:cs typeface="Times New Roman" panose="02020603050405020304" pitchFamily="18" charset="0"/>
              </a:rPr>
              <a:t>Pillar III: Career Pathway</a:t>
            </a:r>
            <a:endParaRPr lang="en-US" sz="3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64920"/>
            <a:ext cx="10515600" cy="3558540"/>
          </a:xfrm>
        </p:spPr>
        <p:txBody>
          <a:bodyPr/>
          <a:lstStyle/>
          <a:p>
            <a:pPr algn="just">
              <a:lnSpc>
                <a:spcPct val="150000"/>
              </a:lnSpc>
              <a:spcBef>
                <a:spcPts val="0"/>
              </a:spcBef>
            </a:pPr>
            <a:r>
              <a:rPr lang="en-US" sz="2400" b="1" dirty="0">
                <a:latin typeface="Times New Roman" panose="02020603050405020304" pitchFamily="18" charset="0"/>
                <a:cs typeface="Times New Roman" panose="02020603050405020304" pitchFamily="18" charset="0"/>
              </a:rPr>
              <a:t>Career Pathways are</a:t>
            </a:r>
            <a:r>
              <a:rPr lang="en-US" sz="2400" dirty="0">
                <a:latin typeface="Times New Roman" panose="02020603050405020304" pitchFamily="18" charset="0"/>
                <a:cs typeface="Times New Roman" panose="02020603050405020304" pitchFamily="18" charset="0"/>
              </a:rPr>
              <a:t> at the </a:t>
            </a:r>
            <a:r>
              <a:rPr lang="en-US" sz="2400" b="1" dirty="0">
                <a:latin typeface="Times New Roman" panose="02020603050405020304" pitchFamily="18" charset="0"/>
                <a:cs typeface="Times New Roman" panose="02020603050405020304" pitchFamily="18" charset="0"/>
              </a:rPr>
              <a:t>core of our academic framework</a:t>
            </a:r>
            <a:r>
              <a:rPr lang="en-US" sz="2400" dirty="0">
                <a:latin typeface="Times New Roman" panose="02020603050405020304" pitchFamily="18" charset="0"/>
                <a:cs typeface="Times New Roman" panose="02020603050405020304" pitchFamily="18" charset="0"/>
              </a:rPr>
              <a:t>.</a:t>
            </a:r>
          </a:p>
          <a:p>
            <a:pPr algn="just">
              <a:lnSpc>
                <a:spcPct val="150000"/>
              </a:lnSpc>
              <a:spcBef>
                <a:spcPts val="0"/>
              </a:spcBef>
            </a:pPr>
            <a:r>
              <a:rPr lang="en-US" sz="2400" dirty="0">
                <a:latin typeface="Times New Roman" panose="02020603050405020304" pitchFamily="18" charset="0"/>
                <a:cs typeface="Times New Roman" panose="02020603050405020304" pitchFamily="18" charset="0"/>
              </a:rPr>
              <a:t>Curriculum is strategically designed to </a:t>
            </a:r>
            <a:r>
              <a:rPr lang="en-US" sz="2400" b="1" dirty="0">
                <a:latin typeface="Times New Roman" panose="02020603050405020304" pitchFamily="18" charset="0"/>
                <a:cs typeface="Times New Roman" panose="02020603050405020304" pitchFamily="18" charset="0"/>
              </a:rPr>
              <a:t>align with needs and requirements of each career pathway.</a:t>
            </a:r>
            <a:endParaRPr lang="en-US" sz="2400" dirty="0">
              <a:latin typeface="Times New Roman" panose="02020603050405020304" pitchFamily="18" charset="0"/>
              <a:cs typeface="Times New Roman" panose="02020603050405020304" pitchFamily="18" charset="0"/>
            </a:endParaRPr>
          </a:p>
          <a:p>
            <a:pPr algn="just">
              <a:lnSpc>
                <a:spcPct val="150000"/>
              </a:lnSpc>
              <a:spcBef>
                <a:spcPts val="0"/>
              </a:spcBef>
            </a:pPr>
            <a:r>
              <a:rPr lang="en-US" sz="2400" dirty="0">
                <a:latin typeface="Times New Roman" panose="02020603050405020304" pitchFamily="18" charset="0"/>
                <a:cs typeface="Times New Roman" panose="02020603050405020304" pitchFamily="18" charset="0"/>
              </a:rPr>
              <a:t>From </a:t>
            </a:r>
            <a:r>
              <a:rPr lang="en-US" sz="2400" b="1" dirty="0">
                <a:latin typeface="Times New Roman" panose="02020603050405020304" pitchFamily="18" charset="0"/>
                <a:cs typeface="Times New Roman" panose="02020603050405020304" pitchFamily="18" charset="0"/>
              </a:rPr>
              <a:t>technical proficiency to soft skills</a:t>
            </a:r>
            <a:r>
              <a:rPr lang="en-US" sz="2400" dirty="0">
                <a:latin typeface="Times New Roman" panose="02020603050405020304" pitchFamily="18" charset="0"/>
                <a:cs typeface="Times New Roman" panose="02020603050405020304" pitchFamily="18" charset="0"/>
              </a:rPr>
              <a:t>, the curriculum is tailored to develop a </a:t>
            </a:r>
            <a:r>
              <a:rPr lang="en-US" sz="2400" b="1" dirty="0">
                <a:latin typeface="Times New Roman" panose="02020603050405020304" pitchFamily="18" charset="0"/>
                <a:cs typeface="Times New Roman" panose="02020603050405020304" pitchFamily="18" charset="0"/>
              </a:rPr>
              <a:t>well-rounded professional ready for competitive market as per the chosen pathway</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
        <p:nvSpPr>
          <p:cNvPr id="5" name="Title 14"/>
          <p:cNvSpPr txBox="1"/>
          <p:nvPr/>
        </p:nvSpPr>
        <p:spPr>
          <a:xfrm>
            <a:off x="838200" y="420211"/>
            <a:ext cx="10515600" cy="1110615"/>
          </a:xfrm>
        </p:spPr>
        <p:txBody>
          <a:bodyPr/>
          <a:lst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US" sz="3600" b="1" u="sng" dirty="0">
                <a:latin typeface="Times New Roman" panose="02020603050405020304" pitchFamily="18" charset="0"/>
                <a:cs typeface="Times New Roman" panose="02020603050405020304" pitchFamily="18" charset="0"/>
              </a:rPr>
              <a:t>Pillar III: Career Pathway</a:t>
            </a:r>
            <a:endParaRPr lang="en-US" sz="3600"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D70383CE-66B3-49D6-A737-C885797C4908}"/>
              </a:ext>
            </a:extLst>
          </p:cNvPr>
          <p:cNvSpPr/>
          <p:nvPr/>
        </p:nvSpPr>
        <p:spPr>
          <a:xfrm>
            <a:off x="2078568" y="431800"/>
            <a:ext cx="8106833" cy="46038"/>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p>
        </p:txBody>
      </p:sp>
      <p:pic>
        <p:nvPicPr>
          <p:cNvPr id="6" name="Picture 4">
            <a:extLst>
              <a:ext uri="{FF2B5EF4-FFF2-40B4-BE49-F238E27FC236}">
                <a16:creationId xmlns:a16="http://schemas.microsoft.com/office/drawing/2014/main" id="{A75A6FD3-E9D7-4EFF-9DEA-D1DDC04046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54734" y="177800"/>
            <a:ext cx="1547284"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A9486E07-92DC-42F1-A094-76E347B1D69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8084" y="177801"/>
            <a:ext cx="1581149"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4"/>
          <p:cNvSpPr txBox="1"/>
          <p:nvPr/>
        </p:nvSpPr>
        <p:spPr>
          <a:xfrm>
            <a:off x="838200" y="654526"/>
            <a:ext cx="10515600" cy="1110615"/>
          </a:xfrm>
        </p:spPr>
        <p:txBody>
          <a:bodyPr/>
          <a:lst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US" sz="3600" b="1" u="sng" dirty="0">
                <a:latin typeface="Times New Roman" panose="02020603050405020304" pitchFamily="18" charset="0"/>
                <a:cs typeface="Times New Roman" panose="02020603050405020304" pitchFamily="18" charset="0"/>
              </a:rPr>
              <a:t>Pillar III: Career Pathway</a:t>
            </a:r>
          </a:p>
          <a:p>
            <a:pPr algn="ctr"/>
            <a:r>
              <a:rPr lang="en-US" sz="3600" b="1" u="sng" dirty="0">
                <a:latin typeface="Times New Roman" panose="02020603050405020304" pitchFamily="18" charset="0"/>
                <a:cs typeface="Times New Roman" panose="02020603050405020304" pitchFamily="18" charset="0"/>
              </a:rPr>
              <a:t>School Specific Success Stories for each pathway</a:t>
            </a:r>
          </a:p>
          <a:p>
            <a:pPr algn="ctr"/>
            <a:endParaRPr lang="en-US" sz="3600" b="1" dirty="0">
              <a:latin typeface="Bahnschrift" panose="020B0502040204020203" pitchFamily="34" charset="0"/>
              <a:cs typeface="Times New Roman" panose="02020603050405020304" pitchFamily="18" charset="0"/>
            </a:endParaRPr>
          </a:p>
          <a:p>
            <a:pPr algn="ctr"/>
            <a:endParaRPr lang="en-US" sz="3600" b="1" dirty="0">
              <a:latin typeface="Times New Roman" panose="02020603050405020304" pitchFamily="18" charset="0"/>
              <a:cs typeface="Times New Roman" panose="02020603050405020304" pitchFamily="18" charset="0"/>
            </a:endParaRPr>
          </a:p>
          <a:p>
            <a:pPr algn="ctr"/>
            <a:r>
              <a:rPr lang="en-US" sz="3600" b="1"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Highlighting student and their achievement for each pathway</a:t>
            </a:r>
            <a:r>
              <a:rPr lang="en-US" sz="3600" b="1" dirty="0">
                <a:latin typeface="Times New Roman" panose="02020603050405020304" pitchFamily="18" charset="0"/>
                <a:cs typeface="Times New Roman" panose="02020603050405020304" pitchFamily="18" charset="0"/>
              </a:rPr>
              <a:t>)</a:t>
            </a:r>
          </a:p>
        </p:txBody>
      </p:sp>
      <p:sp>
        <p:nvSpPr>
          <p:cNvPr id="3" name="Rectangle 2">
            <a:extLst>
              <a:ext uri="{FF2B5EF4-FFF2-40B4-BE49-F238E27FC236}">
                <a16:creationId xmlns:a16="http://schemas.microsoft.com/office/drawing/2014/main" id="{D70383CE-66B3-49D6-A737-C885797C4908}"/>
              </a:ext>
            </a:extLst>
          </p:cNvPr>
          <p:cNvSpPr/>
          <p:nvPr/>
        </p:nvSpPr>
        <p:spPr>
          <a:xfrm>
            <a:off x="2078568" y="431800"/>
            <a:ext cx="8106833" cy="46038"/>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p>
        </p:txBody>
      </p:sp>
      <p:pic>
        <p:nvPicPr>
          <p:cNvPr id="5" name="Picture 4">
            <a:extLst>
              <a:ext uri="{FF2B5EF4-FFF2-40B4-BE49-F238E27FC236}">
                <a16:creationId xmlns:a16="http://schemas.microsoft.com/office/drawing/2014/main" id="{A75A6FD3-E9D7-4EFF-9DEA-D1DDC04046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54734" y="177800"/>
            <a:ext cx="1547284"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A9486E07-92DC-42F1-A094-76E347B1D69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8084" y="177801"/>
            <a:ext cx="1581149"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0720" y="685800"/>
            <a:ext cx="10515600" cy="858521"/>
          </a:xfrm>
        </p:spPr>
        <p:txBody>
          <a:bodyPr>
            <a:normAutofit fontScale="90000"/>
          </a:bodyPr>
          <a:lstStyle/>
          <a:p>
            <a:pPr algn="ctr"/>
            <a:r>
              <a:rPr lang="en-US" sz="3600" b="1" u="sng" dirty="0">
                <a:latin typeface="Times New Roman" panose="02020603050405020304" pitchFamily="18" charset="0"/>
                <a:cs typeface="Times New Roman" panose="02020603050405020304" pitchFamily="18" charset="0"/>
              </a:rPr>
              <a:t>Pillar IV: Students in  Decision Making</a:t>
            </a:r>
            <a:br>
              <a:rPr lang="en-US" sz="3600" b="1"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911343" y="964354"/>
            <a:ext cx="8054353" cy="579967"/>
          </a:xfrm>
          <a:prstGeom prst="rect">
            <a:avLst/>
          </a:prstGeom>
          <a:noFill/>
        </p:spPr>
        <p:txBody>
          <a:bodyPr wrap="square">
            <a:spAutoFit/>
          </a:bodyPr>
          <a:lstStyle/>
          <a:p>
            <a:pPr lvl="0" algn="ctr">
              <a:lnSpc>
                <a:spcPct val="150000"/>
              </a:lnSpc>
            </a:pP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Committees under Student Education Revolution Board</a:t>
            </a:r>
          </a:p>
        </p:txBody>
      </p:sp>
      <p:sp>
        <p:nvSpPr>
          <p:cNvPr id="6" name="Content Placeholder 5"/>
          <p:cNvSpPr txBox="1">
            <a:spLocks noGrp="1"/>
          </p:cNvSpPr>
          <p:nvPr>
            <p:ph idx="1"/>
          </p:nvPr>
        </p:nvSpPr>
        <p:spPr>
          <a:xfrm>
            <a:off x="838200" y="2218319"/>
            <a:ext cx="5715000" cy="2795958"/>
          </a:xfrm>
          <a:prstGeom prst="rect">
            <a:avLst/>
          </a:prstGeom>
          <a:noFill/>
        </p:spPr>
        <p:txBody>
          <a:bodyPr wrap="square">
            <a:spAutoFit/>
          </a:bodyPr>
          <a:lstStyle/>
          <a:p>
            <a:pPr marL="0" lvl="0" indent="0" algn="ctr">
              <a:lnSpc>
                <a:spcPct val="150000"/>
              </a:lnSpc>
              <a:spcAft>
                <a:spcPts val="800"/>
              </a:spcAft>
              <a:buNone/>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We bring numerous ideas every year; but now, </a:t>
            </a:r>
            <a:r>
              <a:rPr lang="en-IN" sz="24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at least 20% of these ideas should originate from students themselves in all categories like academics, placements, research, entrepreneurship, etc.</a:t>
            </a:r>
          </a:p>
        </p:txBody>
      </p:sp>
      <p:pic>
        <p:nvPicPr>
          <p:cNvPr id="9" name="Picture 8"/>
          <p:cNvPicPr>
            <a:picLocks noChangeAspect="1"/>
          </p:cNvPicPr>
          <p:nvPr/>
        </p:nvPicPr>
        <p:blipFill>
          <a:blip r:embed="rId2"/>
          <a:stretch>
            <a:fillRect/>
          </a:stretch>
        </p:blipFill>
        <p:spPr>
          <a:xfrm>
            <a:off x="6553200" y="1822875"/>
            <a:ext cx="5180496" cy="4500085"/>
          </a:xfrm>
          <a:prstGeom prst="rect">
            <a:avLst/>
          </a:prstGeom>
        </p:spPr>
      </p:pic>
      <p:sp>
        <p:nvSpPr>
          <p:cNvPr id="7" name="Rectangle 6">
            <a:extLst>
              <a:ext uri="{FF2B5EF4-FFF2-40B4-BE49-F238E27FC236}">
                <a16:creationId xmlns:a16="http://schemas.microsoft.com/office/drawing/2014/main" id="{D70383CE-66B3-49D6-A737-C885797C4908}"/>
              </a:ext>
            </a:extLst>
          </p:cNvPr>
          <p:cNvSpPr/>
          <p:nvPr/>
        </p:nvSpPr>
        <p:spPr>
          <a:xfrm>
            <a:off x="2078568" y="431800"/>
            <a:ext cx="8106833" cy="46038"/>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p>
        </p:txBody>
      </p:sp>
      <p:pic>
        <p:nvPicPr>
          <p:cNvPr id="8" name="Picture 4">
            <a:extLst>
              <a:ext uri="{FF2B5EF4-FFF2-40B4-BE49-F238E27FC236}">
                <a16:creationId xmlns:a16="http://schemas.microsoft.com/office/drawing/2014/main" id="{A75A6FD3-E9D7-4EFF-9DEA-D1DDC04046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54734" y="177800"/>
            <a:ext cx="1547284"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5">
            <a:extLst>
              <a:ext uri="{FF2B5EF4-FFF2-40B4-BE49-F238E27FC236}">
                <a16:creationId xmlns:a16="http://schemas.microsoft.com/office/drawing/2014/main" id="{A9486E07-92DC-42F1-A094-76E347B1D69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8084" y="177801"/>
            <a:ext cx="1581149"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760980" y="6226175"/>
            <a:ext cx="8054340" cy="551815"/>
          </a:xfrm>
          <a:prstGeom prst="rect">
            <a:avLst/>
          </a:prstGeom>
          <a:noFill/>
        </p:spPr>
        <p:txBody>
          <a:bodyPr wrap="square">
            <a:noAutofit/>
          </a:bodyPr>
          <a:lstStyle/>
          <a:p>
            <a:pPr lvl="0" algn="ctr">
              <a:lnSpc>
                <a:spcPct val="150000"/>
              </a:lnSpc>
            </a:pPr>
            <a:endParaRPr lang="en-US" altLang="en-IN" sz="2400" b="1" dirty="0">
              <a:effectLst/>
              <a:latin typeface="Times New Roman" panose="02020603050405020304" pitchFamily="18" charset="0"/>
              <a:ea typeface="Times New Roman" panose="02020603050405020304" pitchFamily="18" charset="0"/>
            </a:endParaRPr>
          </a:p>
        </p:txBody>
      </p:sp>
      <p:pic>
        <p:nvPicPr>
          <p:cNvPr id="9" name="Picture 8"/>
          <p:cNvPicPr>
            <a:picLocks noChangeAspect="1"/>
          </p:cNvPicPr>
          <p:nvPr>
            <p:custDataLst>
              <p:tags r:id="rId1"/>
            </p:custDataLst>
          </p:nvPr>
        </p:nvPicPr>
        <p:blipFill>
          <a:blip r:embed="rId7"/>
          <a:stretch>
            <a:fillRect/>
          </a:stretch>
        </p:blipFill>
        <p:spPr>
          <a:xfrm>
            <a:off x="4046689" y="2134499"/>
            <a:ext cx="3995696" cy="3903954"/>
          </a:xfrm>
          <a:prstGeom prst="rect">
            <a:avLst/>
          </a:prstGeom>
        </p:spPr>
      </p:pic>
      <p:sp>
        <p:nvSpPr>
          <p:cNvPr id="4" name="Rounded Rectangle 3"/>
          <p:cNvSpPr/>
          <p:nvPr>
            <p:custDataLst>
              <p:tags r:id="rId2"/>
            </p:custDataLst>
          </p:nvPr>
        </p:nvSpPr>
        <p:spPr>
          <a:xfrm>
            <a:off x="671195" y="1810120"/>
            <a:ext cx="3639185" cy="1745615"/>
          </a:xfrm>
          <a:prstGeom prst="roundRect">
            <a:avLst/>
          </a:prstGeom>
          <a:noFill/>
          <a:ln w="28575">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en-US" sz="2000" dirty="0">
                <a:solidFill>
                  <a:schemeClr val="tx1"/>
                </a:solidFill>
                <a:latin typeface="Times New Roman" panose="02020603050405020304" pitchFamily="18" charset="0"/>
                <a:cs typeface="Times New Roman" panose="02020603050405020304" pitchFamily="18" charset="0"/>
              </a:rPr>
              <a:t>Curriculum</a:t>
            </a:r>
          </a:p>
          <a:p>
            <a:pPr algn="l"/>
            <a:r>
              <a:rPr lang="en-US" sz="2000" dirty="0">
                <a:solidFill>
                  <a:schemeClr val="tx1"/>
                </a:solidFill>
                <a:latin typeface="Times New Roman" panose="02020603050405020304" pitchFamily="18" charset="0"/>
                <a:cs typeface="Times New Roman" panose="02020603050405020304" pitchFamily="18" charset="0"/>
              </a:rPr>
              <a:t>Content</a:t>
            </a:r>
          </a:p>
          <a:p>
            <a:pPr algn="l"/>
            <a:r>
              <a:rPr lang="en-US" sz="2000" dirty="0">
                <a:solidFill>
                  <a:schemeClr val="tx1"/>
                </a:solidFill>
                <a:latin typeface="Times New Roman" panose="02020603050405020304" pitchFamily="18" charset="0"/>
                <a:cs typeface="Times New Roman" panose="02020603050405020304" pitchFamily="18" charset="0"/>
              </a:rPr>
              <a:t>New Teaching Methods</a:t>
            </a:r>
          </a:p>
          <a:p>
            <a:pPr algn="l"/>
            <a:r>
              <a:rPr lang="en-US" sz="2000" dirty="0">
                <a:solidFill>
                  <a:schemeClr val="tx1"/>
                </a:solidFill>
                <a:latin typeface="Times New Roman" panose="02020603050405020304" pitchFamily="18" charset="0"/>
                <a:cs typeface="Times New Roman" panose="02020603050405020304" pitchFamily="18" charset="0"/>
              </a:rPr>
              <a:t>New Evaluation Methods</a:t>
            </a:r>
          </a:p>
          <a:p>
            <a:pPr algn="l"/>
            <a:r>
              <a:rPr lang="en-US" sz="2000" dirty="0">
                <a:solidFill>
                  <a:schemeClr val="tx1"/>
                </a:solidFill>
                <a:latin typeface="Times New Roman" panose="02020603050405020304" pitchFamily="18" charset="0"/>
                <a:cs typeface="Times New Roman" panose="02020603050405020304" pitchFamily="18" charset="0"/>
              </a:rPr>
              <a:t>Academic Benefits</a:t>
            </a:r>
          </a:p>
        </p:txBody>
      </p:sp>
      <p:sp>
        <p:nvSpPr>
          <p:cNvPr id="7" name="Rounded Rectangle 6"/>
          <p:cNvSpPr/>
          <p:nvPr>
            <p:custDataLst>
              <p:tags r:id="rId3"/>
            </p:custDataLst>
          </p:nvPr>
        </p:nvSpPr>
        <p:spPr>
          <a:xfrm>
            <a:off x="671195" y="4135755"/>
            <a:ext cx="3639185" cy="2386965"/>
          </a:xfrm>
          <a:prstGeom prst="roundRect">
            <a:avLst/>
          </a:prstGeom>
          <a:noFill/>
          <a:ln w="3810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en-US" sz="2000" dirty="0">
                <a:solidFill>
                  <a:schemeClr val="tx1"/>
                </a:solidFill>
                <a:latin typeface="Times New Roman" panose="02020603050405020304" pitchFamily="18" charset="0"/>
                <a:cs typeface="Times New Roman" panose="02020603050405020304" pitchFamily="18" charset="0"/>
              </a:rPr>
              <a:t>National/International Internship</a:t>
            </a:r>
          </a:p>
          <a:p>
            <a:pPr algn="l"/>
            <a:r>
              <a:rPr lang="en-US" sz="2000" dirty="0">
                <a:solidFill>
                  <a:schemeClr val="tx1"/>
                </a:solidFill>
                <a:latin typeface="Times New Roman" panose="02020603050405020304" pitchFamily="18" charset="0"/>
                <a:cs typeface="Times New Roman" panose="02020603050405020304" pitchFamily="18" charset="0"/>
              </a:rPr>
              <a:t>Bring New companies</a:t>
            </a:r>
          </a:p>
          <a:p>
            <a:pPr algn="l"/>
            <a:r>
              <a:rPr lang="en-US" sz="2000" dirty="0">
                <a:solidFill>
                  <a:schemeClr val="tx1"/>
                </a:solidFill>
                <a:latin typeface="Times New Roman" panose="02020603050405020304" pitchFamily="18" charset="0"/>
                <a:cs typeface="Times New Roman" panose="02020603050405020304" pitchFamily="18" charset="0"/>
              </a:rPr>
              <a:t>International Placement </a:t>
            </a:r>
            <a:r>
              <a:rPr lang="en-US" sz="2000" dirty="0">
                <a:solidFill>
                  <a:schemeClr val="tx1"/>
                </a:solidFill>
                <a:latin typeface="Times New Roman" panose="02020603050405020304" pitchFamily="18" charset="0"/>
                <a:cs typeface="Times New Roman" panose="02020603050405020304" pitchFamily="18" charset="0"/>
                <a:sym typeface="+mn-ea"/>
              </a:rPr>
              <a:t>opportunities</a:t>
            </a:r>
          </a:p>
          <a:p>
            <a:pPr algn="l"/>
            <a:r>
              <a:rPr lang="en-US" sz="2000" dirty="0" err="1">
                <a:solidFill>
                  <a:schemeClr val="tx1"/>
                </a:solidFill>
                <a:latin typeface="Times New Roman" panose="02020603050405020304" pitchFamily="18" charset="0"/>
                <a:cs typeface="Times New Roman" panose="02020603050405020304" pitchFamily="18" charset="0"/>
              </a:rPr>
              <a:t>Entrepreneural</a:t>
            </a:r>
            <a:r>
              <a:rPr lang="en-US" sz="2000" dirty="0">
                <a:solidFill>
                  <a:schemeClr val="tx1"/>
                </a:solidFill>
                <a:latin typeface="Times New Roman" panose="02020603050405020304" pitchFamily="18" charset="0"/>
                <a:cs typeface="Times New Roman" panose="02020603050405020304" pitchFamily="18" charset="0"/>
              </a:rPr>
              <a:t> Areas</a:t>
            </a:r>
          </a:p>
          <a:p>
            <a:pPr algn="l"/>
            <a:r>
              <a:rPr lang="en-US" sz="2000" dirty="0">
                <a:solidFill>
                  <a:schemeClr val="tx1"/>
                </a:solidFill>
                <a:latin typeface="Times New Roman" panose="02020603050405020304" pitchFamily="18" charset="0"/>
                <a:cs typeface="Times New Roman" panose="02020603050405020304" pitchFamily="18" charset="0"/>
                <a:sym typeface="+mn-ea"/>
              </a:rPr>
              <a:t>Academic Benefits</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8" name="Rounded Rectangle 7"/>
          <p:cNvSpPr/>
          <p:nvPr>
            <p:custDataLst>
              <p:tags r:id="rId4"/>
            </p:custDataLst>
          </p:nvPr>
        </p:nvSpPr>
        <p:spPr>
          <a:xfrm>
            <a:off x="7841615" y="1639939"/>
            <a:ext cx="3395345" cy="2085975"/>
          </a:xfrm>
          <a:prstGeom prst="roundRect">
            <a:avLst/>
          </a:prstGeom>
          <a:noFill/>
          <a:ln w="3810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en-US" sz="2000" dirty="0">
                <a:solidFill>
                  <a:schemeClr val="tx1"/>
                </a:solidFill>
                <a:latin typeface="Times New Roman" panose="02020603050405020304" pitchFamily="18" charset="0"/>
                <a:cs typeface="Times New Roman" panose="02020603050405020304" pitchFamily="18" charset="0"/>
              </a:rPr>
              <a:t>Research Area</a:t>
            </a:r>
          </a:p>
          <a:p>
            <a:pPr algn="l"/>
            <a:r>
              <a:rPr lang="en-US" sz="2000" dirty="0">
                <a:solidFill>
                  <a:schemeClr val="tx1"/>
                </a:solidFill>
                <a:latin typeface="Times New Roman" panose="02020603050405020304" pitchFamily="18" charset="0"/>
                <a:cs typeface="Times New Roman" panose="02020603050405020304" pitchFamily="18" charset="0"/>
              </a:rPr>
              <a:t>Projects to Pursue</a:t>
            </a:r>
          </a:p>
          <a:p>
            <a:pPr algn="l"/>
            <a:r>
              <a:rPr lang="en-US" sz="2000" dirty="0">
                <a:solidFill>
                  <a:schemeClr val="tx1"/>
                </a:solidFill>
                <a:latin typeface="Times New Roman" panose="02020603050405020304" pitchFamily="18" charset="0"/>
                <a:cs typeface="Times New Roman" panose="02020603050405020304" pitchFamily="18" charset="0"/>
              </a:rPr>
              <a:t>Funding opportunities</a:t>
            </a:r>
          </a:p>
          <a:p>
            <a:pPr algn="l"/>
            <a:r>
              <a:rPr lang="en-US" sz="2000" dirty="0">
                <a:solidFill>
                  <a:schemeClr val="tx1"/>
                </a:solidFill>
                <a:latin typeface="Times New Roman" panose="02020603050405020304" pitchFamily="18" charset="0"/>
                <a:cs typeface="Times New Roman" panose="02020603050405020304" pitchFamily="18" charset="0"/>
              </a:rPr>
              <a:t>Identification of Real World Problems</a:t>
            </a:r>
          </a:p>
          <a:p>
            <a:pPr algn="l"/>
            <a:r>
              <a:rPr lang="en-US" sz="2000" dirty="0">
                <a:solidFill>
                  <a:schemeClr val="tx1"/>
                </a:solidFill>
                <a:latin typeface="Times New Roman" panose="02020603050405020304" pitchFamily="18" charset="0"/>
                <a:cs typeface="Times New Roman" panose="02020603050405020304" pitchFamily="18" charset="0"/>
                <a:sym typeface="+mn-ea"/>
              </a:rPr>
              <a:t>Academic Benefits</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0" name="Rounded Rectangle 9"/>
          <p:cNvSpPr/>
          <p:nvPr>
            <p:custDataLst>
              <p:tags r:id="rId5"/>
            </p:custDataLst>
          </p:nvPr>
        </p:nvSpPr>
        <p:spPr>
          <a:xfrm>
            <a:off x="7980735" y="4398142"/>
            <a:ext cx="3317875" cy="1978025"/>
          </a:xfrm>
          <a:prstGeom prst="roundRect">
            <a:avLst/>
          </a:prstGeom>
          <a:noFill/>
          <a:ln w="3810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en-US" sz="2000" dirty="0">
                <a:solidFill>
                  <a:schemeClr val="tx1"/>
                </a:solidFill>
                <a:latin typeface="Times New Roman" panose="02020603050405020304" pitchFamily="18" charset="0"/>
                <a:cs typeface="Times New Roman" panose="02020603050405020304" pitchFamily="18" charset="0"/>
              </a:rPr>
              <a:t>Social Media Presence of Schools</a:t>
            </a:r>
          </a:p>
          <a:p>
            <a:pPr algn="l"/>
            <a:r>
              <a:rPr lang="en-US" sz="2000" dirty="0">
                <a:solidFill>
                  <a:schemeClr val="tx1"/>
                </a:solidFill>
                <a:latin typeface="Times New Roman" panose="02020603050405020304" pitchFamily="18" charset="0"/>
                <a:cs typeface="Times New Roman" panose="02020603050405020304" pitchFamily="18" charset="0"/>
              </a:rPr>
              <a:t>Social Media Campaigns</a:t>
            </a:r>
          </a:p>
          <a:p>
            <a:pPr algn="l"/>
            <a:r>
              <a:rPr lang="en-US" sz="2000" dirty="0">
                <a:solidFill>
                  <a:schemeClr val="tx1"/>
                </a:solidFill>
                <a:latin typeface="Times New Roman" panose="02020603050405020304" pitchFamily="18" charset="0"/>
                <a:cs typeface="Times New Roman" panose="02020603050405020304" pitchFamily="18" charset="0"/>
              </a:rPr>
              <a:t>Self Promotion</a:t>
            </a:r>
          </a:p>
          <a:p>
            <a:pPr algn="l"/>
            <a:r>
              <a:rPr lang="en-US" sz="2000" dirty="0">
                <a:solidFill>
                  <a:schemeClr val="tx1"/>
                </a:solidFill>
                <a:latin typeface="Times New Roman" panose="02020603050405020304" pitchFamily="18" charset="0"/>
                <a:cs typeface="Times New Roman" panose="02020603050405020304" pitchFamily="18" charset="0"/>
                <a:sym typeface="+mn-ea"/>
              </a:rPr>
              <a:t>Academic Benefits</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6" name="Title 1"/>
          <p:cNvSpPr>
            <a:spLocks noGrp="1"/>
          </p:cNvSpPr>
          <p:nvPr>
            <p:ph type="title"/>
          </p:nvPr>
        </p:nvSpPr>
        <p:spPr>
          <a:xfrm>
            <a:off x="671195" y="686171"/>
            <a:ext cx="10515600" cy="868679"/>
          </a:xfrm>
        </p:spPr>
        <p:txBody>
          <a:bodyPr>
            <a:normAutofit fontScale="90000"/>
          </a:bodyPr>
          <a:lstStyle/>
          <a:p>
            <a:pPr algn="ctr"/>
            <a:r>
              <a:rPr lang="en-US" sz="3600" b="1" u="sng" dirty="0">
                <a:latin typeface="Bahnschrift" panose="020B0502040204020203" pitchFamily="34" charset="0"/>
                <a:cs typeface="Times New Roman" panose="02020603050405020304" pitchFamily="18" charset="0"/>
              </a:rPr>
              <a:t>Pillar IV: Students in  Decision Making</a:t>
            </a:r>
            <a:br>
              <a:rPr lang="en-US" sz="3600" b="1" u="sng" dirty="0">
                <a:latin typeface="Bahnschrift" panose="020B0502040204020203" pitchFamily="34" charset="0"/>
                <a:cs typeface="Times New Roman" panose="02020603050405020304" pitchFamily="18" charset="0"/>
              </a:rPr>
            </a:br>
            <a:r>
              <a:rPr lang="en-US" altLang="en-IN" sz="2400" b="1" dirty="0">
                <a:latin typeface="Bahnschrift" panose="020B0502040204020203" pitchFamily="34" charset="0"/>
                <a:ea typeface="Times New Roman" panose="02020603050405020304" pitchFamily="18" charset="0"/>
              </a:rPr>
              <a:t>A platform to bring the Change</a:t>
            </a:r>
            <a:endParaRPr lang="en-IN" sz="3600"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D70383CE-66B3-49D6-A737-C885797C4908}"/>
              </a:ext>
            </a:extLst>
          </p:cNvPr>
          <p:cNvSpPr/>
          <p:nvPr/>
        </p:nvSpPr>
        <p:spPr>
          <a:xfrm>
            <a:off x="2078568" y="431800"/>
            <a:ext cx="8106833" cy="46038"/>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p>
        </p:txBody>
      </p:sp>
      <p:pic>
        <p:nvPicPr>
          <p:cNvPr id="12" name="Picture 4">
            <a:extLst>
              <a:ext uri="{FF2B5EF4-FFF2-40B4-BE49-F238E27FC236}">
                <a16:creationId xmlns:a16="http://schemas.microsoft.com/office/drawing/2014/main" id="{A75A6FD3-E9D7-4EFF-9DEA-D1DDC0404680}"/>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354734" y="177800"/>
            <a:ext cx="1547284"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5">
            <a:extLst>
              <a:ext uri="{FF2B5EF4-FFF2-40B4-BE49-F238E27FC236}">
                <a16:creationId xmlns:a16="http://schemas.microsoft.com/office/drawing/2014/main" id="{A9486E07-92DC-42F1-A094-76E347B1D693}"/>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28084" y="177801"/>
            <a:ext cx="1581149"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A4ACF-9115-D40A-1B6E-8C757E8917C4}"/>
              </a:ext>
            </a:extLst>
          </p:cNvPr>
          <p:cNvSpPr>
            <a:spLocks noGrp="1"/>
          </p:cNvSpPr>
          <p:nvPr>
            <p:ph type="title"/>
          </p:nvPr>
        </p:nvSpPr>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Applicability of EDU-Rev for CSE 408</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CB7B449-F55A-A927-2770-648CF5868D1E}"/>
              </a:ext>
            </a:extLst>
          </p:cNvPr>
          <p:cNvSpPr>
            <a:spLocks noGrp="1"/>
          </p:cNvSpPr>
          <p:nvPr>
            <p:ph idx="1"/>
          </p:nvPr>
        </p:nvSpPr>
        <p:spPr/>
        <p:txBody>
          <a:bodyPr>
            <a:normAutofit/>
          </a:bodyPr>
          <a:lstStyle/>
          <a:p>
            <a:pPr algn="just"/>
            <a:r>
              <a:rPr lang="en-US" sz="2400" b="1" dirty="0">
                <a:latin typeface="Times New Roman" panose="02020603050405020304" pitchFamily="18" charset="0"/>
                <a:cs typeface="Times New Roman" panose="02020603050405020304" pitchFamily="18" charset="0"/>
              </a:rPr>
              <a:t>Recognition of Prior Learning </a:t>
            </a: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447657" indent="0" algn="just">
              <a:buNone/>
            </a:pPr>
            <a:r>
              <a:rPr lang="en-US" sz="2400"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71D70E6F-E849-A433-C3DF-FBE8363E62E8}"/>
              </a:ext>
            </a:extLst>
          </p:cNvPr>
          <p:cNvSpPr txBox="1"/>
          <p:nvPr/>
        </p:nvSpPr>
        <p:spPr>
          <a:xfrm>
            <a:off x="838201" y="2516189"/>
            <a:ext cx="9639300" cy="1479700"/>
          </a:xfrm>
          <a:prstGeom prst="rect">
            <a:avLst/>
          </a:prstGeom>
          <a:noFill/>
        </p:spPr>
        <p:txBody>
          <a:bodyPr wrap="square">
            <a:spAutoFit/>
          </a:bodyPr>
          <a:lstStyle/>
          <a:p>
            <a:pPr lvl="0" algn="just">
              <a:lnSpc>
                <a:spcPct val="115000"/>
              </a:lnSpc>
            </a:pPr>
            <a:r>
              <a:rPr lang="en-US" sz="2000" dirty="0">
                <a:solidFill>
                  <a:schemeClr val="dk1"/>
                </a:solidFill>
                <a:latin typeface="Times New Roman" panose="02020603050405020304" pitchFamily="18" charset="0"/>
                <a:cs typeface="Times New Roman" panose="02020603050405020304" pitchFamily="18" charset="0"/>
              </a:rPr>
              <a:t>Students who have enrolled in a course and have successfully cleared any proctored or non-proctored certification examination may apply for RPL (Recognition of Prior Learning), provided that the course content has at least 70% mapping with the course content for which the student is seeking RPL, and the submitted certificate is valid and verifiable.</a:t>
            </a:r>
            <a:endParaRPr lang="en-US" sz="2000" dirty="0">
              <a:solidFill>
                <a:srgbClr val="000000"/>
              </a:solidFill>
              <a:latin typeface="Times New Roman" panose="02020603050405020304" pitchFamily="18" charset="0"/>
              <a:cs typeface="Times New Roman" panose="02020603050405020304" pitchFamily="18" charset="0"/>
              <a:sym typeface="Arial"/>
            </a:endParaRPr>
          </a:p>
        </p:txBody>
      </p:sp>
    </p:spTree>
    <p:extLst>
      <p:ext uri="{BB962C8B-B14F-4D97-AF65-F5344CB8AC3E}">
        <p14:creationId xmlns:p14="http://schemas.microsoft.com/office/powerpoint/2010/main" val="86992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75512-7303-FDDF-A583-A7A53620DA50}"/>
              </a:ext>
            </a:extLst>
          </p:cNvPr>
          <p:cNvSpPr>
            <a:spLocks noGrp="1"/>
          </p:cNvSpPr>
          <p:nvPr>
            <p:ph type="title"/>
          </p:nvPr>
        </p:nvSpPr>
        <p:spPr>
          <a:xfrm>
            <a:off x="1320800" y="3789364"/>
            <a:ext cx="9491133" cy="1680103"/>
          </a:xfrm>
        </p:spPr>
        <p:txBody>
          <a:bodyPr rtlCol="0">
            <a:noAutofit/>
          </a:bodyPr>
          <a:lstStyle/>
          <a:p>
            <a:pPr fontAlgn="auto">
              <a:spcAft>
                <a:spcPts val="0"/>
              </a:spcAft>
              <a:defRPr/>
            </a:pPr>
            <a:endParaRPr lang="en-IN" sz="1400" dirty="0">
              <a:solidFill>
                <a:srgbClr val="C00000"/>
              </a:solidFill>
              <a:latin typeface="Times New Roman" pitchFamily="18" charset="0"/>
              <a:cs typeface="Times New Roman" pitchFamily="18" charset="0"/>
            </a:endParaRPr>
          </a:p>
        </p:txBody>
      </p:sp>
      <p:cxnSp>
        <p:nvCxnSpPr>
          <p:cNvPr id="4" name="Straight Connector 3">
            <a:extLst>
              <a:ext uri="{FF2B5EF4-FFF2-40B4-BE49-F238E27FC236}">
                <a16:creationId xmlns:a16="http://schemas.microsoft.com/office/drawing/2014/main" id="{EB925542-4C7D-EADE-E1D4-B34F894F5CEB}"/>
              </a:ext>
            </a:extLst>
          </p:cNvPr>
          <p:cNvCxnSpPr/>
          <p:nvPr/>
        </p:nvCxnSpPr>
        <p:spPr>
          <a:xfrm>
            <a:off x="2279650" y="4076700"/>
            <a:ext cx="7056438" cy="0"/>
          </a:xfrm>
          <a:prstGeom prst="line">
            <a:avLst/>
          </a:prstGeom>
        </p:spPr>
        <p:style>
          <a:lnRef idx="3">
            <a:schemeClr val="accent6"/>
          </a:lnRef>
          <a:fillRef idx="0">
            <a:schemeClr val="accent6"/>
          </a:fillRef>
          <a:effectRef idx="2">
            <a:schemeClr val="accent6"/>
          </a:effectRef>
          <a:fontRef idx="minor">
            <a:schemeClr val="tx1"/>
          </a:fontRef>
        </p:style>
      </p:cxnSp>
      <p:pic>
        <p:nvPicPr>
          <p:cNvPr id="30724" name="Picture 2">
            <a:extLst>
              <a:ext uri="{FF2B5EF4-FFF2-40B4-BE49-F238E27FC236}">
                <a16:creationId xmlns:a16="http://schemas.microsoft.com/office/drawing/2014/main" id="{C760F950-1DDC-BFA8-1F8E-0BCCA6588D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650" y="636588"/>
            <a:ext cx="1808163" cy="329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02.85,&quot;left&quot;:15.05,&quot;top&quot;:137.15,&quot;width&quot;:937.9}"/>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02.85,&quot;left&quot;:15.05,&quot;top&quot;:137.15,&quot;width&quot;:937.9}"/>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02.85,&quot;left&quot;:15.05,&quot;top&quot;:137.15,&quot;width&quot;:937.9}"/>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02.85,&quot;left&quot;:15.05,&quot;top&quot;:137.15,&quot;width&quot;:937.9}"/>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02.85,&quot;left&quot;:15.05,&quot;top&quot;:137.15,&quot;width&quot;:937.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4997</TotalTime>
  <Words>2626</Words>
  <Application>Microsoft Office PowerPoint</Application>
  <PresentationFormat>Widescreen</PresentationFormat>
  <Paragraphs>316</Paragraphs>
  <Slides>36</Slides>
  <Notes>11</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36</vt:i4>
      </vt:variant>
    </vt:vector>
  </HeadingPairs>
  <TitlesOfParts>
    <vt:vector size="50" baseType="lpstr">
      <vt:lpstr>Aptos</vt:lpstr>
      <vt:lpstr>Aptos Display</vt:lpstr>
      <vt:lpstr>Arial</vt:lpstr>
      <vt:lpstr>Arial Rounded MT Bold</vt:lpstr>
      <vt:lpstr>Bahnschrift</vt:lpstr>
      <vt:lpstr>Bahnschrift SemiBold</vt:lpstr>
      <vt:lpstr>Bahnschrift SemiCondensed</vt:lpstr>
      <vt:lpstr>Calibri</vt:lpstr>
      <vt:lpstr>Calibri Light</vt:lpstr>
      <vt:lpstr>Time new roman</vt:lpstr>
      <vt:lpstr>Times New Roman</vt:lpstr>
      <vt:lpstr>Wingdings</vt:lpstr>
      <vt:lpstr>Office Theme</vt:lpstr>
      <vt:lpstr>1_Office Theme</vt:lpstr>
      <vt:lpstr>PowerPoint Presentation</vt:lpstr>
      <vt:lpstr>Course Details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Assessment &amp; Evaluation Framework</vt:lpstr>
      <vt:lpstr>Academic task Framework</vt:lpstr>
      <vt:lpstr>Academic Task Framework</vt:lpstr>
      <vt:lpstr>PowerPoint Presentation</vt:lpstr>
      <vt:lpstr>PowerPoint Presentation</vt:lpstr>
      <vt:lpstr>PowerPoint Presentation</vt:lpstr>
      <vt:lpstr>PowerPoint Presentation</vt:lpstr>
      <vt:lpstr>PowerPoint Presentation</vt:lpstr>
      <vt:lpstr>Why EDU-Revolution!!!</vt:lpstr>
      <vt:lpstr>Education Revolution: an approach that encourages… </vt:lpstr>
      <vt:lpstr>PowerPoint Presentation</vt:lpstr>
      <vt:lpstr> Gamified Learning: Benefits </vt:lpstr>
      <vt:lpstr>Pillar II: Revenue Generation</vt:lpstr>
      <vt:lpstr>PowerPoint Presentation</vt:lpstr>
      <vt:lpstr>Where to View &amp; Select Nomination Choices for Courses that students are studying</vt:lpstr>
      <vt:lpstr> Applying for EDU-Revolution Initiatives </vt:lpstr>
      <vt:lpstr> Applying for EDU-Revolution Initiatives </vt:lpstr>
      <vt:lpstr>PowerPoint Presentation</vt:lpstr>
      <vt:lpstr>PowerPoint Presentation</vt:lpstr>
      <vt:lpstr>PowerPoint Presentation</vt:lpstr>
      <vt:lpstr>Pillar IV: Students in  Decision Making </vt:lpstr>
      <vt:lpstr>Pillar IV: Students in  Decision Making A platform to bring the Change</vt:lpstr>
      <vt:lpstr>Applicability of EDU-Rev for CSE 408</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ishita</dc:creator>
  <cp:lastModifiedBy>prabhjeet kaur</cp:lastModifiedBy>
  <cp:revision>131</cp:revision>
  <dcterms:created xsi:type="dcterms:W3CDTF">2025-01-06T09:11:15Z</dcterms:created>
  <dcterms:modified xsi:type="dcterms:W3CDTF">2026-07-17T11:24:43Z</dcterms:modified>
</cp:coreProperties>
</file>